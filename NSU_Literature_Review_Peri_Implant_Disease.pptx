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good afternoon. Thank you for being here.
Today's review addresses a question that comes up at nearly every implant delivery appointment: once we restore an implant with a single crown, does the retention method — cement or screw — actually change the patient's risk of peri-implant mucositis or peri-implantitis?
I'll present a 2025 systematic review and meta-analysis from The Journal of Prosthetic Dentistry by Reis and colleagues, pooling randomized trials that directly compared cement- and screw-retained implant prostheses for this outcome.
Housekeeping: the presenter, mentor, and date fields here are standard AEGD placeholders — please confirm they match the current schedule before this is presented.
[Transition] Let's start with why retention method could plausibly matter biologically.
Source: Reis INR, Fukuoka GL, Nagay BE, Pannuti CM, Spin-Neto R, Silva EVF. J Prosthet Dent. 2025;134(1):100-108.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ground this in basic prosthodontic biology first.
An implant crown can be cemented onto an abutment or screwed directly into the implant or abutment. Screw retention gives predictable retrievability and no cementation; cement retention can offer a more passive fit and simplify esthetics when a screw-access channel would otherwise show, or angulation is unfavorable.
The biological concern is excess cement: when subgingival cement isn't fully removed, it can act as a bacteria-retentive reservoir and has been associated with peri-implant disease in earlier observational studies — though those mixed designs and couldn't isolate retention type as the cause.
Definitions we'll use throughout: peri-implant mucositis is reversible soft-tissue inflammation without bone loss; peri-implantitis adds progressive bone loss. These are the 2017 World Workshop / Berglundh et al. definitions (J Clin Periodontol. 2018;45(Suppl 20):S286-S291).
Because earlier reviews here were inconsistent and leaned on observational data, today's authors pooled only randomized trials instead.
[Transition] Here's the focused question they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focused question the authors built their search around, quoted directly from the paper.
Using the PICO framework: Population — patients with implant-supported prostheses. Intervention — cement retention. Comparison — screw retention. Outcome — incidence of peri-implant mucositis and peri-implantitis.
One more letter matters: "S" for study design. The authors restricted this review to RCTs only — trading a larger observational evidence pool for a smaller, more internally valid one, since randomization balances unmeasured confounders like hygiene or bone quality between groups.
[Transition] Let's look at where this evidence was published and how the authors framed their objective and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citation: Reis and colleagues, The Journal of Prosthetic Dentistry, July 2025, volume 134, issue 1, pages 100-108.
One disclosure: I could not verify a single reliable current Journal Impact Factor — sources gave conflicting numbers, so I've flagged it "verification required" rather than guess. Please check the current Clarivate JCR before quiz day if needed.
This sits at the top of the evidence hierarchy: a systematic review and meta-analysis of RCTs.
The objective was to compare mucositis and peri-implantitis incidence between cement- and screw-retained prostheses using pooled RCT data.
To directly answer our protocol's question: yes, an explicit hypothesis is reported — a null hypothesis that no association would be found between retention type and peri-implant disease incidence.
This review was also pre-registered on PROSPERO and followed PRISMA 2020 — a real quality marker that reduces the chance outcomes were changed after the authors saw the data.
[Transition] Now let's see how they searched for and selected the six included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Methodologically, this is a well-conducted systematic review.
Eligibility: RCTs only, any language, adult participants, and the trial had to classify peri-implant disease and report incidence separately by retention type. Sixteen full-text articles were excluded at the final stage for not classifying disease, not reporting incidence by retention type, not being randomized, or duplicating a study already included with shorter follow-up.
Search: four databases — PubMed, Embase, Scopus, Web of Science — through January 2023, plus grey literature and hand-searched reference lists.
Two independent reviewers screened everything. Quick stats note: kappa measures reviewer agreement beyond chance. Values of 0.86 and 0.90 are "almost perfect" agreement — the inclusion decisions weren't arbitrary.
Quality was appraised with RoB 2, effects pooled with random-effects meta-analysis, and certainty rated with GRADE — I'll unpack both shortly.
[Transition] Let's see how five thousand records narrowed to six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PRISMA flow diagram from the article, Figure 1, reproduced for educational review.
The funnel starts at 5,693 records across PubMed, Scopus, Embase, and Web of Science. After removing 1,238 duplicates, 4,455 were screened by title/abstract, leaving 22 for full-text review (plus 1 hand-searched). Sixteen were excluded there — for not classifying disease, not reporting incidence by retention type, not being randomized, or duplicating an already-included study — leaving six RCTs.
Worth pausing on that funnel: out of nearly 5,700 records, only six trials actually randomized patients and reported disease incidence by retention type. That's how narrow the truly relevant evidence base is here.
[Transition] So who were these six trials, and what did their patients and prostheses look like?
Source: Reis et al. J Prosthet Dent. 2025;134(1):100-108, Figure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evidence base: six RCTs, roughly 255 participants, 279 implants, follow-up from two to ten years.
A few things stand out. Sample sizes are modest — the largest trial enrolled 75 patients. Attrition matters too: Amorfini's ten-year trial dropped from 40 to 30 patients — expected over a decade, but it shrinks the data available at the timepoints most relevant for peri-implantitis, which tends to develop later.
Clinically important: every trial restored single-unit crowns, not full arches — so these findings apply most directly to single-tooth restorations. The trials were also materially heterogeneous: different implant systems, abutment materials, and five different cement types. That heterogeneity matters a lot for interpreting the pooled statistics.
Source: Reis et al. J Prosthet Dent. 2025;134(1):100-108, Tables 1-2.
[Transition] Before trusting a pooled result, how much can we trust each trial individually? Let's look at risk of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 pooled estimate, we need to know how much bias each trial carries. RoB 2 grades five domains: randomization, deviations from intervention at assignment and adherence, missing outcome data, outcome measurement, and selective reporting.
The headline: all six trials landed in "some concerns" overall — none high risk, but none clearly low risk either. The recurring weak spots were unclear randomization or allocation-concealment reporting and incomplete reporting of blinded outcome assessment — only Schropp's trial clearly described blinding.
This feeds directly into GRADE, which rates confidence in the pooled estimate. Both outcomes were rated Moderate certainty — meaning we're fairly confident in the estimate, but further research could still change it. The downgrade wasn't driven by risk of bias itself, but by imprecision, which we'll see clearly in the confidence intervals next.
Source: Reis et al. J Prosthet Dent. 2025;134(1):100-108, Figure 2 and Table 4.
[Transition] Let's look at the pooled result for peri-implant mucositis.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3A, reproduced in full and unmodified.
Four of six trials contributed here — Amorfini, Kraus, Schropp, and Wolfart — subgrouped by cement type. Pooled RR is 1.36, 95% CI 0.42-4.38, P=.61, I²=61%.
In plain language: cemented prostheses showed a numerically 36% higher relative risk of mucositis. But the confidence interval crosses 1.0, the line of no effect — meaning the true effect could just as easily favor cement as screw retention; we can't rule out chance. P=.61 confirms that: a 61% probability of seeing a difference this large by chance alone if there truly were none.
I² of 61% shows moderate-to-substantial heterogeneity — the four trials didn't consistently point the same direction, and subgrouping by cement type didn't explain it.
Key point: this is a wide, imprecise estimate, not a precise finding of "no difference."
Source: Reis et al. J Prosthet Dent. 2025;134(1):100-108, Figure 3A, Table 4.
[Transition] Now the more clinically serious outcome — peri-implantitis.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3B — peri-implantitis. Note this uses a different 4-of-6 subset than mucositis (Agustín-Panadero, Kraus, Schropp, Zembic), since not every trial reported both outcomes.
Pooled RR is 1.00 — identical point-estimate relative risk. 95% CI 0.23-4.31, P&gt;.999, I²=0% — very consistent trials.
Anticipated faculty question: why is this still only "moderate" certainty when P is essentially 1.0 with zero heterogeneity? Answer — event rarity. Only 7 peri-implantitis events across 193 patients. Look at the GRADE table's absolute-risk column: 0 more or fewer per 1000, spanning 0 fewer to 0 fewer — essentially uninformative. When an outcome is this rare, even a clean, consistent meta-analysis can't rule out a meaningful difference either way. That's the imprecision that drove the moderate-certainty downgrade we saw in the GRADE table.
Source: Reis et al. J Prosthet Dent. 2025;134(1):100-108, Figure 3B, Table 4.
[Transition] Two non-significant outcomes — what does that actually tell us, and what doesn't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crux of the critical appraisal, so let's slow down here.
On the left: what the authors reported — no statistically significant difference for either outcome, with moderate-certainty evidence. That's real and reassuring.
But — this is my own critical interpretation — failing to find a significant difference is not the same as proving equivalence. This is the classic "absence of evidence" versus "evidence of absence" distinction. With confidence intervals this wide — 0.42 to 4.38 for mucositis, 0.23 to 4.31 for peri-implantitis — the data are compatible with a wide range of true effects, some potentially clinically important.
This evidence is also bounded: single-unit crowns, the specific systems and cements tested, and 2-10 year follow-up. It doesn't automatically generalize to full arches or different technologies.
To be fair, the authors themselves are appropriately cautious too — their Clinical Implications box says the decision should still rest on clinician preference, technical factors, retrievability, and esthetics. My interpretation builds on that caution.
[Transition] Let's walk through the specific strengths and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Weighing this evidence fairly means naming both sides.
Strengths: PRISMA 2020 reporting, PROSPERO pre-registration, RCTs only — which minimizes confounding — prospective follow-up from implant placement so patients were disease-free at baseline, both retention types tested within the same trials, and independent duplicate screening with strong reviewer agreement.
Limitations, grouped: only six RCTs, and just four of six contributed to each outcome — a thin evidence base. Small samples and few events drive the wide confidence intervals. Three of six trials never reported a definition of mucositis or peri-implantitis at all, which undermines comparability. Implant systems, abutments, and five different cements were pooled together. Some trials had unequal cement-versus-screw group sizes. Every trial had RoB 2 "some concerns." And several trials enrolled patients in the 2000s-2010s, using implant and cement technology that may not fully reflect current workflows.
Anticipated faculty question: why not include observational studies for more data? Answer — that was a deliberate trade-off for causal rigor over volume, which costs precision.
[Transition] Given all that, how should this inform what we do at the chair?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disease-risk data don't strongly favor either method, what should drive the decision? These ten factors reflect standard prosthodontic reasoning, echoed directly in the authors' own Clinical Implications statement: the decision should rest on clinician preference, technical considerations, retrievability, and esthetics.
A few highlights: retrievability matters for long-term maintenance — a screw-retained restoration can be removed non-destructively if disease develops later, while a cemented one may need sectioning. Prosthetic space and angulation often decide the question before disease risk even enters — a screw-access channel isn't always achievable. Esthetics matters most anteriorly. And if cement is chosen, meticulous clean-up and margin accessibility become the operator's responsibility.
To be explicit: none of these ten factors were directly tested by this meta-analysis — this is clinical context, not a statistical result, and I'm flagging that distinction deliberately.
[Transition] Let's bring this together into one final take-home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this together.
The authors drew two conclusions: moderate-certainty evidence suggests similar risk of mucositis and peri-implantitis between cement- and screw-retained prostheses; and the choice of retention method should be guided by additional clinical context and patient-specific factors, since the disease-risk data don't clearly favor either.
My take-home, building on that: for single-unit crowns like these, the evidence is reassuring but too imprecise to call the two techniques proven equivalent. Base the decision on retrievability, access, esthetics, and the patient in front of you — and whichever you choose, apply meticulous technique: complete cement removal, or a sound screw-maintenance protocol.
Thank you — happy to take questions, including how each of you currently chooses between cement and screw retention in your own cases.
Source: Reis INR, Fukuoka GL, Nagay BE, Pannuti CM, Spin-Neto R, Silva EVF. J Prosthet Dent. 2025;134(1):100-108.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references used to prepare this review, in Vancouver style. I'm happy to share the full source PDFs — they were uploaded to Canvas / MS Teams with this presentation per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detail slide for faculty questions on material-level heterogeneity. Source: Reis et al. J Prosthet Dent. 2025;134(1):100-108, Table 2. Use if asked which specific cements or implant systems were represented.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domains, for reference if asked: risk of bias, inconsistency, indirectness, imprecision, and other considerations (e.g., publication bias). Here, imprecision (footnote e: total participants below the Optimal Information Size of 300) was the domain driving the downgrade from high to moderate certainty for both outcomes. Source: Reis et al. J Prosthet Dent. 2025;134(1):100-108, Tables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methods questions. Kappa interpretation: values above 0.80 are generally considered "almost perfect" agreement. Source: Reis et al. J Prosthet Dent. 2025;134(1):100-108, Materials and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p:bgPr>
    </p:bg>
    <p:spTree>
      <p:nvGrpSpPr>
        <p:cNvPr id="1" name=""/>
        <p:cNvGrpSpPr/>
        <p:nvPr/>
      </p:nvGrpSpPr>
      <p:grpSpPr>
        <a:xfrm>
          <a:off x="0" y="0"/>
          <a:ext cx="0" cy="0"/>
          <a:chOff x="0" y="0"/>
          <a:chExt cx="0" cy="0"/>
        </a:xfrm>
      </p:grpSpPr>
      <p:sp>
        <p:nvSpPr>
          <p:cNvPr id="2" name="Text 0"/>
          <p:cNvSpPr/>
          <p:nvPr/>
        </p:nvSpPr>
        <p:spPr>
          <a:xfrm>
            <a:off x="566928" y="566928"/>
            <a:ext cx="11057839" cy="320040"/>
          </a:xfrm>
          <a:prstGeom prst="rect">
            <a:avLst/>
          </a:prstGeom>
          <a:noFill/>
          <a:ln/>
        </p:spPr>
        <p:txBody>
          <a:bodyPr wrap="square" lIns="0" tIns="0" rIns="0" bIns="0" rtlCol="0" anchor="ctr"/>
          <a:lstStyle/>
          <a:p>
            <a:pPr algn="l" indent="0" marL="0">
              <a:buNone/>
            </a:pPr>
            <a:r>
              <a:rPr lang="en-US" sz="1300" b="1" spc="300" kern="0" dirty="0">
                <a:solidFill>
                  <a:srgbClr val="6FB8C2"/>
                </a:solidFill>
                <a:latin typeface="Arial" pitchFamily="34" charset="0"/>
                <a:ea typeface="Arial" pitchFamily="34" charset="-122"/>
                <a:cs typeface="Arial" pitchFamily="34" charset="-120"/>
              </a:rPr>
              <a:t>NSU AEGD LITERATURE REVIEW</a:t>
            </a:r>
            <a:endParaRPr lang="en-US" sz="1300" dirty="0"/>
          </a:p>
        </p:txBody>
      </p:sp>
      <p:sp>
        <p:nvSpPr>
          <p:cNvPr id="3" name="Text 1"/>
          <p:cNvSpPr/>
          <p:nvPr/>
        </p:nvSpPr>
        <p:spPr>
          <a:xfrm>
            <a:off x="566928" y="1965960"/>
            <a:ext cx="11057839" cy="960120"/>
          </a:xfrm>
          <a:prstGeom prst="rect">
            <a:avLst/>
          </a:prstGeom>
          <a:noFill/>
          <a:ln/>
        </p:spPr>
        <p:txBody>
          <a:bodyPr wrap="square" lIns="0" tIns="0" rIns="0" bIns="0" rtlCol="0" anchor="ctr"/>
          <a:lstStyle/>
          <a:p>
            <a:pPr algn="l" indent="0" marL="0">
              <a:buNone/>
            </a:pPr>
            <a:r>
              <a:rPr lang="en-US" sz="5000" b="1" dirty="0">
                <a:solidFill>
                  <a:srgbClr val="FFFFFF"/>
                </a:solidFill>
                <a:latin typeface="Georgia" pitchFamily="34" charset="0"/>
                <a:ea typeface="Georgia" pitchFamily="34" charset="-122"/>
                <a:cs typeface="Georgia" pitchFamily="34" charset="-120"/>
              </a:rPr>
              <a:t>Cement- or Screw-Retained?</a:t>
            </a:r>
            <a:endParaRPr lang="en-US" sz="5000" dirty="0"/>
          </a:p>
        </p:txBody>
      </p:sp>
      <p:sp>
        <p:nvSpPr>
          <p:cNvPr id="4" name="Text 2"/>
          <p:cNvSpPr/>
          <p:nvPr/>
        </p:nvSpPr>
        <p:spPr>
          <a:xfrm>
            <a:off x="566928" y="2788920"/>
            <a:ext cx="11057839" cy="777240"/>
          </a:xfrm>
          <a:prstGeom prst="rect">
            <a:avLst/>
          </a:prstGeom>
          <a:noFill/>
          <a:ln/>
        </p:spPr>
        <p:txBody>
          <a:bodyPr wrap="square" lIns="0" tIns="0" rIns="0" bIns="0" rtlCol="0" anchor="ctr"/>
          <a:lstStyle/>
          <a:p>
            <a:pPr algn="l" indent="0" marL="0">
              <a:buNone/>
            </a:pPr>
            <a:r>
              <a:rPr lang="en-US" sz="3300" i="1" dirty="0">
                <a:solidFill>
                  <a:srgbClr val="BFD6E0"/>
                </a:solidFill>
                <a:latin typeface="Georgia" pitchFamily="34" charset="0"/>
                <a:ea typeface="Georgia" pitchFamily="34" charset="-122"/>
                <a:cs typeface="Georgia" pitchFamily="34" charset="-120"/>
              </a:rPr>
              <a:t>Comparing the Incidence of Peri-Implant Disease</a:t>
            </a:r>
            <a:endParaRPr lang="en-US" sz="3300" dirty="0"/>
          </a:p>
        </p:txBody>
      </p:sp>
      <p:sp>
        <p:nvSpPr>
          <p:cNvPr id="5" name="Text 3"/>
          <p:cNvSpPr/>
          <p:nvPr/>
        </p:nvSpPr>
        <p:spPr>
          <a:xfrm>
            <a:off x="566928" y="3520440"/>
            <a:ext cx="11057839" cy="411480"/>
          </a:xfrm>
          <a:prstGeom prst="rect">
            <a:avLst/>
          </a:prstGeom>
          <a:noFill/>
          <a:ln/>
        </p:spPr>
        <p:txBody>
          <a:bodyPr wrap="square" lIns="0" tIns="0" rIns="0" bIns="0" rtlCol="0" anchor="ctr"/>
          <a:lstStyle/>
          <a:p>
            <a:pPr algn="l" indent="0" marL="0">
              <a:buNone/>
            </a:pPr>
            <a:r>
              <a:rPr lang="en-US" sz="1700" dirty="0">
                <a:solidFill>
                  <a:srgbClr val="9FBAC8"/>
                </a:solidFill>
                <a:latin typeface="Arial" pitchFamily="34" charset="0"/>
                <a:ea typeface="Arial" pitchFamily="34" charset="-122"/>
                <a:cs typeface="Arial" pitchFamily="34" charset="-120"/>
              </a:rPr>
              <a:t>A systematic review and meta-analysis of randomized clinical trials</a:t>
            </a:r>
            <a:endParaRPr lang="en-US" sz="1700" dirty="0"/>
          </a:p>
        </p:txBody>
      </p:sp>
      <p:sp>
        <p:nvSpPr>
          <p:cNvPr id="6" name="Shape 4"/>
          <p:cNvSpPr/>
          <p:nvPr/>
        </p:nvSpPr>
        <p:spPr>
          <a:xfrm>
            <a:off x="566928" y="4709160"/>
            <a:ext cx="914400" cy="0"/>
          </a:xfrm>
          <a:prstGeom prst="line">
            <a:avLst/>
          </a:prstGeom>
          <a:noFill/>
          <a:ln w="25400">
            <a:solidFill>
              <a:srgbClr val="1F8A97"/>
            </a:solidFill>
            <a:prstDash val="solid"/>
          </a:ln>
        </p:spPr>
      </p:sp>
      <p:sp>
        <p:nvSpPr>
          <p:cNvPr id="7" name="Text 5"/>
          <p:cNvSpPr/>
          <p:nvPr/>
        </p:nvSpPr>
        <p:spPr>
          <a:xfrm>
            <a:off x="566928" y="4956048"/>
            <a:ext cx="8686800" cy="274320"/>
          </a:xfrm>
          <a:prstGeom prst="rect">
            <a:avLst/>
          </a:prstGeom>
          <a:noFill/>
          <a:ln/>
        </p:spPr>
        <p:txBody>
          <a:bodyPr wrap="square" lIns="0" tIns="0" rIns="0" bIns="0" rtlCol="0" anchor="ctr"/>
          <a:lstStyle/>
          <a:p>
            <a:pPr algn="l" indent="0" marL="0">
              <a:buNone/>
            </a:pPr>
            <a:r>
              <a:rPr lang="en-US" sz="1250" b="1" dirty="0">
                <a:solidFill>
                  <a:srgbClr val="6FB8C2"/>
                </a:solidFill>
                <a:latin typeface="Arial" pitchFamily="34" charset="0"/>
                <a:ea typeface="Arial" pitchFamily="34" charset="-122"/>
                <a:cs typeface="Arial" pitchFamily="34" charset="-120"/>
              </a:rPr>
              <a:t>Presenter   </a:t>
            </a:r>
            <a:pPr algn="l" indent="0" marL="0">
              <a:buNone/>
            </a:pPr>
            <a:r>
              <a:rPr lang="en-US" sz="1250" dirty="0">
                <a:solidFill>
                  <a:srgbClr val="FFFFFF"/>
                </a:solidFill>
                <a:latin typeface="Arial" pitchFamily="34" charset="0"/>
                <a:ea typeface="Arial" pitchFamily="34" charset="-122"/>
                <a:cs typeface="Arial" pitchFamily="34" charset="-120"/>
              </a:rPr>
              <a:t>PG Resident Andreyna Meijide</a:t>
            </a:r>
            <a:endParaRPr lang="en-US" sz="1250" dirty="0"/>
          </a:p>
        </p:txBody>
      </p:sp>
      <p:sp>
        <p:nvSpPr>
          <p:cNvPr id="8" name="Text 6"/>
          <p:cNvSpPr/>
          <p:nvPr/>
        </p:nvSpPr>
        <p:spPr>
          <a:xfrm>
            <a:off x="566928" y="5244084"/>
            <a:ext cx="8686800" cy="274320"/>
          </a:xfrm>
          <a:prstGeom prst="rect">
            <a:avLst/>
          </a:prstGeom>
          <a:noFill/>
          <a:ln/>
        </p:spPr>
        <p:txBody>
          <a:bodyPr wrap="square" lIns="0" tIns="0" rIns="0" bIns="0" rtlCol="0" anchor="ctr"/>
          <a:lstStyle/>
          <a:p>
            <a:pPr algn="l" indent="0" marL="0">
              <a:buNone/>
            </a:pPr>
            <a:r>
              <a:rPr lang="en-US" sz="1250" b="1" dirty="0">
                <a:solidFill>
                  <a:srgbClr val="6FB8C2"/>
                </a:solidFill>
                <a:latin typeface="Arial" pitchFamily="34" charset="0"/>
                <a:ea typeface="Arial" pitchFamily="34" charset="-122"/>
                <a:cs typeface="Arial" pitchFamily="34" charset="-120"/>
              </a:rPr>
              <a:t>Program   </a:t>
            </a:r>
            <a:pPr algn="l" indent="0" marL="0">
              <a:buNone/>
            </a:pPr>
            <a:r>
              <a:rPr lang="en-US" sz="1250" dirty="0">
                <a:solidFill>
                  <a:srgbClr val="FFFFFF"/>
                </a:solidFill>
                <a:latin typeface="Arial" pitchFamily="34" charset="0"/>
                <a:ea typeface="Arial" pitchFamily="34" charset="-122"/>
                <a:cs typeface="Arial" pitchFamily="34" charset="-120"/>
              </a:rPr>
              <a:t>Advanced Education in General Dentistry</a:t>
            </a:r>
            <a:endParaRPr lang="en-US" sz="1250" dirty="0"/>
          </a:p>
        </p:txBody>
      </p:sp>
      <p:sp>
        <p:nvSpPr>
          <p:cNvPr id="9" name="Text 7"/>
          <p:cNvSpPr/>
          <p:nvPr/>
        </p:nvSpPr>
        <p:spPr>
          <a:xfrm>
            <a:off x="566928" y="5532120"/>
            <a:ext cx="8686800" cy="274320"/>
          </a:xfrm>
          <a:prstGeom prst="rect">
            <a:avLst/>
          </a:prstGeom>
          <a:noFill/>
          <a:ln/>
        </p:spPr>
        <p:txBody>
          <a:bodyPr wrap="square" lIns="0" tIns="0" rIns="0" bIns="0" rtlCol="0" anchor="ctr"/>
          <a:lstStyle/>
          <a:p>
            <a:pPr algn="l" indent="0" marL="0">
              <a:buNone/>
            </a:pPr>
            <a:r>
              <a:rPr lang="en-US" sz="1250" b="1" dirty="0">
                <a:solidFill>
                  <a:srgbClr val="6FB8C2"/>
                </a:solidFill>
                <a:latin typeface="Arial" pitchFamily="34" charset="0"/>
                <a:ea typeface="Arial" pitchFamily="34" charset="-122"/>
                <a:cs typeface="Arial" pitchFamily="34" charset="-120"/>
              </a:rPr>
              <a:t>Institution   </a:t>
            </a:r>
            <a:pPr algn="l" indent="0" marL="0">
              <a:buNone/>
            </a:pPr>
            <a:r>
              <a:rPr lang="en-US" sz="1250" dirty="0">
                <a:solidFill>
                  <a:srgbClr val="FFFFFF"/>
                </a:solidFill>
                <a:latin typeface="Arial" pitchFamily="34" charset="0"/>
                <a:ea typeface="Arial" pitchFamily="34" charset="-122"/>
                <a:cs typeface="Arial" pitchFamily="34" charset="-120"/>
              </a:rPr>
              <a:t>Nova Southeastern University, College of Dental Medicine</a:t>
            </a:r>
            <a:endParaRPr lang="en-US" sz="1250" dirty="0"/>
          </a:p>
        </p:txBody>
      </p:sp>
      <p:sp>
        <p:nvSpPr>
          <p:cNvPr id="10" name="Text 8"/>
          <p:cNvSpPr/>
          <p:nvPr/>
        </p:nvSpPr>
        <p:spPr>
          <a:xfrm>
            <a:off x="566928" y="5820156"/>
            <a:ext cx="8686800" cy="274320"/>
          </a:xfrm>
          <a:prstGeom prst="rect">
            <a:avLst/>
          </a:prstGeom>
          <a:noFill/>
          <a:ln/>
        </p:spPr>
        <p:txBody>
          <a:bodyPr wrap="square" lIns="0" tIns="0" rIns="0" bIns="0" rtlCol="0" anchor="ctr"/>
          <a:lstStyle/>
          <a:p>
            <a:pPr algn="l" indent="0" marL="0">
              <a:buNone/>
            </a:pPr>
            <a:r>
              <a:rPr lang="en-US" sz="1250" b="1" dirty="0">
                <a:solidFill>
                  <a:srgbClr val="6FB8C2"/>
                </a:solidFill>
                <a:latin typeface="Arial" pitchFamily="34" charset="0"/>
                <a:ea typeface="Arial" pitchFamily="34" charset="-122"/>
                <a:cs typeface="Arial" pitchFamily="34" charset="-120"/>
              </a:rPr>
              <a:t>Faculty Mentor   </a:t>
            </a:r>
            <a:pPr algn="l" indent="0" marL="0">
              <a:buNone/>
            </a:pPr>
            <a:r>
              <a:rPr lang="en-US" sz="1250" dirty="0">
                <a:solidFill>
                  <a:srgbClr val="FFFFFF"/>
                </a:solidFill>
                <a:latin typeface="Arial" pitchFamily="34" charset="0"/>
                <a:ea typeface="Arial" pitchFamily="34" charset="-122"/>
                <a:cs typeface="Arial" pitchFamily="34" charset="-120"/>
              </a:rPr>
              <a:t>Michelle Madera</a:t>
            </a:r>
            <a:endParaRPr lang="en-US" sz="1250" dirty="0"/>
          </a:p>
        </p:txBody>
      </p:sp>
      <p:sp>
        <p:nvSpPr>
          <p:cNvPr id="11" name="Text 9"/>
          <p:cNvSpPr/>
          <p:nvPr/>
        </p:nvSpPr>
        <p:spPr>
          <a:xfrm>
            <a:off x="566928" y="6108192"/>
            <a:ext cx="8686800" cy="274320"/>
          </a:xfrm>
          <a:prstGeom prst="rect">
            <a:avLst/>
          </a:prstGeom>
          <a:noFill/>
          <a:ln/>
        </p:spPr>
        <p:txBody>
          <a:bodyPr wrap="square" lIns="0" tIns="0" rIns="0" bIns="0" rtlCol="0" anchor="ctr"/>
          <a:lstStyle/>
          <a:p>
            <a:pPr algn="l" indent="0" marL="0">
              <a:buNone/>
            </a:pPr>
            <a:r>
              <a:rPr lang="en-US" sz="1250" b="1" dirty="0">
                <a:solidFill>
                  <a:srgbClr val="6FB8C2"/>
                </a:solidFill>
                <a:latin typeface="Arial" pitchFamily="34" charset="0"/>
                <a:ea typeface="Arial" pitchFamily="34" charset="-122"/>
                <a:cs typeface="Arial" pitchFamily="34" charset="-120"/>
              </a:rPr>
              <a:t>Date   </a:t>
            </a:r>
            <a:pPr algn="l" indent="0" marL="0">
              <a:buNone/>
            </a:pPr>
            <a:r>
              <a:rPr lang="en-US" sz="1250" dirty="0">
                <a:solidFill>
                  <a:srgbClr val="FFFFFF"/>
                </a:solidFill>
                <a:latin typeface="Arial" pitchFamily="34" charset="0"/>
                <a:ea typeface="Arial" pitchFamily="34" charset="-122"/>
                <a:cs typeface="Arial" pitchFamily="34" charset="-120"/>
              </a:rPr>
              <a:t>September 30, 2026</a:t>
            </a:r>
            <a:endParaRPr lang="en-US" sz="1250" dirty="0"/>
          </a:p>
        </p:txBody>
      </p:sp>
      <p:sp>
        <p:nvSpPr>
          <p:cNvPr id="12" name="Text 10"/>
          <p:cNvSpPr/>
          <p:nvPr/>
        </p:nvSpPr>
        <p:spPr>
          <a:xfrm>
            <a:off x="8515807" y="6400800"/>
            <a:ext cx="3108960" cy="274320"/>
          </a:xfrm>
          <a:prstGeom prst="rect">
            <a:avLst/>
          </a:prstGeom>
          <a:noFill/>
          <a:ln/>
        </p:spPr>
        <p:txBody>
          <a:bodyPr wrap="square" lIns="0" tIns="0" rIns="0" bIns="0" rtlCol="0" anchor="ctr"/>
          <a:lstStyle/>
          <a:p>
            <a:pPr algn="r" indent="0" marL="0">
              <a:buNone/>
            </a:pPr>
            <a:r>
              <a:rPr lang="en-US" sz="900" i="1" dirty="0">
                <a:solidFill>
                  <a:srgbClr val="5E7891"/>
                </a:solidFill>
                <a:latin typeface="Arial" pitchFamily="34" charset="0"/>
                <a:ea typeface="Arial" pitchFamily="34" charset="-122"/>
                <a:cs typeface="Arial" pitchFamily="34" charset="-120"/>
              </a:rPr>
              <a:t>Placeholder — confirm before presenting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BACKGROUND</a:t>
            </a:r>
            <a:endParaRPr lang="en-US" sz="1300" dirty="0"/>
          </a:p>
        </p:txBody>
      </p:sp>
      <p:sp>
        <p:nvSpPr>
          <p:cNvPr id="3" name="Text 1"/>
          <p:cNvSpPr/>
          <p:nvPr/>
        </p:nvSpPr>
        <p:spPr>
          <a:xfrm>
            <a:off x="566928" y="731520"/>
            <a:ext cx="11057839" cy="91440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Cement Remnants Are a Recognized Biological Risk at the Margin</a:t>
            </a:r>
            <a:endParaRPr lang="en-US" sz="3200" dirty="0"/>
          </a:p>
        </p:txBody>
      </p:sp>
      <p:sp>
        <p:nvSpPr>
          <p:cNvPr id="4" name="Text 2"/>
          <p:cNvSpPr/>
          <p:nvPr/>
        </p:nvSpPr>
        <p:spPr>
          <a:xfrm>
            <a:off x="566928" y="1993392"/>
            <a:ext cx="6537960" cy="1051560"/>
          </a:xfrm>
          <a:prstGeom prst="rect">
            <a:avLst/>
          </a:prstGeom>
          <a:noFill/>
          <a:ln/>
        </p:spPr>
        <p:txBody>
          <a:bodyPr wrap="square" lIns="0" tIns="0" rIns="0" bIns="0" rtlCol="0" anchor="t"/>
          <a:lstStyle/>
          <a:p>
            <a:pPr algn="l" indent="0" marL="0">
              <a:lnSpc>
                <a:spcPct val="122000"/>
              </a:lnSpc>
              <a:buNone/>
            </a:pPr>
            <a:r>
              <a:rPr lang="en-US" sz="1650" dirty="0">
                <a:solidFill>
                  <a:srgbClr val="2B2E33"/>
                </a:solidFill>
                <a:latin typeface="Arial" pitchFamily="34" charset="0"/>
                <a:ea typeface="Arial" pitchFamily="34" charset="-122"/>
                <a:cs typeface="Arial" pitchFamily="34" charset="-120"/>
              </a:rPr>
              <a:t>Implant-supported fixed prostheses can be cemented onto an abutment or screwed directly into the implant or abutment complex. Both approaches are widely used and both carry distinct mechanical and biological trade-offs.</a:t>
            </a:r>
            <a:endParaRPr lang="en-US" sz="1650" dirty="0"/>
          </a:p>
        </p:txBody>
      </p:sp>
      <p:sp>
        <p:nvSpPr>
          <p:cNvPr id="5" name="Text 3"/>
          <p:cNvSpPr/>
          <p:nvPr/>
        </p:nvSpPr>
        <p:spPr>
          <a:xfrm>
            <a:off x="566928" y="3182112"/>
            <a:ext cx="6537960" cy="1234440"/>
          </a:xfrm>
          <a:prstGeom prst="rect">
            <a:avLst/>
          </a:prstGeom>
          <a:noFill/>
          <a:ln/>
        </p:spPr>
        <p:txBody>
          <a:bodyPr wrap="square" lIns="0" tIns="0" rIns="0" bIns="0" rtlCol="0" anchor="t"/>
          <a:lstStyle/>
          <a:p>
            <a:pPr algn="l" indent="0" marL="0">
              <a:lnSpc>
                <a:spcPct val="122000"/>
              </a:lnSpc>
              <a:buNone/>
            </a:pPr>
            <a:r>
              <a:rPr lang="en-US" sz="1650" b="1" dirty="0">
                <a:solidFill>
                  <a:srgbClr val="0B2A4A"/>
                </a:solidFill>
                <a:latin typeface="Arial" pitchFamily="34" charset="0"/>
                <a:ea typeface="Arial" pitchFamily="34" charset="-122"/>
                <a:cs typeface="Arial" pitchFamily="34" charset="-120"/>
              </a:rPr>
              <a:t>Excess subgingival cement </a:t>
            </a:r>
            <a:pPr algn="l" indent="0" marL="0">
              <a:lnSpc>
                <a:spcPct val="122000"/>
              </a:lnSpc>
              <a:buNone/>
            </a:pPr>
            <a:r>
              <a:rPr lang="en-US" sz="1650" dirty="0">
                <a:solidFill>
                  <a:srgbClr val="2B2E33"/>
                </a:solidFill>
                <a:latin typeface="Arial" pitchFamily="34" charset="0"/>
                <a:ea typeface="Arial" pitchFamily="34" charset="-122"/>
                <a:cs typeface="Arial" pitchFamily="34" charset="-120"/>
              </a:rPr>
              <a:t>has repeatedly been proposed as a bacterial reservoir that hinders biofilm control and has been associated with peri-implant disease in prior observational literature — the biological concern motivating this review.</a:t>
            </a:r>
            <a:endParaRPr lang="en-US" sz="1650" dirty="0"/>
          </a:p>
        </p:txBody>
      </p:sp>
      <p:sp>
        <p:nvSpPr>
          <p:cNvPr id="6" name="Text 4"/>
          <p:cNvSpPr/>
          <p:nvPr/>
        </p:nvSpPr>
        <p:spPr>
          <a:xfrm>
            <a:off x="566928" y="4526280"/>
            <a:ext cx="6537960" cy="1371600"/>
          </a:xfrm>
          <a:prstGeom prst="rect">
            <a:avLst/>
          </a:prstGeom>
          <a:noFill/>
          <a:ln/>
        </p:spPr>
        <p:txBody>
          <a:bodyPr wrap="square" lIns="0" tIns="0" rIns="0" bIns="0" rtlCol="0" anchor="t"/>
          <a:lstStyle/>
          <a:p>
            <a:pPr algn="l" indent="0" marL="0">
              <a:lnSpc>
                <a:spcPct val="122000"/>
              </a:lnSpc>
              <a:buNone/>
            </a:pPr>
            <a:r>
              <a:rPr lang="en-US" sz="1300" i="1" dirty="0">
                <a:solidFill>
                  <a:srgbClr val="5B6570"/>
                </a:solidFill>
                <a:latin typeface="Arial" pitchFamily="34" charset="0"/>
                <a:ea typeface="Arial" pitchFamily="34" charset="-122"/>
                <a:cs typeface="Arial" pitchFamily="34" charset="-120"/>
              </a:rPr>
              <a:t>Peri-implant mucositis: reversible inflammation of the peri-implant soft tissue, without progressive bone loss.</a:t>
            </a:r>
            <a:endParaRPr lang="en-US" sz="1300" dirty="0"/>
          </a:p>
          <a:p>
            <a:pPr algn="l" indent="0" marL="0">
              <a:lnSpc>
                <a:spcPct val="122000"/>
              </a:lnSpc>
              <a:buNone/>
            </a:pPr>
            <a:endParaRPr lang="en-US" sz="1300" dirty="0"/>
          </a:p>
          <a:p>
            <a:pPr algn="l" indent="0" marL="0">
              <a:lnSpc>
                <a:spcPct val="122000"/>
              </a:lnSpc>
              <a:buNone/>
            </a:pPr>
            <a:r>
              <a:rPr lang="en-US" sz="1300" i="1" dirty="0">
                <a:solidFill>
                  <a:srgbClr val="5B6570"/>
                </a:solidFill>
                <a:latin typeface="Arial" pitchFamily="34" charset="0"/>
                <a:ea typeface="Arial" pitchFamily="34" charset="-122"/>
                <a:cs typeface="Arial" pitchFamily="34" charset="-120"/>
              </a:rPr>
              <a:t>Peri-implantitis: inflammation plus progressive loss of supporting bone around a functioning implant.</a:t>
            </a:r>
            <a:endParaRPr lang="en-US" sz="1300" dirty="0"/>
          </a:p>
        </p:txBody>
      </p:sp>
      <p:sp>
        <p:nvSpPr>
          <p:cNvPr id="7" name="Shape 5"/>
          <p:cNvSpPr/>
          <p:nvPr/>
        </p:nvSpPr>
        <p:spPr>
          <a:xfrm>
            <a:off x="7452360" y="1993392"/>
            <a:ext cx="4160520" cy="4160520"/>
          </a:xfrm>
          <a:prstGeom prst="rect">
            <a:avLst/>
          </a:prstGeom>
          <a:solidFill>
            <a:srgbClr val="F7F9FA"/>
          </a:solidFill>
          <a:ln w="12700">
            <a:solidFill>
              <a:srgbClr val="DEE3E7"/>
            </a:solidFill>
            <a:prstDash val="solid"/>
          </a:ln>
        </p:spPr>
      </p:sp>
      <p:sp>
        <p:nvSpPr>
          <p:cNvPr id="8" name="Text 6"/>
          <p:cNvSpPr/>
          <p:nvPr/>
        </p:nvSpPr>
        <p:spPr>
          <a:xfrm>
            <a:off x="7772400" y="2221992"/>
            <a:ext cx="3520440" cy="274320"/>
          </a:xfrm>
          <a:prstGeom prst="rect">
            <a:avLst/>
          </a:prstGeom>
          <a:noFill/>
          <a:ln/>
        </p:spPr>
        <p:txBody>
          <a:bodyPr wrap="square" lIns="0" tIns="0" rIns="0" bIns="0" rtlCol="0" anchor="ctr"/>
          <a:lstStyle/>
          <a:p>
            <a:pPr indent="0" marL="0">
              <a:buNone/>
            </a:pPr>
            <a:r>
              <a:rPr lang="en-US" sz="1150" b="1" spc="200" kern="0" dirty="0">
                <a:solidFill>
                  <a:srgbClr val="1F8A97"/>
                </a:solidFill>
                <a:latin typeface="Arial" pitchFamily="34" charset="0"/>
                <a:ea typeface="Arial" pitchFamily="34" charset="-122"/>
                <a:cs typeface="Arial" pitchFamily="34" charset="-120"/>
              </a:rPr>
              <a:t>RETENTION METHODS COMPARED</a:t>
            </a:r>
            <a:endParaRPr lang="en-US" sz="1150" dirty="0"/>
          </a:p>
        </p:txBody>
      </p:sp>
      <p:sp>
        <p:nvSpPr>
          <p:cNvPr id="9" name="Shape 7"/>
          <p:cNvSpPr/>
          <p:nvPr/>
        </p:nvSpPr>
        <p:spPr>
          <a:xfrm>
            <a:off x="7772400" y="2697480"/>
            <a:ext cx="566928" cy="566928"/>
          </a:xfrm>
          <a:prstGeom prst="ellipse">
            <a:avLst/>
          </a:prstGeom>
          <a:solidFill>
            <a:srgbClr val="0B2A4A"/>
          </a:solidFill>
          <a:ln/>
        </p:spPr>
      </p:sp>
      <p:sp>
        <p:nvSpPr>
          <p:cNvPr id="10" name="Text 8"/>
          <p:cNvSpPr/>
          <p:nvPr/>
        </p:nvSpPr>
        <p:spPr>
          <a:xfrm>
            <a:off x="7772400" y="2697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t>
            </a:r>
            <a:endParaRPr lang="en-US" sz="2000" dirty="0"/>
          </a:p>
        </p:txBody>
      </p:sp>
      <p:sp>
        <p:nvSpPr>
          <p:cNvPr id="11" name="Text 9"/>
          <p:cNvSpPr/>
          <p:nvPr/>
        </p:nvSpPr>
        <p:spPr>
          <a:xfrm>
            <a:off x="8503920" y="2670048"/>
            <a:ext cx="2788920" cy="310896"/>
          </a:xfrm>
          <a:prstGeom prst="rect">
            <a:avLst/>
          </a:prstGeom>
          <a:noFill/>
          <a:ln/>
        </p:spPr>
        <p:txBody>
          <a:bodyPr wrap="square" lIns="0" tIns="0" rIns="0" bIns="0" rtlCol="0" anchor="ctr"/>
          <a:lstStyle/>
          <a:p>
            <a:pPr algn="l" indent="0" marL="0">
              <a:buNone/>
            </a:pPr>
            <a:r>
              <a:rPr lang="en-US" sz="1600" b="1" dirty="0">
                <a:solidFill>
                  <a:srgbClr val="0B2A4A"/>
                </a:solidFill>
                <a:latin typeface="Arial" pitchFamily="34" charset="0"/>
                <a:ea typeface="Arial" pitchFamily="34" charset="-122"/>
                <a:cs typeface="Arial" pitchFamily="34" charset="-120"/>
              </a:rPr>
              <a:t>Cement-retained</a:t>
            </a:r>
            <a:endParaRPr lang="en-US" sz="1600" dirty="0"/>
          </a:p>
        </p:txBody>
      </p:sp>
      <p:sp>
        <p:nvSpPr>
          <p:cNvPr id="12" name="Text 10"/>
          <p:cNvSpPr/>
          <p:nvPr/>
        </p:nvSpPr>
        <p:spPr>
          <a:xfrm>
            <a:off x="8503920" y="2971800"/>
            <a:ext cx="2788920" cy="548640"/>
          </a:xfrm>
          <a:prstGeom prst="rect">
            <a:avLst/>
          </a:prstGeom>
          <a:noFill/>
          <a:ln/>
        </p:spPr>
        <p:txBody>
          <a:bodyPr wrap="square" lIns="0" tIns="0" rIns="0" bIns="0" rtlCol="0" anchor="ctr"/>
          <a:lstStyle/>
          <a:p>
            <a:pPr algn="l" indent="0" marL="0">
              <a:lnSpc>
                <a:spcPct val="115000"/>
              </a:lnSpc>
              <a:buNone/>
            </a:pPr>
            <a:r>
              <a:rPr lang="en-US" sz="1200" dirty="0">
                <a:solidFill>
                  <a:srgbClr val="5B6570"/>
                </a:solidFill>
                <a:latin typeface="Arial" pitchFamily="34" charset="0"/>
                <a:ea typeface="Arial" pitchFamily="34" charset="-122"/>
                <a:cs typeface="Arial" pitchFamily="34" charset="-120"/>
              </a:rPr>
              <a:t>Passive fit; strong esthetics; excess subgingival cement can be difficult to fully retrieve.</a:t>
            </a:r>
            <a:endParaRPr lang="en-US" sz="1200" dirty="0"/>
          </a:p>
        </p:txBody>
      </p:sp>
      <p:sp>
        <p:nvSpPr>
          <p:cNvPr id="13" name="Shape 11"/>
          <p:cNvSpPr/>
          <p:nvPr/>
        </p:nvSpPr>
        <p:spPr>
          <a:xfrm>
            <a:off x="7772400" y="3611880"/>
            <a:ext cx="3520440" cy="0"/>
          </a:xfrm>
          <a:prstGeom prst="line">
            <a:avLst/>
          </a:prstGeom>
          <a:noFill/>
          <a:ln w="12700">
            <a:solidFill>
              <a:srgbClr val="DEE3E7"/>
            </a:solidFill>
            <a:prstDash val="solid"/>
          </a:ln>
        </p:spPr>
      </p:sp>
      <p:sp>
        <p:nvSpPr>
          <p:cNvPr id="14" name="Shape 12"/>
          <p:cNvSpPr/>
          <p:nvPr/>
        </p:nvSpPr>
        <p:spPr>
          <a:xfrm>
            <a:off x="7772400" y="3794760"/>
            <a:ext cx="566928" cy="566928"/>
          </a:xfrm>
          <a:prstGeom prst="ellipse">
            <a:avLst/>
          </a:prstGeom>
          <a:solidFill>
            <a:srgbClr val="0B2A4A"/>
          </a:solidFill>
          <a:ln/>
        </p:spPr>
      </p:sp>
      <p:sp>
        <p:nvSpPr>
          <p:cNvPr id="15" name="Text 13"/>
          <p:cNvSpPr/>
          <p:nvPr/>
        </p:nvSpPr>
        <p:spPr>
          <a:xfrm>
            <a:off x="7772400" y="37947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a:t>
            </a:r>
            <a:endParaRPr lang="en-US" sz="2000" dirty="0"/>
          </a:p>
        </p:txBody>
      </p:sp>
      <p:sp>
        <p:nvSpPr>
          <p:cNvPr id="16" name="Text 14"/>
          <p:cNvSpPr/>
          <p:nvPr/>
        </p:nvSpPr>
        <p:spPr>
          <a:xfrm>
            <a:off x="8503920" y="3767328"/>
            <a:ext cx="2788920" cy="310896"/>
          </a:xfrm>
          <a:prstGeom prst="rect">
            <a:avLst/>
          </a:prstGeom>
          <a:noFill/>
          <a:ln/>
        </p:spPr>
        <p:txBody>
          <a:bodyPr wrap="square" lIns="0" tIns="0" rIns="0" bIns="0" rtlCol="0" anchor="ctr"/>
          <a:lstStyle/>
          <a:p>
            <a:pPr algn="l" indent="0" marL="0">
              <a:buNone/>
            </a:pPr>
            <a:r>
              <a:rPr lang="en-US" sz="1600" b="1" dirty="0">
                <a:solidFill>
                  <a:srgbClr val="0B2A4A"/>
                </a:solidFill>
                <a:latin typeface="Arial" pitchFamily="34" charset="0"/>
                <a:ea typeface="Arial" pitchFamily="34" charset="-122"/>
                <a:cs typeface="Arial" pitchFamily="34" charset="-120"/>
              </a:rPr>
              <a:t>Screw-retained</a:t>
            </a:r>
            <a:endParaRPr lang="en-US" sz="1600" dirty="0"/>
          </a:p>
        </p:txBody>
      </p:sp>
      <p:sp>
        <p:nvSpPr>
          <p:cNvPr id="17" name="Text 15"/>
          <p:cNvSpPr/>
          <p:nvPr/>
        </p:nvSpPr>
        <p:spPr>
          <a:xfrm>
            <a:off x="8503920" y="4069080"/>
            <a:ext cx="2788920" cy="548640"/>
          </a:xfrm>
          <a:prstGeom prst="rect">
            <a:avLst/>
          </a:prstGeom>
          <a:noFill/>
          <a:ln/>
        </p:spPr>
        <p:txBody>
          <a:bodyPr wrap="square" lIns="0" tIns="0" rIns="0" bIns="0" rtlCol="0" anchor="ctr"/>
          <a:lstStyle/>
          <a:p>
            <a:pPr algn="l" indent="0" marL="0">
              <a:lnSpc>
                <a:spcPct val="115000"/>
              </a:lnSpc>
              <a:buNone/>
            </a:pPr>
            <a:r>
              <a:rPr lang="en-US" sz="1200" dirty="0">
                <a:solidFill>
                  <a:srgbClr val="5B6570"/>
                </a:solidFill>
                <a:latin typeface="Arial" pitchFamily="34" charset="0"/>
                <a:ea typeface="Arial" pitchFamily="34" charset="-122"/>
                <a:cs typeface="Arial" pitchFamily="34" charset="-120"/>
              </a:rPr>
              <a:t>Fully retrievable; no cement risk; requires adequate prosthetic space and an accessible screw channel.</a:t>
            </a:r>
            <a:endParaRPr lang="en-US" sz="1200" dirty="0"/>
          </a:p>
        </p:txBody>
      </p:sp>
      <p:sp>
        <p:nvSpPr>
          <p:cNvPr id="18" name="Shape 16"/>
          <p:cNvSpPr/>
          <p:nvPr/>
        </p:nvSpPr>
        <p:spPr>
          <a:xfrm>
            <a:off x="7772400" y="4709160"/>
            <a:ext cx="3520440" cy="0"/>
          </a:xfrm>
          <a:prstGeom prst="line">
            <a:avLst/>
          </a:prstGeom>
          <a:noFill/>
          <a:ln w="12700">
            <a:solidFill>
              <a:srgbClr val="DEE3E7"/>
            </a:solidFill>
            <a:prstDash val="solid"/>
          </a:ln>
        </p:spPr>
      </p:sp>
      <p:sp>
        <p:nvSpPr>
          <p:cNvPr id="19" name="Text 17"/>
          <p:cNvSpPr/>
          <p:nvPr/>
        </p:nvSpPr>
        <p:spPr>
          <a:xfrm>
            <a:off x="7772400" y="4873752"/>
            <a:ext cx="3520440" cy="1188720"/>
          </a:xfrm>
          <a:prstGeom prst="rect">
            <a:avLst/>
          </a:prstGeom>
          <a:noFill/>
          <a:ln/>
        </p:spPr>
        <p:txBody>
          <a:bodyPr wrap="square" lIns="0" tIns="0" rIns="0" bIns="0" rtlCol="0" anchor="t"/>
          <a:lstStyle/>
          <a:p>
            <a:pPr algn="l" indent="0" marL="0">
              <a:lnSpc>
                <a:spcPct val="120000"/>
              </a:lnSpc>
              <a:buNone/>
            </a:pPr>
            <a:r>
              <a:rPr lang="en-US" sz="1200" i="1" dirty="0">
                <a:solidFill>
                  <a:srgbClr val="5B6570"/>
                </a:solidFill>
                <a:latin typeface="Arial" pitchFamily="34" charset="0"/>
                <a:ea typeface="Arial" pitchFamily="34" charset="-122"/>
                <a:cs typeface="Arial" pitchFamily="34" charset="-120"/>
              </a:rPr>
              <a:t>Prior systematic reviews on this question reached inconsistent conclusions and relied mainly on observational studies of mixed design.</a:t>
            </a:r>
            <a:endParaRPr lang="en-US" sz="1200" dirty="0"/>
          </a:p>
        </p:txBody>
      </p:sp>
      <p:sp>
        <p:nvSpPr>
          <p:cNvPr id="20" name="Text 18"/>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21" name="Text 19"/>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1</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THE QUESTION</a:t>
            </a:r>
            <a:endParaRPr lang="en-US" sz="1300" dirty="0"/>
          </a:p>
        </p:txBody>
      </p:sp>
      <p:sp>
        <p:nvSpPr>
          <p:cNvPr id="3" name="Text 1"/>
          <p:cNvSpPr/>
          <p:nvPr/>
        </p:nvSpPr>
        <p:spPr>
          <a:xfrm>
            <a:off x="566928" y="731520"/>
            <a:ext cx="11057839" cy="91440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Does Retention Method Change the Risk of Peri-Implant Disease?</a:t>
            </a:r>
            <a:endParaRPr lang="en-US" sz="3200" dirty="0"/>
          </a:p>
        </p:txBody>
      </p:sp>
      <p:sp>
        <p:nvSpPr>
          <p:cNvPr id="4" name="Shape 2"/>
          <p:cNvSpPr/>
          <p:nvPr/>
        </p:nvSpPr>
        <p:spPr>
          <a:xfrm>
            <a:off x="566928" y="1691640"/>
            <a:ext cx="11057839" cy="914400"/>
          </a:xfrm>
          <a:prstGeom prst="rect">
            <a:avLst/>
          </a:prstGeom>
          <a:solidFill>
            <a:srgbClr val="EAF4F5"/>
          </a:solidFill>
          <a:ln/>
        </p:spPr>
      </p:sp>
      <p:sp>
        <p:nvSpPr>
          <p:cNvPr id="5" name="Text 3"/>
          <p:cNvSpPr/>
          <p:nvPr/>
        </p:nvSpPr>
        <p:spPr>
          <a:xfrm>
            <a:off x="886968" y="1691640"/>
            <a:ext cx="10417759" cy="914400"/>
          </a:xfrm>
          <a:prstGeom prst="rect">
            <a:avLst/>
          </a:prstGeom>
          <a:noFill/>
          <a:ln/>
        </p:spPr>
        <p:txBody>
          <a:bodyPr wrap="square" lIns="0" tIns="0" rIns="0" bIns="0" rtlCol="0" anchor="ctr"/>
          <a:lstStyle/>
          <a:p>
            <a:pPr algn="l" indent="0" marL="0">
              <a:lnSpc>
                <a:spcPct val="120000"/>
              </a:lnSpc>
              <a:buNone/>
            </a:pPr>
            <a:r>
              <a:rPr lang="en-US" sz="2600" i="1" dirty="0">
                <a:solidFill>
                  <a:srgbClr val="1F8A97"/>
                </a:solidFill>
                <a:latin typeface="Georgia" pitchFamily="34" charset="0"/>
                <a:ea typeface="Georgia" pitchFamily="34" charset="-122"/>
                <a:cs typeface="Georgia" pitchFamily="34" charset="-120"/>
              </a:rPr>
              <a:t>“</a:t>
            </a:r>
            <a:pPr algn="l" indent="0" marL="0">
              <a:lnSpc>
                <a:spcPct val="120000"/>
              </a:lnSpc>
              <a:buNone/>
            </a:pPr>
            <a:r>
              <a:rPr lang="en-US" sz="1900" i="1" dirty="0">
                <a:solidFill>
                  <a:srgbClr val="0B2A4A"/>
                </a:solidFill>
                <a:latin typeface="Georgia" pitchFamily="34" charset="0"/>
                <a:ea typeface="Georgia" pitchFamily="34" charset="-122"/>
                <a:cs typeface="Georgia" pitchFamily="34" charset="-120"/>
              </a:rPr>
              <a:t>Is the incidence of peri-implant diseases higher in cemented implant-supported prostheses than in screw-retained prostheses?</a:t>
            </a:r>
            <a:pPr algn="l" indent="0" marL="0">
              <a:lnSpc>
                <a:spcPct val="120000"/>
              </a:lnSpc>
              <a:buNone/>
            </a:pPr>
            <a:r>
              <a:rPr lang="en-US" sz="2600" i="1" dirty="0">
                <a:solidFill>
                  <a:srgbClr val="1F8A97"/>
                </a:solidFill>
                <a:latin typeface="Georgia" pitchFamily="34" charset="0"/>
                <a:ea typeface="Georgia" pitchFamily="34" charset="-122"/>
                <a:cs typeface="Georgia" pitchFamily="34" charset="-120"/>
              </a:rPr>
              <a:t>”</a:t>
            </a:r>
            <a:endParaRPr lang="en-US" sz="2600" dirty="0"/>
          </a:p>
        </p:txBody>
      </p:sp>
      <p:sp>
        <p:nvSpPr>
          <p:cNvPr id="6" name="Text 4"/>
          <p:cNvSpPr/>
          <p:nvPr/>
        </p:nvSpPr>
        <p:spPr>
          <a:xfrm>
            <a:off x="566928" y="2697480"/>
            <a:ext cx="11057839" cy="274320"/>
          </a:xfrm>
          <a:prstGeom prst="rect">
            <a:avLst/>
          </a:prstGeom>
          <a:noFill/>
          <a:ln/>
        </p:spPr>
        <p:txBody>
          <a:bodyPr wrap="square" lIns="0" tIns="0" rIns="0" bIns="0" rtlCol="0" anchor="ctr"/>
          <a:lstStyle/>
          <a:p>
            <a:pPr indent="0" marL="0">
              <a:buNone/>
            </a:pPr>
            <a:r>
              <a:rPr lang="en-US" sz="1150" i="1" dirty="0">
                <a:solidFill>
                  <a:srgbClr val="5B6570"/>
                </a:solidFill>
                <a:latin typeface="Arial" pitchFamily="34" charset="0"/>
                <a:ea typeface="Arial" pitchFamily="34" charset="-122"/>
                <a:cs typeface="Arial" pitchFamily="34" charset="-120"/>
              </a:rPr>
              <a:t>Focused question, as stated by the authors</a:t>
            </a:r>
            <a:endParaRPr lang="en-US" sz="1150" dirty="0"/>
          </a:p>
        </p:txBody>
      </p:sp>
      <p:sp>
        <p:nvSpPr>
          <p:cNvPr id="7" name="Shape 5"/>
          <p:cNvSpPr/>
          <p:nvPr/>
        </p:nvSpPr>
        <p:spPr>
          <a:xfrm>
            <a:off x="566928" y="3337560"/>
            <a:ext cx="658368" cy="658368"/>
          </a:xfrm>
          <a:prstGeom prst="ellipse">
            <a:avLst/>
          </a:prstGeom>
          <a:solidFill>
            <a:srgbClr val="0B2A4A"/>
          </a:solidFill>
          <a:ln/>
        </p:spPr>
      </p:sp>
      <p:sp>
        <p:nvSpPr>
          <p:cNvPr id="8" name="Text 6"/>
          <p:cNvSpPr/>
          <p:nvPr/>
        </p:nvSpPr>
        <p:spPr>
          <a:xfrm>
            <a:off x="566928" y="3337560"/>
            <a:ext cx="658368"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P</a:t>
            </a:r>
            <a:endParaRPr lang="en-US" sz="2600" dirty="0"/>
          </a:p>
        </p:txBody>
      </p:sp>
      <p:sp>
        <p:nvSpPr>
          <p:cNvPr id="9" name="Text 7"/>
          <p:cNvSpPr/>
          <p:nvPr/>
        </p:nvSpPr>
        <p:spPr>
          <a:xfrm>
            <a:off x="566928" y="4114800"/>
            <a:ext cx="2572436" cy="274320"/>
          </a:xfrm>
          <a:prstGeom prst="rect">
            <a:avLst/>
          </a:prstGeom>
          <a:noFill/>
          <a:ln/>
        </p:spPr>
        <p:txBody>
          <a:bodyPr wrap="square" lIns="0" tIns="0" rIns="0" bIns="0" rtlCol="0" anchor="ctr"/>
          <a:lstStyle/>
          <a:p>
            <a:pPr indent="0" marL="0">
              <a:buNone/>
            </a:pPr>
            <a:r>
              <a:rPr lang="en-US" sz="1200" b="1" spc="150" kern="0" dirty="0">
                <a:solidFill>
                  <a:srgbClr val="1F8A97"/>
                </a:solidFill>
                <a:latin typeface="Arial" pitchFamily="34" charset="0"/>
                <a:ea typeface="Arial" pitchFamily="34" charset="-122"/>
                <a:cs typeface="Arial" pitchFamily="34" charset="-120"/>
              </a:rPr>
              <a:t>POPULATION</a:t>
            </a:r>
            <a:endParaRPr lang="en-US" sz="1200" dirty="0"/>
          </a:p>
        </p:txBody>
      </p:sp>
      <p:sp>
        <p:nvSpPr>
          <p:cNvPr id="10" name="Text 8"/>
          <p:cNvSpPr/>
          <p:nvPr/>
        </p:nvSpPr>
        <p:spPr>
          <a:xfrm>
            <a:off x="566928" y="4407408"/>
            <a:ext cx="2572436" cy="1005840"/>
          </a:xfrm>
          <a:prstGeom prst="rect">
            <a:avLst/>
          </a:prstGeom>
          <a:noFill/>
          <a:ln/>
        </p:spPr>
        <p:txBody>
          <a:bodyPr wrap="square" lIns="0" tIns="0" rIns="0" bIns="0" rtlCol="0" anchor="ctr"/>
          <a:lstStyle/>
          <a:p>
            <a:pPr indent="0" marL="0">
              <a:lnSpc>
                <a:spcPct val="120000"/>
              </a:lnSpc>
              <a:buNone/>
            </a:pPr>
            <a:r>
              <a:rPr lang="en-US" sz="1400" dirty="0">
                <a:solidFill>
                  <a:srgbClr val="2B2E33"/>
                </a:solidFill>
                <a:latin typeface="Arial" pitchFamily="34" charset="0"/>
                <a:ea typeface="Arial" pitchFamily="34" charset="-122"/>
                <a:cs typeface="Arial" pitchFamily="34" charset="-120"/>
              </a:rPr>
              <a:t>Patients who received implant-supported prostheses</a:t>
            </a:r>
            <a:endParaRPr lang="en-US" sz="1400" dirty="0"/>
          </a:p>
        </p:txBody>
      </p:sp>
      <p:sp>
        <p:nvSpPr>
          <p:cNvPr id="11" name="Shape 9"/>
          <p:cNvSpPr/>
          <p:nvPr/>
        </p:nvSpPr>
        <p:spPr>
          <a:xfrm>
            <a:off x="3395396" y="3337560"/>
            <a:ext cx="658368" cy="658368"/>
          </a:xfrm>
          <a:prstGeom prst="ellipse">
            <a:avLst/>
          </a:prstGeom>
          <a:solidFill>
            <a:srgbClr val="0B2A4A"/>
          </a:solidFill>
          <a:ln/>
        </p:spPr>
      </p:sp>
      <p:sp>
        <p:nvSpPr>
          <p:cNvPr id="12" name="Text 10"/>
          <p:cNvSpPr/>
          <p:nvPr/>
        </p:nvSpPr>
        <p:spPr>
          <a:xfrm>
            <a:off x="3395396" y="3337560"/>
            <a:ext cx="658368"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I</a:t>
            </a:r>
            <a:endParaRPr lang="en-US" sz="2600" dirty="0"/>
          </a:p>
        </p:txBody>
      </p:sp>
      <p:sp>
        <p:nvSpPr>
          <p:cNvPr id="13" name="Text 11"/>
          <p:cNvSpPr/>
          <p:nvPr/>
        </p:nvSpPr>
        <p:spPr>
          <a:xfrm>
            <a:off x="3395396" y="4114800"/>
            <a:ext cx="2572436" cy="274320"/>
          </a:xfrm>
          <a:prstGeom prst="rect">
            <a:avLst/>
          </a:prstGeom>
          <a:noFill/>
          <a:ln/>
        </p:spPr>
        <p:txBody>
          <a:bodyPr wrap="square" lIns="0" tIns="0" rIns="0" bIns="0" rtlCol="0" anchor="ctr"/>
          <a:lstStyle/>
          <a:p>
            <a:pPr indent="0" marL="0">
              <a:buNone/>
            </a:pPr>
            <a:r>
              <a:rPr lang="en-US" sz="1200" b="1" spc="150" kern="0" dirty="0">
                <a:solidFill>
                  <a:srgbClr val="1F8A97"/>
                </a:solidFill>
                <a:latin typeface="Arial" pitchFamily="34" charset="0"/>
                <a:ea typeface="Arial" pitchFamily="34" charset="-122"/>
                <a:cs typeface="Arial" pitchFamily="34" charset="-120"/>
              </a:rPr>
              <a:t>INTERVENTION</a:t>
            </a:r>
            <a:endParaRPr lang="en-US" sz="1200" dirty="0"/>
          </a:p>
        </p:txBody>
      </p:sp>
      <p:sp>
        <p:nvSpPr>
          <p:cNvPr id="14" name="Text 12"/>
          <p:cNvSpPr/>
          <p:nvPr/>
        </p:nvSpPr>
        <p:spPr>
          <a:xfrm>
            <a:off x="3395396" y="4407408"/>
            <a:ext cx="2572436" cy="1005840"/>
          </a:xfrm>
          <a:prstGeom prst="rect">
            <a:avLst/>
          </a:prstGeom>
          <a:noFill/>
          <a:ln/>
        </p:spPr>
        <p:txBody>
          <a:bodyPr wrap="square" lIns="0" tIns="0" rIns="0" bIns="0" rtlCol="0" anchor="ctr"/>
          <a:lstStyle/>
          <a:p>
            <a:pPr indent="0" marL="0">
              <a:lnSpc>
                <a:spcPct val="120000"/>
              </a:lnSpc>
              <a:buNone/>
            </a:pPr>
            <a:r>
              <a:rPr lang="en-US" sz="1400" dirty="0">
                <a:solidFill>
                  <a:srgbClr val="2B2E33"/>
                </a:solidFill>
                <a:latin typeface="Arial" pitchFamily="34" charset="0"/>
                <a:ea typeface="Arial" pitchFamily="34" charset="-122"/>
                <a:cs typeface="Arial" pitchFamily="34" charset="-120"/>
              </a:rPr>
              <a:t>Cement-retained prostheses</a:t>
            </a:r>
            <a:endParaRPr lang="en-US" sz="1400" dirty="0"/>
          </a:p>
        </p:txBody>
      </p:sp>
      <p:sp>
        <p:nvSpPr>
          <p:cNvPr id="15" name="Shape 13"/>
          <p:cNvSpPr/>
          <p:nvPr/>
        </p:nvSpPr>
        <p:spPr>
          <a:xfrm>
            <a:off x="6223864" y="3337560"/>
            <a:ext cx="658368" cy="658368"/>
          </a:xfrm>
          <a:prstGeom prst="ellipse">
            <a:avLst/>
          </a:prstGeom>
          <a:solidFill>
            <a:srgbClr val="0B2A4A"/>
          </a:solidFill>
          <a:ln/>
        </p:spPr>
      </p:sp>
      <p:sp>
        <p:nvSpPr>
          <p:cNvPr id="16" name="Text 14"/>
          <p:cNvSpPr/>
          <p:nvPr/>
        </p:nvSpPr>
        <p:spPr>
          <a:xfrm>
            <a:off x="6223864" y="3337560"/>
            <a:ext cx="658368"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C</a:t>
            </a:r>
            <a:endParaRPr lang="en-US" sz="2600" dirty="0"/>
          </a:p>
        </p:txBody>
      </p:sp>
      <p:sp>
        <p:nvSpPr>
          <p:cNvPr id="17" name="Text 15"/>
          <p:cNvSpPr/>
          <p:nvPr/>
        </p:nvSpPr>
        <p:spPr>
          <a:xfrm>
            <a:off x="6223864" y="4114800"/>
            <a:ext cx="2572436" cy="274320"/>
          </a:xfrm>
          <a:prstGeom prst="rect">
            <a:avLst/>
          </a:prstGeom>
          <a:noFill/>
          <a:ln/>
        </p:spPr>
        <p:txBody>
          <a:bodyPr wrap="square" lIns="0" tIns="0" rIns="0" bIns="0" rtlCol="0" anchor="ctr"/>
          <a:lstStyle/>
          <a:p>
            <a:pPr indent="0" marL="0">
              <a:buNone/>
            </a:pPr>
            <a:r>
              <a:rPr lang="en-US" sz="1200" b="1" spc="150" kern="0" dirty="0">
                <a:solidFill>
                  <a:srgbClr val="1F8A97"/>
                </a:solidFill>
                <a:latin typeface="Arial" pitchFamily="34" charset="0"/>
                <a:ea typeface="Arial" pitchFamily="34" charset="-122"/>
                <a:cs typeface="Arial" pitchFamily="34" charset="-120"/>
              </a:rPr>
              <a:t>COMPARISON</a:t>
            </a:r>
            <a:endParaRPr lang="en-US" sz="1200" dirty="0"/>
          </a:p>
        </p:txBody>
      </p:sp>
      <p:sp>
        <p:nvSpPr>
          <p:cNvPr id="18" name="Text 16"/>
          <p:cNvSpPr/>
          <p:nvPr/>
        </p:nvSpPr>
        <p:spPr>
          <a:xfrm>
            <a:off x="6223864" y="4407408"/>
            <a:ext cx="2572436" cy="1005840"/>
          </a:xfrm>
          <a:prstGeom prst="rect">
            <a:avLst/>
          </a:prstGeom>
          <a:noFill/>
          <a:ln/>
        </p:spPr>
        <p:txBody>
          <a:bodyPr wrap="square" lIns="0" tIns="0" rIns="0" bIns="0" rtlCol="0" anchor="ctr"/>
          <a:lstStyle/>
          <a:p>
            <a:pPr indent="0" marL="0">
              <a:lnSpc>
                <a:spcPct val="120000"/>
              </a:lnSpc>
              <a:buNone/>
            </a:pPr>
            <a:r>
              <a:rPr lang="en-US" sz="1400" dirty="0">
                <a:solidFill>
                  <a:srgbClr val="2B2E33"/>
                </a:solidFill>
                <a:latin typeface="Arial" pitchFamily="34" charset="0"/>
                <a:ea typeface="Arial" pitchFamily="34" charset="-122"/>
                <a:cs typeface="Arial" pitchFamily="34" charset="-120"/>
              </a:rPr>
              <a:t>Screw-retained prostheses</a:t>
            </a:r>
            <a:endParaRPr lang="en-US" sz="1400" dirty="0"/>
          </a:p>
        </p:txBody>
      </p:sp>
      <p:sp>
        <p:nvSpPr>
          <p:cNvPr id="19" name="Shape 17"/>
          <p:cNvSpPr/>
          <p:nvPr/>
        </p:nvSpPr>
        <p:spPr>
          <a:xfrm>
            <a:off x="9052331" y="3337560"/>
            <a:ext cx="658368" cy="658368"/>
          </a:xfrm>
          <a:prstGeom prst="ellipse">
            <a:avLst/>
          </a:prstGeom>
          <a:solidFill>
            <a:srgbClr val="0B2A4A"/>
          </a:solidFill>
          <a:ln/>
        </p:spPr>
      </p:sp>
      <p:sp>
        <p:nvSpPr>
          <p:cNvPr id="20" name="Text 18"/>
          <p:cNvSpPr/>
          <p:nvPr/>
        </p:nvSpPr>
        <p:spPr>
          <a:xfrm>
            <a:off x="9052331" y="3337560"/>
            <a:ext cx="658368"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O</a:t>
            </a:r>
            <a:endParaRPr lang="en-US" sz="2600" dirty="0"/>
          </a:p>
        </p:txBody>
      </p:sp>
      <p:sp>
        <p:nvSpPr>
          <p:cNvPr id="21" name="Text 19"/>
          <p:cNvSpPr/>
          <p:nvPr/>
        </p:nvSpPr>
        <p:spPr>
          <a:xfrm>
            <a:off x="9052331" y="4114800"/>
            <a:ext cx="2572436" cy="274320"/>
          </a:xfrm>
          <a:prstGeom prst="rect">
            <a:avLst/>
          </a:prstGeom>
          <a:noFill/>
          <a:ln/>
        </p:spPr>
        <p:txBody>
          <a:bodyPr wrap="square" lIns="0" tIns="0" rIns="0" bIns="0" rtlCol="0" anchor="ctr"/>
          <a:lstStyle/>
          <a:p>
            <a:pPr indent="0" marL="0">
              <a:buNone/>
            </a:pPr>
            <a:r>
              <a:rPr lang="en-US" sz="1200" b="1" spc="150" kern="0" dirty="0">
                <a:solidFill>
                  <a:srgbClr val="1F8A97"/>
                </a:solidFill>
                <a:latin typeface="Arial" pitchFamily="34" charset="0"/>
                <a:ea typeface="Arial" pitchFamily="34" charset="-122"/>
                <a:cs typeface="Arial" pitchFamily="34" charset="-120"/>
              </a:rPr>
              <a:t>OUTCOME</a:t>
            </a:r>
            <a:endParaRPr lang="en-US" sz="1200" dirty="0"/>
          </a:p>
        </p:txBody>
      </p:sp>
      <p:sp>
        <p:nvSpPr>
          <p:cNvPr id="22" name="Text 20"/>
          <p:cNvSpPr/>
          <p:nvPr/>
        </p:nvSpPr>
        <p:spPr>
          <a:xfrm>
            <a:off x="9052331" y="4407408"/>
            <a:ext cx="2572436" cy="1005840"/>
          </a:xfrm>
          <a:prstGeom prst="rect">
            <a:avLst/>
          </a:prstGeom>
          <a:noFill/>
          <a:ln/>
        </p:spPr>
        <p:txBody>
          <a:bodyPr wrap="square" lIns="0" tIns="0" rIns="0" bIns="0" rtlCol="0" anchor="ctr"/>
          <a:lstStyle/>
          <a:p>
            <a:pPr indent="0" marL="0">
              <a:lnSpc>
                <a:spcPct val="120000"/>
              </a:lnSpc>
              <a:buNone/>
            </a:pPr>
            <a:r>
              <a:rPr lang="en-US" sz="1400" dirty="0">
                <a:solidFill>
                  <a:srgbClr val="2B2E33"/>
                </a:solidFill>
                <a:latin typeface="Arial" pitchFamily="34" charset="0"/>
                <a:ea typeface="Arial" pitchFamily="34" charset="-122"/>
                <a:cs typeface="Arial" pitchFamily="34" charset="-120"/>
              </a:rPr>
              <a:t>Incidence of peri-implant mucositis and peri-implantitis</a:t>
            </a:r>
            <a:endParaRPr lang="en-US" sz="1400" dirty="0"/>
          </a:p>
        </p:txBody>
      </p:sp>
      <p:sp>
        <p:nvSpPr>
          <p:cNvPr id="23" name="Text 21"/>
          <p:cNvSpPr/>
          <p:nvPr/>
        </p:nvSpPr>
        <p:spPr>
          <a:xfrm>
            <a:off x="566928" y="5623560"/>
            <a:ext cx="11057839" cy="320040"/>
          </a:xfrm>
          <a:prstGeom prst="rect">
            <a:avLst/>
          </a:prstGeom>
          <a:noFill/>
          <a:ln/>
        </p:spPr>
        <p:txBody>
          <a:bodyPr wrap="square" lIns="0" tIns="0" rIns="0" bIns="0" rtlCol="0" anchor="ctr"/>
          <a:lstStyle/>
          <a:p>
            <a:pPr indent="0" marL="0">
              <a:buNone/>
            </a:pPr>
            <a:r>
              <a:rPr lang="en-US" sz="1300" i="1" dirty="0">
                <a:solidFill>
                  <a:srgbClr val="5B6570"/>
                </a:solidFill>
                <a:latin typeface="Arial" pitchFamily="34" charset="0"/>
                <a:ea typeface="Arial" pitchFamily="34" charset="-122"/>
                <a:cs typeface="Arial" pitchFamily="34" charset="-120"/>
              </a:rPr>
              <a:t>Study design (S): randomized controlled trials only.</a:t>
            </a:r>
            <a:endParaRPr lang="en-US" sz="1300" dirty="0"/>
          </a:p>
        </p:txBody>
      </p:sp>
      <p:sp>
        <p:nvSpPr>
          <p:cNvPr id="24" name="Text 22"/>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25" name="Text 23"/>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2</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user-project/d97f94cc-3bb8-5ef5-a091-9ffd884b42b2/scratchpad/fig/masthead.png">    </p:cNvPr>
          <p:cNvPicPr>
            <a:picLocks noChangeAspect="1"/>
          </p:cNvPicPr>
          <p:nvPr/>
        </p:nvPicPr>
        <p:blipFill>
          <a:blip r:embed="rId1"/>
          <a:stretch>
            <a:fillRect/>
          </a:stretch>
        </p:blipFill>
        <p:spPr>
          <a:xfrm>
            <a:off x="10207447" y="146304"/>
            <a:ext cx="1417320" cy="356121"/>
          </a:xfrm>
          <a:prstGeom prst="rect">
            <a:avLst/>
          </a:prstGeom>
        </p:spPr>
      </p:pic>
      <p:sp>
        <p:nvSpPr>
          <p:cNvPr id="3"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THE EVIDENCE</a:t>
            </a:r>
            <a:endParaRPr lang="en-US" sz="1300" dirty="0"/>
          </a:p>
        </p:txBody>
      </p:sp>
      <p:sp>
        <p:nvSpPr>
          <p:cNvPr id="4" name="Text 1"/>
          <p:cNvSpPr/>
          <p:nvPr/>
        </p:nvSpPr>
        <p:spPr>
          <a:xfrm>
            <a:off x="566928" y="731520"/>
            <a:ext cx="11057839" cy="1188720"/>
          </a:xfrm>
          <a:prstGeom prst="rect">
            <a:avLst/>
          </a:prstGeom>
          <a:noFill/>
          <a:ln/>
        </p:spPr>
        <p:txBody>
          <a:bodyPr wrap="square" lIns="0" tIns="0" rIns="0" bIns="0" rtlCol="0" anchor="t"/>
          <a:lstStyle/>
          <a:p>
            <a:pPr algn="l" indent="0" marL="0">
              <a:lnSpc>
                <a:spcPct val="102000"/>
              </a:lnSpc>
              <a:buNone/>
            </a:pPr>
            <a:r>
              <a:rPr lang="en-US" sz="2900" b="1" dirty="0">
                <a:solidFill>
                  <a:srgbClr val="0B2A4A"/>
                </a:solidFill>
                <a:latin typeface="Georgia" pitchFamily="34" charset="0"/>
                <a:ea typeface="Georgia" pitchFamily="34" charset="-122"/>
                <a:cs typeface="Georgia" pitchFamily="34" charset="-120"/>
              </a:rPr>
              <a:t>A 2025 Systematic Review and Meta-Analysis of Randomized Trials</a:t>
            </a:r>
            <a:endParaRPr lang="en-US" sz="2900" dirty="0"/>
          </a:p>
        </p:txBody>
      </p:sp>
      <p:sp>
        <p:nvSpPr>
          <p:cNvPr id="5" name="Text 2"/>
          <p:cNvSpPr/>
          <p:nvPr/>
        </p:nvSpPr>
        <p:spPr>
          <a:xfrm>
            <a:off x="566928" y="2121408"/>
            <a:ext cx="6903720" cy="914400"/>
          </a:xfrm>
          <a:prstGeom prst="rect">
            <a:avLst/>
          </a:prstGeom>
          <a:noFill/>
          <a:ln/>
        </p:spPr>
        <p:txBody>
          <a:bodyPr wrap="square" lIns="0" tIns="0" rIns="0" bIns="0" rtlCol="0" anchor="t"/>
          <a:lstStyle/>
          <a:p>
            <a:pPr indent="0" marL="0">
              <a:lnSpc>
                <a:spcPct val="118000"/>
              </a:lnSpc>
              <a:buNone/>
            </a:pPr>
            <a:r>
              <a:rPr lang="en-US" sz="1400" i="1" dirty="0">
                <a:solidFill>
                  <a:srgbClr val="2B2E33"/>
                </a:solidFill>
                <a:latin typeface="Arial" pitchFamily="34" charset="0"/>
                <a:ea typeface="Arial" pitchFamily="34" charset="-122"/>
                <a:cs typeface="Arial" pitchFamily="34" charset="-120"/>
              </a:rPr>
              <a:t>Reis INR, Fukuoka GL, Nagay BE, Pannuti CM, Spin-Neto R, Silva EVF. Incidence of peri-implant disease associated with cement- and screw-retained implant-supported prostheses: a systematic review and meta-analysis.</a:t>
            </a:r>
            <a:endParaRPr lang="en-US" sz="1400" dirty="0"/>
          </a:p>
        </p:txBody>
      </p:sp>
      <p:sp>
        <p:nvSpPr>
          <p:cNvPr id="6" name="Text 3"/>
          <p:cNvSpPr/>
          <p:nvPr/>
        </p:nvSpPr>
        <p:spPr>
          <a:xfrm>
            <a:off x="566928" y="3081528"/>
            <a:ext cx="6903720" cy="502920"/>
          </a:xfrm>
          <a:prstGeom prst="rect">
            <a:avLst/>
          </a:prstGeom>
          <a:noFill/>
          <a:ln/>
        </p:spPr>
        <p:txBody>
          <a:bodyPr wrap="square" lIns="0" tIns="0" rIns="0" bIns="0" rtlCol="0" anchor="t"/>
          <a:lstStyle/>
          <a:p>
            <a:pPr indent="0" marL="0">
              <a:lnSpc>
                <a:spcPct val="120000"/>
              </a:lnSpc>
              <a:buNone/>
            </a:pPr>
            <a:r>
              <a:rPr lang="en-US" sz="1250" b="1" dirty="0">
                <a:solidFill>
                  <a:srgbClr val="0B2A4A"/>
                </a:solidFill>
                <a:latin typeface="Arial" pitchFamily="34" charset="0"/>
                <a:ea typeface="Arial" pitchFamily="34" charset="-122"/>
                <a:cs typeface="Arial" pitchFamily="34" charset="-120"/>
              </a:rPr>
              <a:t>The Journal of Prosthetic Dentistry</a:t>
            </a:r>
            <a:pPr indent="0" marL="0">
              <a:lnSpc>
                <a:spcPct val="120000"/>
              </a:lnSpc>
              <a:buNone/>
            </a:pPr>
            <a:r>
              <a:rPr lang="en-US" sz="1250" dirty="0">
                <a:solidFill>
                  <a:srgbClr val="2B2E33"/>
                </a:solidFill>
                <a:latin typeface="Arial" pitchFamily="34" charset="0"/>
                <a:ea typeface="Arial" pitchFamily="34" charset="-122"/>
                <a:cs typeface="Arial" pitchFamily="34" charset="-120"/>
              </a:rPr>
              <a:t>  ·  Published July 2025  ·  Vol. 134, Issue 1, pp. 100–108  ·  doi:10.1016/j.prosdent.2023.08.030</a:t>
            </a:r>
            <a:endParaRPr lang="en-US" sz="1250" dirty="0"/>
          </a:p>
        </p:txBody>
      </p:sp>
      <p:sp>
        <p:nvSpPr>
          <p:cNvPr id="7" name="Shape 4"/>
          <p:cNvSpPr/>
          <p:nvPr/>
        </p:nvSpPr>
        <p:spPr>
          <a:xfrm>
            <a:off x="566928" y="3602736"/>
            <a:ext cx="2331720" cy="365760"/>
          </a:xfrm>
          <a:prstGeom prst="rect">
            <a:avLst/>
          </a:prstGeom>
          <a:solidFill>
            <a:srgbClr val="FBEFD8"/>
          </a:solidFill>
          <a:ln w="9525">
            <a:solidFill>
              <a:srgbClr val="D8B667"/>
            </a:solidFill>
            <a:prstDash val="solid"/>
          </a:ln>
        </p:spPr>
      </p:sp>
      <p:sp>
        <p:nvSpPr>
          <p:cNvPr id="8" name="Text 5"/>
          <p:cNvSpPr/>
          <p:nvPr/>
        </p:nvSpPr>
        <p:spPr>
          <a:xfrm>
            <a:off x="566928" y="3602736"/>
            <a:ext cx="2331720" cy="365760"/>
          </a:xfrm>
          <a:prstGeom prst="rect">
            <a:avLst/>
          </a:prstGeom>
          <a:noFill/>
          <a:ln/>
        </p:spPr>
        <p:txBody>
          <a:bodyPr wrap="square" lIns="0" tIns="0" rIns="0" bIns="0" rtlCol="0" anchor="ctr"/>
          <a:lstStyle/>
          <a:p>
            <a:pPr algn="ctr" indent="0" marL="0">
              <a:buNone/>
            </a:pPr>
            <a:r>
              <a:rPr lang="en-US" sz="1100" b="1" dirty="0">
                <a:solidFill>
                  <a:srgbClr val="8A6412"/>
                </a:solidFill>
                <a:latin typeface="Arial" pitchFamily="34" charset="0"/>
                <a:ea typeface="Arial" pitchFamily="34" charset="-122"/>
                <a:cs typeface="Arial" pitchFamily="34" charset="-120"/>
              </a:rPr>
              <a:t>JIF: verification required</a:t>
            </a:r>
            <a:endParaRPr lang="en-US" sz="1100" dirty="0"/>
          </a:p>
        </p:txBody>
      </p:sp>
      <p:sp>
        <p:nvSpPr>
          <p:cNvPr id="9" name="Text 6"/>
          <p:cNvSpPr/>
          <p:nvPr/>
        </p:nvSpPr>
        <p:spPr>
          <a:xfrm>
            <a:off x="566928" y="4114800"/>
            <a:ext cx="6903720" cy="256032"/>
          </a:xfrm>
          <a:prstGeom prst="rect">
            <a:avLst/>
          </a:prstGeom>
          <a:noFill/>
          <a:ln/>
        </p:spPr>
        <p:txBody>
          <a:bodyPr wrap="square" lIns="0" tIns="0" rIns="0" bIns="0" rtlCol="0" anchor="ctr"/>
          <a:lstStyle/>
          <a:p>
            <a:pPr indent="0" marL="0">
              <a:buNone/>
            </a:pPr>
            <a:r>
              <a:rPr lang="en-US" sz="1150" b="1" spc="150" kern="0" dirty="0">
                <a:solidFill>
                  <a:srgbClr val="1F8A97"/>
                </a:solidFill>
                <a:latin typeface="Arial" pitchFamily="34" charset="0"/>
                <a:ea typeface="Arial" pitchFamily="34" charset="-122"/>
                <a:cs typeface="Arial" pitchFamily="34" charset="-120"/>
              </a:rPr>
              <a:t>EVIDENCE LEVEL</a:t>
            </a:r>
            <a:endParaRPr lang="en-US" sz="1150" dirty="0"/>
          </a:p>
        </p:txBody>
      </p:sp>
      <p:sp>
        <p:nvSpPr>
          <p:cNvPr id="10" name="Text 7"/>
          <p:cNvSpPr/>
          <p:nvPr/>
        </p:nvSpPr>
        <p:spPr>
          <a:xfrm>
            <a:off x="566928" y="4379976"/>
            <a:ext cx="6903720" cy="365760"/>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Systematic review and meta-analysis of RCTs — the top tier of the evidence hierarchy.</a:t>
            </a:r>
            <a:endParaRPr lang="en-US" sz="1350" dirty="0"/>
          </a:p>
        </p:txBody>
      </p:sp>
      <p:sp>
        <p:nvSpPr>
          <p:cNvPr id="11" name="Text 8"/>
          <p:cNvSpPr/>
          <p:nvPr/>
        </p:nvSpPr>
        <p:spPr>
          <a:xfrm>
            <a:off x="566928" y="4818888"/>
            <a:ext cx="6903720" cy="256032"/>
          </a:xfrm>
          <a:prstGeom prst="rect">
            <a:avLst/>
          </a:prstGeom>
          <a:noFill/>
          <a:ln/>
        </p:spPr>
        <p:txBody>
          <a:bodyPr wrap="square" lIns="0" tIns="0" rIns="0" bIns="0" rtlCol="0" anchor="ctr"/>
          <a:lstStyle/>
          <a:p>
            <a:pPr indent="0" marL="0">
              <a:buNone/>
            </a:pPr>
            <a:r>
              <a:rPr lang="en-US" sz="1150" b="1" spc="150" kern="0" dirty="0">
                <a:solidFill>
                  <a:srgbClr val="1F8A97"/>
                </a:solidFill>
                <a:latin typeface="Arial" pitchFamily="34" charset="0"/>
                <a:ea typeface="Arial" pitchFamily="34" charset="-122"/>
                <a:cs typeface="Arial" pitchFamily="34" charset="-120"/>
              </a:rPr>
              <a:t>AUTHORS’ OBJECTIVE</a:t>
            </a:r>
            <a:endParaRPr lang="en-US" sz="1150" dirty="0"/>
          </a:p>
        </p:txBody>
      </p:sp>
      <p:sp>
        <p:nvSpPr>
          <p:cNvPr id="12" name="Text 9"/>
          <p:cNvSpPr/>
          <p:nvPr/>
        </p:nvSpPr>
        <p:spPr>
          <a:xfrm>
            <a:off x="566928" y="5084064"/>
            <a:ext cx="6903720" cy="548640"/>
          </a:xfrm>
          <a:prstGeom prst="rect">
            <a:avLst/>
          </a:prstGeom>
          <a:noFill/>
          <a:ln/>
        </p:spPr>
        <p:txBody>
          <a:bodyPr wrap="square" lIns="0" tIns="0" rIns="0" bIns="0" rtlCol="0" anchor="ctr"/>
          <a:lstStyle/>
          <a:p>
            <a:pPr indent="0" marL="0">
              <a:lnSpc>
                <a:spcPct val="115000"/>
              </a:lnSpc>
              <a:buNone/>
            </a:pPr>
            <a:r>
              <a:rPr lang="en-US" sz="1350" dirty="0">
                <a:solidFill>
                  <a:srgbClr val="2B2E33"/>
                </a:solidFill>
                <a:latin typeface="Arial" pitchFamily="34" charset="0"/>
                <a:ea typeface="Arial" pitchFamily="34" charset="-122"/>
                <a:cs typeface="Arial" pitchFamily="34" charset="-120"/>
              </a:rPr>
              <a:t>To compare the incidence of peri-implant mucositis and peri-implantitis between cement- and screw-retained implant-supported prostheses, pooling data from RCTs.</a:t>
            </a:r>
            <a:endParaRPr lang="en-US" sz="1350" dirty="0"/>
          </a:p>
        </p:txBody>
      </p:sp>
      <p:sp>
        <p:nvSpPr>
          <p:cNvPr id="13" name="Shape 10"/>
          <p:cNvSpPr/>
          <p:nvPr/>
        </p:nvSpPr>
        <p:spPr>
          <a:xfrm>
            <a:off x="7818120" y="2121408"/>
            <a:ext cx="3794760" cy="3794760"/>
          </a:xfrm>
          <a:prstGeom prst="rect">
            <a:avLst/>
          </a:prstGeom>
          <a:solidFill>
            <a:srgbClr val="F7F9FA"/>
          </a:solidFill>
          <a:ln w="12700">
            <a:solidFill>
              <a:srgbClr val="DEE3E7"/>
            </a:solidFill>
            <a:prstDash val="solid"/>
          </a:ln>
        </p:spPr>
      </p:sp>
      <p:sp>
        <p:nvSpPr>
          <p:cNvPr id="14" name="Text 11"/>
          <p:cNvSpPr/>
          <p:nvPr/>
        </p:nvSpPr>
        <p:spPr>
          <a:xfrm>
            <a:off x="8092440" y="2322576"/>
            <a:ext cx="3246120" cy="274320"/>
          </a:xfrm>
          <a:prstGeom prst="rect">
            <a:avLst/>
          </a:prstGeom>
          <a:noFill/>
          <a:ln/>
        </p:spPr>
        <p:txBody>
          <a:bodyPr wrap="square" lIns="0" tIns="0" rIns="0" bIns="0" rtlCol="0" anchor="ctr"/>
          <a:lstStyle/>
          <a:p>
            <a:pPr indent="0" marL="0">
              <a:buNone/>
            </a:pPr>
            <a:r>
              <a:rPr lang="en-US" sz="1150" b="1" spc="120" kern="0" dirty="0">
                <a:solidFill>
                  <a:srgbClr val="1F8A97"/>
                </a:solidFill>
                <a:latin typeface="Arial" pitchFamily="34" charset="0"/>
                <a:ea typeface="Arial" pitchFamily="34" charset="-122"/>
                <a:cs typeface="Arial" pitchFamily="34" charset="-120"/>
              </a:rPr>
              <a:t>AUTHORS’ STATED HYPOTHESIS</a:t>
            </a:r>
            <a:endParaRPr lang="en-US" sz="1150" dirty="0"/>
          </a:p>
        </p:txBody>
      </p:sp>
      <p:sp>
        <p:nvSpPr>
          <p:cNvPr id="15" name="Text 12"/>
          <p:cNvSpPr/>
          <p:nvPr/>
        </p:nvSpPr>
        <p:spPr>
          <a:xfrm>
            <a:off x="8092440" y="2633472"/>
            <a:ext cx="3246120" cy="1005840"/>
          </a:xfrm>
          <a:prstGeom prst="rect">
            <a:avLst/>
          </a:prstGeom>
          <a:noFill/>
          <a:ln/>
        </p:spPr>
        <p:txBody>
          <a:bodyPr wrap="square" lIns="0" tIns="0" rIns="0" bIns="0" rtlCol="0" anchor="ctr"/>
          <a:lstStyle/>
          <a:p>
            <a:pPr indent="0" marL="0">
              <a:lnSpc>
                <a:spcPct val="118000"/>
              </a:lnSpc>
              <a:buNone/>
            </a:pPr>
            <a:r>
              <a:rPr lang="en-US" sz="1350" i="1" dirty="0">
                <a:solidFill>
                  <a:srgbClr val="2B2E33"/>
                </a:solidFill>
                <a:latin typeface="Arial" pitchFamily="34" charset="0"/>
                <a:ea typeface="Arial" pitchFamily="34" charset="-122"/>
                <a:cs typeface="Arial" pitchFamily="34" charset="-120"/>
              </a:rPr>
              <a:t>Explicit null hypothesis reported: no association would be found between prosthesis retention type and the incidence of peri-implant disease.</a:t>
            </a:r>
            <a:endParaRPr lang="en-US" sz="1350" dirty="0"/>
          </a:p>
        </p:txBody>
      </p:sp>
      <p:sp>
        <p:nvSpPr>
          <p:cNvPr id="16" name="Shape 13"/>
          <p:cNvSpPr/>
          <p:nvPr/>
        </p:nvSpPr>
        <p:spPr>
          <a:xfrm>
            <a:off x="8092440" y="3749040"/>
            <a:ext cx="3246120" cy="0"/>
          </a:xfrm>
          <a:prstGeom prst="line">
            <a:avLst/>
          </a:prstGeom>
          <a:noFill/>
          <a:ln w="12700">
            <a:solidFill>
              <a:srgbClr val="DEE3E7"/>
            </a:solidFill>
            <a:prstDash val="solid"/>
          </a:ln>
        </p:spPr>
      </p:sp>
      <p:sp>
        <p:nvSpPr>
          <p:cNvPr id="17" name="Text 14"/>
          <p:cNvSpPr/>
          <p:nvPr/>
        </p:nvSpPr>
        <p:spPr>
          <a:xfrm>
            <a:off x="8092440" y="3877056"/>
            <a:ext cx="3246120" cy="274320"/>
          </a:xfrm>
          <a:prstGeom prst="rect">
            <a:avLst/>
          </a:prstGeom>
          <a:noFill/>
          <a:ln/>
        </p:spPr>
        <p:txBody>
          <a:bodyPr wrap="square" lIns="0" tIns="0" rIns="0" bIns="0" rtlCol="0" anchor="ctr"/>
          <a:lstStyle/>
          <a:p>
            <a:pPr indent="0" marL="0">
              <a:buNone/>
            </a:pPr>
            <a:r>
              <a:rPr lang="en-US" sz="1150" b="1" spc="120" kern="0" dirty="0">
                <a:solidFill>
                  <a:srgbClr val="1F8A97"/>
                </a:solidFill>
                <a:latin typeface="Arial" pitchFamily="34" charset="0"/>
                <a:ea typeface="Arial" pitchFamily="34" charset="-122"/>
                <a:cs typeface="Arial" pitchFamily="34" charset="-120"/>
              </a:rPr>
              <a:t>PRE-REGISTRATION</a:t>
            </a:r>
            <a:endParaRPr lang="en-US" sz="1150" dirty="0"/>
          </a:p>
        </p:txBody>
      </p:sp>
      <p:sp>
        <p:nvSpPr>
          <p:cNvPr id="18" name="Text 15"/>
          <p:cNvSpPr/>
          <p:nvPr/>
        </p:nvSpPr>
        <p:spPr>
          <a:xfrm>
            <a:off x="8092440" y="4169664"/>
            <a:ext cx="3246120" cy="502920"/>
          </a:xfrm>
          <a:prstGeom prst="rect">
            <a:avLst/>
          </a:prstGeom>
          <a:noFill/>
          <a:ln/>
        </p:spPr>
        <p:txBody>
          <a:bodyPr wrap="square" lIns="0" tIns="0" rIns="0" bIns="0" rtlCol="0" anchor="ctr"/>
          <a:lstStyle/>
          <a:p>
            <a:pPr indent="0" marL="0">
              <a:lnSpc>
                <a:spcPct val="120000"/>
              </a:lnSpc>
              <a:buNone/>
            </a:pPr>
            <a:r>
              <a:rPr lang="en-US" sz="1350" dirty="0">
                <a:solidFill>
                  <a:srgbClr val="2B2E33"/>
                </a:solidFill>
                <a:latin typeface="Arial" pitchFamily="34" charset="0"/>
                <a:ea typeface="Arial" pitchFamily="34" charset="-122"/>
                <a:cs typeface="Arial" pitchFamily="34" charset="-120"/>
              </a:rPr>
              <a:t>PROSPERO CRD42022379444, conducted per PRISMA 2020.</a:t>
            </a:r>
            <a:endParaRPr lang="en-US" sz="1350" dirty="0"/>
          </a:p>
        </p:txBody>
      </p:sp>
      <p:sp>
        <p:nvSpPr>
          <p:cNvPr id="19" name="Shape 16"/>
          <p:cNvSpPr/>
          <p:nvPr/>
        </p:nvSpPr>
        <p:spPr>
          <a:xfrm>
            <a:off x="8092440" y="4754880"/>
            <a:ext cx="3246120" cy="0"/>
          </a:xfrm>
          <a:prstGeom prst="line">
            <a:avLst/>
          </a:prstGeom>
          <a:noFill/>
          <a:ln w="12700">
            <a:solidFill>
              <a:srgbClr val="DEE3E7"/>
            </a:solidFill>
            <a:prstDash val="solid"/>
          </a:ln>
        </p:spPr>
      </p:sp>
      <p:sp>
        <p:nvSpPr>
          <p:cNvPr id="20" name="Text 17"/>
          <p:cNvSpPr/>
          <p:nvPr/>
        </p:nvSpPr>
        <p:spPr>
          <a:xfrm>
            <a:off x="8092440" y="4864608"/>
            <a:ext cx="3246120" cy="274320"/>
          </a:xfrm>
          <a:prstGeom prst="rect">
            <a:avLst/>
          </a:prstGeom>
          <a:noFill/>
          <a:ln/>
        </p:spPr>
        <p:txBody>
          <a:bodyPr wrap="square" lIns="0" tIns="0" rIns="0" bIns="0" rtlCol="0" anchor="ctr"/>
          <a:lstStyle/>
          <a:p>
            <a:pPr indent="0" marL="0">
              <a:buNone/>
            </a:pPr>
            <a:r>
              <a:rPr lang="en-US" sz="1150" b="1" spc="120" kern="0" dirty="0">
                <a:solidFill>
                  <a:srgbClr val="1F8A97"/>
                </a:solidFill>
                <a:latin typeface="Arial" pitchFamily="34" charset="0"/>
                <a:ea typeface="Arial" pitchFamily="34" charset="-122"/>
                <a:cs typeface="Arial" pitchFamily="34" charset="-120"/>
              </a:rPr>
              <a:t>AUTHORS</a:t>
            </a:r>
            <a:endParaRPr lang="en-US" sz="1150" dirty="0"/>
          </a:p>
        </p:txBody>
      </p:sp>
      <p:sp>
        <p:nvSpPr>
          <p:cNvPr id="21" name="Text 18"/>
          <p:cNvSpPr/>
          <p:nvPr/>
        </p:nvSpPr>
        <p:spPr>
          <a:xfrm>
            <a:off x="8092440" y="5157216"/>
            <a:ext cx="3246120" cy="731520"/>
          </a:xfrm>
          <a:prstGeom prst="rect">
            <a:avLst/>
          </a:prstGeom>
          <a:noFill/>
          <a:ln/>
        </p:spPr>
        <p:txBody>
          <a:bodyPr wrap="square" lIns="0" tIns="0" rIns="0" bIns="0" rtlCol="0" anchor="ctr"/>
          <a:lstStyle/>
          <a:p>
            <a:pPr indent="0" marL="0">
              <a:lnSpc>
                <a:spcPct val="115000"/>
              </a:lnSpc>
              <a:buNone/>
            </a:pPr>
            <a:r>
              <a:rPr lang="en-US" sz="1200" dirty="0">
                <a:solidFill>
                  <a:srgbClr val="2B2E33"/>
                </a:solidFill>
                <a:latin typeface="Arial" pitchFamily="34" charset="0"/>
                <a:ea typeface="Arial" pitchFamily="34" charset="-122"/>
                <a:cs typeface="Arial" pitchFamily="34" charset="-120"/>
              </a:rPr>
              <a:t>Reis, Fukuoka, Nagay, Pannuti, Spin-Neto, Silva — University of São Paulo, Aarhus University</a:t>
            </a:r>
            <a:endParaRPr lang="en-US" sz="1200" dirty="0"/>
          </a:p>
        </p:txBody>
      </p:sp>
      <p:sp>
        <p:nvSpPr>
          <p:cNvPr id="22" name="Text 19"/>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23" name="Text 20"/>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METHODS</a:t>
            </a:r>
            <a:endParaRPr lang="en-US" sz="1300" dirty="0"/>
          </a:p>
        </p:txBody>
      </p:sp>
      <p:sp>
        <p:nvSpPr>
          <p:cNvPr id="3" name="Text 1"/>
          <p:cNvSpPr/>
          <p:nvPr/>
        </p:nvSpPr>
        <p:spPr>
          <a:xfrm>
            <a:off x="566928" y="731520"/>
            <a:ext cx="11057839" cy="91440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Only Head-to-Head Randomized Trials Qualified</a:t>
            </a:r>
            <a:endParaRPr lang="en-US" sz="3200" dirty="0"/>
          </a:p>
        </p:txBody>
      </p:sp>
      <p:sp>
        <p:nvSpPr>
          <p:cNvPr id="4" name="Text 2"/>
          <p:cNvSpPr/>
          <p:nvPr/>
        </p:nvSpPr>
        <p:spPr>
          <a:xfrm>
            <a:off x="566928" y="1783080"/>
            <a:ext cx="5254600" cy="292608"/>
          </a:xfrm>
          <a:prstGeom prst="rect">
            <a:avLst/>
          </a:prstGeom>
          <a:noFill/>
          <a:ln/>
        </p:spPr>
        <p:txBody>
          <a:bodyPr wrap="square" lIns="0" tIns="0" rIns="0" bIns="0" rtlCol="0" anchor="ctr"/>
          <a:lstStyle/>
          <a:p>
            <a:pPr indent="0" marL="0">
              <a:buNone/>
            </a:pPr>
            <a:r>
              <a:rPr lang="en-US" sz="1300" b="1" spc="150" kern="0" dirty="0">
                <a:solidFill>
                  <a:srgbClr val="1F8A97"/>
                </a:solidFill>
                <a:latin typeface="Arial" pitchFamily="34" charset="0"/>
                <a:ea typeface="Arial" pitchFamily="34" charset="-122"/>
                <a:cs typeface="Arial" pitchFamily="34" charset="-120"/>
              </a:rPr>
              <a:t>ELIGIBILITY CRITERIA</a:t>
            </a:r>
            <a:endParaRPr lang="en-US" sz="1300" dirty="0"/>
          </a:p>
        </p:txBody>
      </p:sp>
      <p:sp>
        <p:nvSpPr>
          <p:cNvPr id="5" name="Text 3"/>
          <p:cNvSpPr/>
          <p:nvPr/>
        </p:nvSpPr>
        <p:spPr>
          <a:xfrm>
            <a:off x="566928" y="2167128"/>
            <a:ext cx="5254600" cy="384048"/>
          </a:xfrm>
          <a:prstGeom prst="rect">
            <a:avLst/>
          </a:prstGeom>
          <a:noFill/>
          <a:ln/>
        </p:spPr>
        <p:txBody>
          <a:bodyPr wrap="square" lIns="0" tIns="0" rIns="0" bIns="0" rtlCol="0" anchor="ctr"/>
          <a:lstStyle/>
          <a:p>
            <a:pPr indent="0" marL="0">
              <a:lnSpc>
                <a:spcPct val="110000"/>
              </a:lnSpc>
              <a:buNone/>
            </a:pPr>
            <a:r>
              <a:rPr lang="en-US" sz="1450" dirty="0">
                <a:solidFill>
                  <a:srgbClr val="2B2E33"/>
                </a:solidFill>
                <a:latin typeface="Arial" pitchFamily="34" charset="0"/>
                <a:ea typeface="Arial" pitchFamily="34" charset="-122"/>
                <a:cs typeface="Arial" pitchFamily="34" charset="-120"/>
              </a:rPr>
              <a:t>•  Randomized controlled trials, any language</a:t>
            </a:r>
            <a:endParaRPr lang="en-US" sz="1450" dirty="0"/>
          </a:p>
        </p:txBody>
      </p:sp>
      <p:sp>
        <p:nvSpPr>
          <p:cNvPr id="6" name="Text 4"/>
          <p:cNvSpPr/>
          <p:nvPr/>
        </p:nvSpPr>
        <p:spPr>
          <a:xfrm>
            <a:off x="566928" y="2606040"/>
            <a:ext cx="5254600" cy="384048"/>
          </a:xfrm>
          <a:prstGeom prst="rect">
            <a:avLst/>
          </a:prstGeom>
          <a:noFill/>
          <a:ln/>
        </p:spPr>
        <p:txBody>
          <a:bodyPr wrap="square" lIns="0" tIns="0" rIns="0" bIns="0" rtlCol="0" anchor="ctr"/>
          <a:lstStyle/>
          <a:p>
            <a:pPr indent="0" marL="0">
              <a:lnSpc>
                <a:spcPct val="110000"/>
              </a:lnSpc>
              <a:buNone/>
            </a:pPr>
            <a:r>
              <a:rPr lang="en-US" sz="1450" dirty="0">
                <a:solidFill>
                  <a:srgbClr val="2B2E33"/>
                </a:solidFill>
                <a:latin typeface="Arial" pitchFamily="34" charset="0"/>
                <a:ea typeface="Arial" pitchFamily="34" charset="-122"/>
                <a:cs typeface="Arial" pitchFamily="34" charset="-120"/>
              </a:rPr>
              <a:t>•  Participants aged 18 years or older</a:t>
            </a:r>
            <a:endParaRPr lang="en-US" sz="1450" dirty="0"/>
          </a:p>
        </p:txBody>
      </p:sp>
      <p:sp>
        <p:nvSpPr>
          <p:cNvPr id="7" name="Text 5"/>
          <p:cNvSpPr/>
          <p:nvPr/>
        </p:nvSpPr>
        <p:spPr>
          <a:xfrm>
            <a:off x="566928" y="3044952"/>
            <a:ext cx="5254600" cy="384048"/>
          </a:xfrm>
          <a:prstGeom prst="rect">
            <a:avLst/>
          </a:prstGeom>
          <a:noFill/>
          <a:ln/>
        </p:spPr>
        <p:txBody>
          <a:bodyPr wrap="square" lIns="0" tIns="0" rIns="0" bIns="0" rtlCol="0" anchor="ctr"/>
          <a:lstStyle/>
          <a:p>
            <a:pPr indent="0" marL="0">
              <a:lnSpc>
                <a:spcPct val="110000"/>
              </a:lnSpc>
              <a:buNone/>
            </a:pPr>
            <a:r>
              <a:rPr lang="en-US" sz="1450" dirty="0">
                <a:solidFill>
                  <a:srgbClr val="2B2E33"/>
                </a:solidFill>
                <a:latin typeface="Arial" pitchFamily="34" charset="0"/>
                <a:ea typeface="Arial" pitchFamily="34" charset="-122"/>
                <a:cs typeface="Arial" pitchFamily="34" charset="-120"/>
              </a:rPr>
              <a:t>•  Peri-implant disease incidence categorized</a:t>
            </a:r>
            <a:endParaRPr lang="en-US" sz="1450" dirty="0"/>
          </a:p>
        </p:txBody>
      </p:sp>
      <p:sp>
        <p:nvSpPr>
          <p:cNvPr id="8" name="Text 6"/>
          <p:cNvSpPr/>
          <p:nvPr/>
        </p:nvSpPr>
        <p:spPr>
          <a:xfrm>
            <a:off x="566928" y="3483864"/>
            <a:ext cx="5254600" cy="384048"/>
          </a:xfrm>
          <a:prstGeom prst="rect">
            <a:avLst/>
          </a:prstGeom>
          <a:noFill/>
          <a:ln/>
        </p:spPr>
        <p:txBody>
          <a:bodyPr wrap="square" lIns="0" tIns="0" rIns="0" bIns="0" rtlCol="0" anchor="ctr"/>
          <a:lstStyle/>
          <a:p>
            <a:pPr indent="0" marL="0">
              <a:lnSpc>
                <a:spcPct val="110000"/>
              </a:lnSpc>
              <a:buNone/>
            </a:pPr>
            <a:r>
              <a:rPr lang="en-US" sz="1450" dirty="0">
                <a:solidFill>
                  <a:srgbClr val="2B2E33"/>
                </a:solidFill>
                <a:latin typeface="Arial" pitchFamily="34" charset="0"/>
                <a:ea typeface="Arial" pitchFamily="34" charset="-122"/>
                <a:cs typeface="Arial" pitchFamily="34" charset="-120"/>
              </a:rPr>
              <a:t>•  Data reported separately for cement- vs screw-retained groups</a:t>
            </a:r>
            <a:endParaRPr lang="en-US" sz="1450" dirty="0"/>
          </a:p>
        </p:txBody>
      </p:sp>
      <p:sp>
        <p:nvSpPr>
          <p:cNvPr id="9" name="Text 7"/>
          <p:cNvSpPr/>
          <p:nvPr/>
        </p:nvSpPr>
        <p:spPr>
          <a:xfrm>
            <a:off x="566928" y="4032504"/>
            <a:ext cx="5254600" cy="1051560"/>
          </a:xfrm>
          <a:prstGeom prst="rect">
            <a:avLst/>
          </a:prstGeom>
          <a:noFill/>
          <a:ln/>
        </p:spPr>
        <p:txBody>
          <a:bodyPr wrap="square" lIns="0" tIns="0" rIns="0" bIns="0" rtlCol="0" anchor="ctr"/>
          <a:lstStyle/>
          <a:p>
            <a:pPr indent="0" marL="0">
              <a:lnSpc>
                <a:spcPct val="120000"/>
              </a:lnSpc>
              <a:buNone/>
            </a:pPr>
            <a:r>
              <a:rPr lang="en-US" sz="1300" b="1" i="1" dirty="0">
                <a:solidFill>
                  <a:srgbClr val="0B2A4A"/>
                </a:solidFill>
                <a:latin typeface="Arial" pitchFamily="34" charset="0"/>
                <a:ea typeface="Arial" pitchFamily="34" charset="-122"/>
                <a:cs typeface="Arial" pitchFamily="34" charset="-120"/>
              </a:rPr>
              <a:t>Excluded: </a:t>
            </a:r>
            <a:pPr indent="0" marL="0">
              <a:lnSpc>
                <a:spcPct val="120000"/>
              </a:lnSpc>
              <a:buNone/>
            </a:pPr>
            <a:r>
              <a:rPr lang="en-US" sz="1300" i="1" dirty="0">
                <a:solidFill>
                  <a:srgbClr val="5B6570"/>
                </a:solidFill>
                <a:latin typeface="Arial" pitchFamily="34" charset="0"/>
                <a:ea typeface="Arial" pitchFamily="34" charset="-122"/>
                <a:cs typeface="Arial" pitchFamily="34" charset="-120"/>
              </a:rPr>
              <a:t>no disease classification, no incidence data by retention type, non-RCTs, or duplicate reports with shorter follow-up (16 full-text articles excluded for these reasons).</a:t>
            </a:r>
            <a:endParaRPr lang="en-US" sz="1300" dirty="0"/>
          </a:p>
        </p:txBody>
      </p:sp>
      <p:sp>
        <p:nvSpPr>
          <p:cNvPr id="10" name="Text 8"/>
          <p:cNvSpPr/>
          <p:nvPr/>
        </p:nvSpPr>
        <p:spPr>
          <a:xfrm>
            <a:off x="6370168" y="1783080"/>
            <a:ext cx="5254600" cy="292608"/>
          </a:xfrm>
          <a:prstGeom prst="rect">
            <a:avLst/>
          </a:prstGeom>
          <a:noFill/>
          <a:ln/>
        </p:spPr>
        <p:txBody>
          <a:bodyPr wrap="square" lIns="0" tIns="0" rIns="0" bIns="0" rtlCol="0" anchor="ctr"/>
          <a:lstStyle/>
          <a:p>
            <a:pPr indent="0" marL="0">
              <a:buNone/>
            </a:pPr>
            <a:r>
              <a:rPr lang="en-US" sz="1300" b="1" spc="150" kern="0" dirty="0">
                <a:solidFill>
                  <a:srgbClr val="1F8A97"/>
                </a:solidFill>
                <a:latin typeface="Arial" pitchFamily="34" charset="0"/>
                <a:ea typeface="Arial" pitchFamily="34" charset="-122"/>
                <a:cs typeface="Arial" pitchFamily="34" charset="-120"/>
              </a:rPr>
              <a:t>SEARCH &amp; SELECTION</a:t>
            </a:r>
            <a:endParaRPr lang="en-US" sz="1300" dirty="0"/>
          </a:p>
        </p:txBody>
      </p:sp>
      <p:sp>
        <p:nvSpPr>
          <p:cNvPr id="11" name="Text 9"/>
          <p:cNvSpPr/>
          <p:nvPr/>
        </p:nvSpPr>
        <p:spPr>
          <a:xfrm>
            <a:off x="6370168" y="2167128"/>
            <a:ext cx="5254600" cy="731520"/>
          </a:xfrm>
          <a:prstGeom prst="rect">
            <a:avLst/>
          </a:prstGeom>
          <a:noFill/>
          <a:ln/>
        </p:spPr>
        <p:txBody>
          <a:bodyPr wrap="square" lIns="0" tIns="0" rIns="0" bIns="0" rtlCol="0" anchor="ctr"/>
          <a:lstStyle/>
          <a:p>
            <a:pPr indent="0" marL="0">
              <a:lnSpc>
                <a:spcPct val="110000"/>
              </a:lnSpc>
              <a:buNone/>
            </a:pPr>
            <a:r>
              <a:rPr lang="en-US" sz="1450" dirty="0">
                <a:solidFill>
                  <a:srgbClr val="2B2E33"/>
                </a:solidFill>
                <a:latin typeface="Arial" pitchFamily="34" charset="0"/>
                <a:ea typeface="Arial" pitchFamily="34" charset="-122"/>
                <a:cs typeface="Arial" pitchFamily="34" charset="-120"/>
              </a:rPr>
              <a:t>•  Databases: MEDLINE/PubMed, Embase, Scopus, Web of Science (through January 2023)</a:t>
            </a:r>
            <a:endParaRPr lang="en-US" sz="1450" dirty="0"/>
          </a:p>
        </p:txBody>
      </p:sp>
      <p:sp>
        <p:nvSpPr>
          <p:cNvPr id="12" name="Text 10"/>
          <p:cNvSpPr/>
          <p:nvPr/>
        </p:nvSpPr>
        <p:spPr>
          <a:xfrm>
            <a:off x="6370168" y="2971800"/>
            <a:ext cx="5254600" cy="731520"/>
          </a:xfrm>
          <a:prstGeom prst="rect">
            <a:avLst/>
          </a:prstGeom>
          <a:noFill/>
          <a:ln/>
        </p:spPr>
        <p:txBody>
          <a:bodyPr wrap="square" lIns="0" tIns="0" rIns="0" bIns="0" rtlCol="0" anchor="ctr"/>
          <a:lstStyle/>
          <a:p>
            <a:pPr indent="0" marL="0">
              <a:lnSpc>
                <a:spcPct val="110000"/>
              </a:lnSpc>
              <a:buNone/>
            </a:pPr>
            <a:r>
              <a:rPr lang="en-US" sz="1450" dirty="0">
                <a:solidFill>
                  <a:srgbClr val="2B2E33"/>
                </a:solidFill>
                <a:latin typeface="Arial" pitchFamily="34" charset="0"/>
                <a:ea typeface="Arial" pitchFamily="34" charset="-122"/>
                <a:cs typeface="Arial" pitchFamily="34" charset="-120"/>
              </a:rPr>
              <a:t>•  Grey literature: OpenGrey, Grey Literature Report, plus hand-searched reference lists</a:t>
            </a:r>
            <a:endParaRPr lang="en-US" sz="1450" dirty="0"/>
          </a:p>
        </p:txBody>
      </p:sp>
      <p:sp>
        <p:nvSpPr>
          <p:cNvPr id="13" name="Text 11"/>
          <p:cNvSpPr/>
          <p:nvPr/>
        </p:nvSpPr>
        <p:spPr>
          <a:xfrm>
            <a:off x="6370168" y="3776472"/>
            <a:ext cx="5254600" cy="950976"/>
          </a:xfrm>
          <a:prstGeom prst="rect">
            <a:avLst/>
          </a:prstGeom>
          <a:noFill/>
          <a:ln/>
        </p:spPr>
        <p:txBody>
          <a:bodyPr wrap="square" lIns="0" tIns="0" rIns="0" bIns="0" rtlCol="0" anchor="ctr"/>
          <a:lstStyle/>
          <a:p>
            <a:pPr indent="0" marL="0">
              <a:lnSpc>
                <a:spcPct val="110000"/>
              </a:lnSpc>
              <a:buNone/>
            </a:pPr>
            <a:r>
              <a:rPr lang="en-US" sz="1450" dirty="0">
                <a:solidFill>
                  <a:srgbClr val="2B2E33"/>
                </a:solidFill>
                <a:latin typeface="Arial" pitchFamily="34" charset="0"/>
                <a:ea typeface="Arial" pitchFamily="34" charset="-122"/>
                <a:cs typeface="Arial" pitchFamily="34" charset="-120"/>
              </a:rPr>
              <a:t>•  2 independent reviewers screened titles/abstracts (κ = 0.86) and full texts (κ = 0.90); a 3rd reviewer arbitrated disagreements</a:t>
            </a:r>
            <a:endParaRPr lang="en-US" sz="1450" dirty="0"/>
          </a:p>
        </p:txBody>
      </p:sp>
      <p:sp>
        <p:nvSpPr>
          <p:cNvPr id="14" name="Text 12"/>
          <p:cNvSpPr/>
          <p:nvPr/>
        </p:nvSpPr>
        <p:spPr>
          <a:xfrm>
            <a:off x="6370168" y="4800600"/>
            <a:ext cx="5254600" cy="731520"/>
          </a:xfrm>
          <a:prstGeom prst="rect">
            <a:avLst/>
          </a:prstGeom>
          <a:noFill/>
          <a:ln/>
        </p:spPr>
        <p:txBody>
          <a:bodyPr wrap="square" lIns="0" tIns="0" rIns="0" bIns="0" rtlCol="0" anchor="ctr"/>
          <a:lstStyle/>
          <a:p>
            <a:pPr indent="0" marL="0">
              <a:lnSpc>
                <a:spcPct val="110000"/>
              </a:lnSpc>
              <a:buNone/>
            </a:pPr>
            <a:r>
              <a:rPr lang="en-US" sz="1450" dirty="0">
                <a:solidFill>
                  <a:srgbClr val="2B2E33"/>
                </a:solidFill>
                <a:latin typeface="Arial" pitchFamily="34" charset="0"/>
                <a:ea typeface="Arial" pitchFamily="34" charset="-122"/>
                <a:cs typeface="Arial" pitchFamily="34" charset="-120"/>
              </a:rPr>
              <a:t>•  Quality appraisal with RoB 2; random-effects meta-analysis; certainty rated with GRADE</a:t>
            </a:r>
            <a:endParaRPr lang="en-US" sz="1450" dirty="0"/>
          </a:p>
        </p:txBody>
      </p:sp>
      <p:sp>
        <p:nvSpPr>
          <p:cNvPr id="15" name="Text 13"/>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16" name="Text 14"/>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4</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STUDY SELECTION</a:t>
            </a:r>
            <a:endParaRPr lang="en-US" sz="1300" dirty="0"/>
          </a:p>
        </p:txBody>
      </p:sp>
      <p:sp>
        <p:nvSpPr>
          <p:cNvPr id="3" name="Text 1"/>
          <p:cNvSpPr/>
          <p:nvPr/>
        </p:nvSpPr>
        <p:spPr>
          <a:xfrm>
            <a:off x="566928" y="731520"/>
            <a:ext cx="11057839" cy="118872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From 5,693 Records to Six Trials That Answered the Question</a:t>
            </a:r>
            <a:endParaRPr lang="en-US" sz="3200" dirty="0"/>
          </a:p>
        </p:txBody>
      </p:sp>
      <p:pic>
        <p:nvPicPr>
          <p:cNvPr id="4" name="Image 0" descr="/tmp/claude-0/-home-user-project/d97f94cc-3bb8-5ef5-a091-9ffd884b42b2/scratchpad/fig/prisma.png">    </p:cNvPr>
          <p:cNvPicPr>
            <a:picLocks noChangeAspect="1"/>
          </p:cNvPicPr>
          <p:nvPr/>
        </p:nvPicPr>
        <p:blipFill>
          <a:blip r:embed="rId1"/>
          <a:stretch>
            <a:fillRect/>
          </a:stretch>
        </p:blipFill>
        <p:spPr>
          <a:xfrm>
            <a:off x="566928" y="1965960"/>
            <a:ext cx="5493407" cy="3886200"/>
          </a:xfrm>
          <a:prstGeom prst="rect">
            <a:avLst/>
          </a:prstGeom>
          <a:effectLst>
            <a:outerShdw sx="100000" sy="100000" kx="0" ky="0" algn="bl" rotWithShape="0" blurRad="101600" dist="38100" dir="5400000">
              <a:srgbClr val="0B2A4A">
                <a:alpha val="18000"/>
              </a:srgbClr>
            </a:outerShdw>
          </a:effectLst>
        </p:spPr>
      </p:pic>
      <p:sp>
        <p:nvSpPr>
          <p:cNvPr id="5" name="Text 2"/>
          <p:cNvSpPr/>
          <p:nvPr/>
        </p:nvSpPr>
        <p:spPr>
          <a:xfrm>
            <a:off x="566928" y="5925312"/>
            <a:ext cx="5493407" cy="274320"/>
          </a:xfrm>
          <a:prstGeom prst="rect">
            <a:avLst/>
          </a:prstGeom>
          <a:noFill/>
          <a:ln/>
        </p:spPr>
        <p:txBody>
          <a:bodyPr wrap="square" lIns="0" tIns="0" rIns="0" bIns="0" rtlCol="0" anchor="ctr"/>
          <a:lstStyle/>
          <a:p>
            <a:pPr indent="0" marL="0">
              <a:buNone/>
            </a:pPr>
            <a:r>
              <a:rPr lang="en-US" sz="1050" i="1" dirty="0">
                <a:solidFill>
                  <a:srgbClr val="5B6570"/>
                </a:solidFill>
                <a:latin typeface="Arial" pitchFamily="34" charset="0"/>
                <a:ea typeface="Arial" pitchFamily="34" charset="-122"/>
                <a:cs typeface="Arial" pitchFamily="34" charset="-120"/>
              </a:rPr>
              <a:t>Figure reproduced from Reis et al., Figure 1 (PRISMA 2020 flow diagram).</a:t>
            </a:r>
            <a:endParaRPr lang="en-US" sz="1050" dirty="0"/>
          </a:p>
        </p:txBody>
      </p:sp>
      <p:sp>
        <p:nvSpPr>
          <p:cNvPr id="6" name="Text 3"/>
          <p:cNvSpPr/>
          <p:nvPr/>
        </p:nvSpPr>
        <p:spPr>
          <a:xfrm>
            <a:off x="6426095" y="2011680"/>
            <a:ext cx="5198672" cy="502920"/>
          </a:xfrm>
          <a:prstGeom prst="rect">
            <a:avLst/>
          </a:prstGeom>
          <a:noFill/>
          <a:ln/>
        </p:spPr>
        <p:txBody>
          <a:bodyPr wrap="square" lIns="0" tIns="0" rIns="0" bIns="0" rtlCol="0" anchor="ctr"/>
          <a:lstStyle/>
          <a:p>
            <a:pPr indent="0" marL="0">
              <a:buNone/>
            </a:pPr>
            <a:r>
              <a:rPr lang="en-US" sz="2600" b="1" dirty="0">
                <a:solidFill>
                  <a:srgbClr val="0B2A4A"/>
                </a:solidFill>
                <a:latin typeface="Georgia" pitchFamily="34" charset="0"/>
                <a:ea typeface="Georgia" pitchFamily="34" charset="-122"/>
                <a:cs typeface="Georgia" pitchFamily="34" charset="-120"/>
              </a:rPr>
              <a:t>5,693</a:t>
            </a:r>
            <a:endParaRPr lang="en-US" sz="2600" dirty="0"/>
          </a:p>
        </p:txBody>
      </p:sp>
      <p:sp>
        <p:nvSpPr>
          <p:cNvPr id="7" name="Text 4"/>
          <p:cNvSpPr/>
          <p:nvPr/>
        </p:nvSpPr>
        <p:spPr>
          <a:xfrm>
            <a:off x="6426095" y="2487168"/>
            <a:ext cx="5198672" cy="365760"/>
          </a:xfrm>
          <a:prstGeom prst="rect">
            <a:avLst/>
          </a:prstGeom>
          <a:noFill/>
          <a:ln/>
        </p:spPr>
        <p:txBody>
          <a:bodyPr wrap="square" lIns="0" tIns="0" rIns="0" bIns="0" rtlCol="0" anchor="ctr"/>
          <a:lstStyle/>
          <a:p>
            <a:pPr indent="0" marL="0">
              <a:lnSpc>
                <a:spcPct val="105000"/>
              </a:lnSpc>
              <a:buNone/>
            </a:pPr>
            <a:r>
              <a:rPr lang="en-US" sz="1100" b="1" spc="100" kern="0" dirty="0">
                <a:solidFill>
                  <a:srgbClr val="5B6570"/>
                </a:solidFill>
                <a:latin typeface="Arial" pitchFamily="34" charset="0"/>
                <a:ea typeface="Arial" pitchFamily="34" charset="-122"/>
                <a:cs typeface="Arial" pitchFamily="34" charset="-120"/>
              </a:rPr>
              <a:t>RECORDS IDENTIFIED</a:t>
            </a:r>
            <a:endParaRPr lang="en-US" sz="1100" dirty="0"/>
          </a:p>
        </p:txBody>
      </p:sp>
      <p:sp>
        <p:nvSpPr>
          <p:cNvPr id="8" name="Text 5"/>
          <p:cNvSpPr/>
          <p:nvPr/>
        </p:nvSpPr>
        <p:spPr>
          <a:xfrm>
            <a:off x="6426095" y="2944368"/>
            <a:ext cx="5198672" cy="502920"/>
          </a:xfrm>
          <a:prstGeom prst="rect">
            <a:avLst/>
          </a:prstGeom>
          <a:noFill/>
          <a:ln/>
        </p:spPr>
        <p:txBody>
          <a:bodyPr wrap="square" lIns="0" tIns="0" rIns="0" bIns="0" rtlCol="0" anchor="ctr"/>
          <a:lstStyle/>
          <a:p>
            <a:pPr indent="0" marL="0">
              <a:buNone/>
            </a:pPr>
            <a:r>
              <a:rPr lang="en-US" sz="2600" b="1" dirty="0">
                <a:solidFill>
                  <a:srgbClr val="0B2A4A"/>
                </a:solidFill>
                <a:latin typeface="Georgia" pitchFamily="34" charset="0"/>
                <a:ea typeface="Georgia" pitchFamily="34" charset="-122"/>
                <a:cs typeface="Georgia" pitchFamily="34" charset="-120"/>
              </a:rPr>
              <a:t>4,455</a:t>
            </a:r>
            <a:endParaRPr lang="en-US" sz="2600" dirty="0"/>
          </a:p>
        </p:txBody>
      </p:sp>
      <p:sp>
        <p:nvSpPr>
          <p:cNvPr id="9" name="Text 6"/>
          <p:cNvSpPr/>
          <p:nvPr/>
        </p:nvSpPr>
        <p:spPr>
          <a:xfrm>
            <a:off x="6426095" y="3419856"/>
            <a:ext cx="5198672" cy="365760"/>
          </a:xfrm>
          <a:prstGeom prst="rect">
            <a:avLst/>
          </a:prstGeom>
          <a:noFill/>
          <a:ln/>
        </p:spPr>
        <p:txBody>
          <a:bodyPr wrap="square" lIns="0" tIns="0" rIns="0" bIns="0" rtlCol="0" anchor="ctr"/>
          <a:lstStyle/>
          <a:p>
            <a:pPr indent="0" marL="0">
              <a:lnSpc>
                <a:spcPct val="105000"/>
              </a:lnSpc>
              <a:buNone/>
            </a:pPr>
            <a:r>
              <a:rPr lang="en-US" sz="1100" b="1" spc="100" kern="0" dirty="0">
                <a:solidFill>
                  <a:srgbClr val="5B6570"/>
                </a:solidFill>
                <a:latin typeface="Arial" pitchFamily="34" charset="0"/>
                <a:ea typeface="Arial" pitchFamily="34" charset="-122"/>
                <a:cs typeface="Arial" pitchFamily="34" charset="-120"/>
              </a:rPr>
              <a:t>SCREENED AFTER DUPLICATES REMOVED</a:t>
            </a:r>
            <a:endParaRPr lang="en-US" sz="1100" dirty="0"/>
          </a:p>
        </p:txBody>
      </p:sp>
      <p:sp>
        <p:nvSpPr>
          <p:cNvPr id="10" name="Text 7"/>
          <p:cNvSpPr/>
          <p:nvPr/>
        </p:nvSpPr>
        <p:spPr>
          <a:xfrm>
            <a:off x="6426095" y="3877056"/>
            <a:ext cx="5198672" cy="502920"/>
          </a:xfrm>
          <a:prstGeom prst="rect">
            <a:avLst/>
          </a:prstGeom>
          <a:noFill/>
          <a:ln/>
        </p:spPr>
        <p:txBody>
          <a:bodyPr wrap="square" lIns="0" tIns="0" rIns="0" bIns="0" rtlCol="0" anchor="ctr"/>
          <a:lstStyle/>
          <a:p>
            <a:pPr indent="0" marL="0">
              <a:buNone/>
            </a:pPr>
            <a:r>
              <a:rPr lang="en-US" sz="2600" b="1" dirty="0">
                <a:solidFill>
                  <a:srgbClr val="0B2A4A"/>
                </a:solidFill>
                <a:latin typeface="Georgia" pitchFamily="34" charset="0"/>
                <a:ea typeface="Georgia" pitchFamily="34" charset="-122"/>
                <a:cs typeface="Georgia" pitchFamily="34" charset="-120"/>
              </a:rPr>
              <a:t>22</a:t>
            </a:r>
            <a:endParaRPr lang="en-US" sz="2600" dirty="0"/>
          </a:p>
        </p:txBody>
      </p:sp>
      <p:sp>
        <p:nvSpPr>
          <p:cNvPr id="11" name="Text 8"/>
          <p:cNvSpPr/>
          <p:nvPr/>
        </p:nvSpPr>
        <p:spPr>
          <a:xfrm>
            <a:off x="6426095" y="4352544"/>
            <a:ext cx="5198672" cy="365760"/>
          </a:xfrm>
          <a:prstGeom prst="rect">
            <a:avLst/>
          </a:prstGeom>
          <a:noFill/>
          <a:ln/>
        </p:spPr>
        <p:txBody>
          <a:bodyPr wrap="square" lIns="0" tIns="0" rIns="0" bIns="0" rtlCol="0" anchor="ctr"/>
          <a:lstStyle/>
          <a:p>
            <a:pPr indent="0" marL="0">
              <a:lnSpc>
                <a:spcPct val="105000"/>
              </a:lnSpc>
              <a:buNone/>
            </a:pPr>
            <a:r>
              <a:rPr lang="en-US" sz="1100" b="1" spc="100" kern="0" dirty="0">
                <a:solidFill>
                  <a:srgbClr val="5B6570"/>
                </a:solidFill>
                <a:latin typeface="Arial" pitchFamily="34" charset="0"/>
                <a:ea typeface="Arial" pitchFamily="34" charset="-122"/>
                <a:cs typeface="Arial" pitchFamily="34" charset="-120"/>
              </a:rPr>
              <a:t>FULL TEXTS ASSESSED FOR ELIGIBILITY</a:t>
            </a:r>
            <a:endParaRPr lang="en-US" sz="1100" dirty="0"/>
          </a:p>
        </p:txBody>
      </p:sp>
      <p:sp>
        <p:nvSpPr>
          <p:cNvPr id="12" name="Text 9"/>
          <p:cNvSpPr/>
          <p:nvPr/>
        </p:nvSpPr>
        <p:spPr>
          <a:xfrm>
            <a:off x="6426095" y="4809744"/>
            <a:ext cx="5198672" cy="502920"/>
          </a:xfrm>
          <a:prstGeom prst="rect">
            <a:avLst/>
          </a:prstGeom>
          <a:noFill/>
          <a:ln/>
        </p:spPr>
        <p:txBody>
          <a:bodyPr wrap="square" lIns="0" tIns="0" rIns="0" bIns="0" rtlCol="0" anchor="ctr"/>
          <a:lstStyle/>
          <a:p>
            <a:pPr indent="0" marL="0">
              <a:buNone/>
            </a:pPr>
            <a:r>
              <a:rPr lang="en-US" sz="3400" b="1" dirty="0">
                <a:solidFill>
                  <a:srgbClr val="1F8A97"/>
                </a:solidFill>
                <a:latin typeface="Georgia" pitchFamily="34" charset="0"/>
                <a:ea typeface="Georgia" pitchFamily="34" charset="-122"/>
                <a:cs typeface="Georgia" pitchFamily="34" charset="-120"/>
              </a:rPr>
              <a:t>6</a:t>
            </a:r>
            <a:endParaRPr lang="en-US" sz="3400" dirty="0"/>
          </a:p>
        </p:txBody>
      </p:sp>
      <p:sp>
        <p:nvSpPr>
          <p:cNvPr id="13" name="Text 10"/>
          <p:cNvSpPr/>
          <p:nvPr/>
        </p:nvSpPr>
        <p:spPr>
          <a:xfrm>
            <a:off x="6426095" y="5285232"/>
            <a:ext cx="5198672" cy="365760"/>
          </a:xfrm>
          <a:prstGeom prst="rect">
            <a:avLst/>
          </a:prstGeom>
          <a:noFill/>
          <a:ln/>
        </p:spPr>
        <p:txBody>
          <a:bodyPr wrap="square" lIns="0" tIns="0" rIns="0" bIns="0" rtlCol="0" anchor="ctr"/>
          <a:lstStyle/>
          <a:p>
            <a:pPr indent="0" marL="0">
              <a:lnSpc>
                <a:spcPct val="105000"/>
              </a:lnSpc>
              <a:buNone/>
            </a:pPr>
            <a:r>
              <a:rPr lang="en-US" sz="1100" b="1" spc="100" kern="0" dirty="0">
                <a:solidFill>
                  <a:srgbClr val="5B6570"/>
                </a:solidFill>
                <a:latin typeface="Arial" pitchFamily="34" charset="0"/>
                <a:ea typeface="Arial" pitchFamily="34" charset="-122"/>
                <a:cs typeface="Arial" pitchFamily="34" charset="-120"/>
              </a:rPr>
              <a:t>RCTS INCLUDED IN THE REVIEW</a:t>
            </a:r>
            <a:endParaRPr lang="en-US" sz="1100" dirty="0"/>
          </a:p>
        </p:txBody>
      </p:sp>
      <p:sp>
        <p:nvSpPr>
          <p:cNvPr id="14" name="Text 11"/>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15" name="Text 12"/>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5</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THE EVIDENCE BASE</a:t>
            </a:r>
            <a:endParaRPr lang="en-US" sz="1300" dirty="0"/>
          </a:p>
        </p:txBody>
      </p:sp>
      <p:sp>
        <p:nvSpPr>
          <p:cNvPr id="3" name="Text 1"/>
          <p:cNvSpPr/>
          <p:nvPr/>
        </p:nvSpPr>
        <p:spPr>
          <a:xfrm>
            <a:off x="566928" y="731520"/>
            <a:ext cx="11057839" cy="91440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Six Small Trials, Single-Unit Crowns, Two to Ten Years of Follow-Up</a:t>
            </a:r>
            <a:endParaRPr lang="en-US" sz="3200" dirty="0"/>
          </a:p>
        </p:txBody>
      </p:sp>
      <p:sp>
        <p:nvSpPr>
          <p:cNvPr id="4" name="Text 2"/>
          <p:cNvSpPr/>
          <p:nvPr/>
        </p:nvSpPr>
        <p:spPr>
          <a:xfrm>
            <a:off x="566928" y="1993392"/>
            <a:ext cx="2581580" cy="548640"/>
          </a:xfrm>
          <a:prstGeom prst="rect">
            <a:avLst/>
          </a:prstGeom>
          <a:noFill/>
          <a:ln/>
        </p:spPr>
        <p:txBody>
          <a:bodyPr wrap="square" lIns="0" tIns="0" rIns="0" bIns="0" rtlCol="0" anchor="t"/>
          <a:lstStyle/>
          <a:p>
            <a:pPr indent="0" marL="0">
              <a:buNone/>
            </a:pPr>
            <a:r>
              <a:rPr lang="en-US" sz="3000" b="1" dirty="0">
                <a:solidFill>
                  <a:srgbClr val="0B2A4A"/>
                </a:solidFill>
                <a:latin typeface="Georgia" pitchFamily="34" charset="0"/>
                <a:ea typeface="Georgia" pitchFamily="34" charset="-122"/>
                <a:cs typeface="Georgia" pitchFamily="34" charset="-120"/>
              </a:rPr>
              <a:t>6</a:t>
            </a:r>
            <a:endParaRPr lang="en-US" sz="3000" dirty="0"/>
          </a:p>
        </p:txBody>
      </p:sp>
      <p:sp>
        <p:nvSpPr>
          <p:cNvPr id="5" name="Text 3"/>
          <p:cNvSpPr/>
          <p:nvPr/>
        </p:nvSpPr>
        <p:spPr>
          <a:xfrm>
            <a:off x="566928" y="2514600"/>
            <a:ext cx="2581580" cy="274320"/>
          </a:xfrm>
          <a:prstGeom prst="rect">
            <a:avLst/>
          </a:prstGeom>
          <a:noFill/>
          <a:ln/>
        </p:spPr>
        <p:txBody>
          <a:bodyPr wrap="square" lIns="0" tIns="0" rIns="0" bIns="0" rtlCol="0" anchor="t"/>
          <a:lstStyle/>
          <a:p>
            <a:pPr indent="0" marL="0">
              <a:buNone/>
            </a:pPr>
            <a:r>
              <a:rPr lang="en-US" sz="1150" b="1" spc="120" kern="0" dirty="0">
                <a:solidFill>
                  <a:srgbClr val="1F8A97"/>
                </a:solidFill>
                <a:latin typeface="Arial" pitchFamily="34" charset="0"/>
                <a:ea typeface="Arial" pitchFamily="34" charset="-122"/>
                <a:cs typeface="Arial" pitchFamily="34" charset="-120"/>
              </a:rPr>
              <a:t>RCTS</a:t>
            </a:r>
            <a:endParaRPr lang="en-US" sz="1150" dirty="0"/>
          </a:p>
        </p:txBody>
      </p:sp>
      <p:sp>
        <p:nvSpPr>
          <p:cNvPr id="6" name="Text 4"/>
          <p:cNvSpPr/>
          <p:nvPr/>
        </p:nvSpPr>
        <p:spPr>
          <a:xfrm>
            <a:off x="3331388" y="1993392"/>
            <a:ext cx="2581580" cy="548640"/>
          </a:xfrm>
          <a:prstGeom prst="rect">
            <a:avLst/>
          </a:prstGeom>
          <a:noFill/>
          <a:ln/>
        </p:spPr>
        <p:txBody>
          <a:bodyPr wrap="square" lIns="0" tIns="0" rIns="0" bIns="0" rtlCol="0" anchor="t"/>
          <a:lstStyle/>
          <a:p>
            <a:pPr indent="0" marL="0">
              <a:buNone/>
            </a:pPr>
            <a:r>
              <a:rPr lang="en-US" sz="3000" b="1" dirty="0">
                <a:solidFill>
                  <a:srgbClr val="0B2A4A"/>
                </a:solidFill>
                <a:latin typeface="Georgia" pitchFamily="34" charset="0"/>
                <a:ea typeface="Georgia" pitchFamily="34" charset="-122"/>
                <a:cs typeface="Georgia" pitchFamily="34" charset="-120"/>
              </a:rPr>
              <a:t>~255</a:t>
            </a:r>
            <a:endParaRPr lang="en-US" sz="3000" dirty="0"/>
          </a:p>
        </p:txBody>
      </p:sp>
      <p:sp>
        <p:nvSpPr>
          <p:cNvPr id="7" name="Text 5"/>
          <p:cNvSpPr/>
          <p:nvPr/>
        </p:nvSpPr>
        <p:spPr>
          <a:xfrm>
            <a:off x="3331388" y="2514600"/>
            <a:ext cx="2581580" cy="274320"/>
          </a:xfrm>
          <a:prstGeom prst="rect">
            <a:avLst/>
          </a:prstGeom>
          <a:noFill/>
          <a:ln/>
        </p:spPr>
        <p:txBody>
          <a:bodyPr wrap="square" lIns="0" tIns="0" rIns="0" bIns="0" rtlCol="0" anchor="t"/>
          <a:lstStyle/>
          <a:p>
            <a:pPr indent="0" marL="0">
              <a:buNone/>
            </a:pPr>
            <a:r>
              <a:rPr lang="en-US" sz="1150" b="1" spc="120" kern="0" dirty="0">
                <a:solidFill>
                  <a:srgbClr val="1F8A97"/>
                </a:solidFill>
                <a:latin typeface="Arial" pitchFamily="34" charset="0"/>
                <a:ea typeface="Arial" pitchFamily="34" charset="-122"/>
                <a:cs typeface="Arial" pitchFamily="34" charset="-120"/>
              </a:rPr>
              <a:t>PARTICIPANTS</a:t>
            </a:r>
            <a:endParaRPr lang="en-US" sz="1150" dirty="0"/>
          </a:p>
        </p:txBody>
      </p:sp>
      <p:sp>
        <p:nvSpPr>
          <p:cNvPr id="8" name="Text 6"/>
          <p:cNvSpPr/>
          <p:nvPr/>
        </p:nvSpPr>
        <p:spPr>
          <a:xfrm>
            <a:off x="6095848" y="1993392"/>
            <a:ext cx="2581580" cy="548640"/>
          </a:xfrm>
          <a:prstGeom prst="rect">
            <a:avLst/>
          </a:prstGeom>
          <a:noFill/>
          <a:ln/>
        </p:spPr>
        <p:txBody>
          <a:bodyPr wrap="square" lIns="0" tIns="0" rIns="0" bIns="0" rtlCol="0" anchor="t"/>
          <a:lstStyle/>
          <a:p>
            <a:pPr indent="0" marL="0">
              <a:buNone/>
            </a:pPr>
            <a:r>
              <a:rPr lang="en-US" sz="3000" b="1" dirty="0">
                <a:solidFill>
                  <a:srgbClr val="0B2A4A"/>
                </a:solidFill>
                <a:latin typeface="Georgia" pitchFamily="34" charset="0"/>
                <a:ea typeface="Georgia" pitchFamily="34" charset="-122"/>
                <a:cs typeface="Georgia" pitchFamily="34" charset="-120"/>
              </a:rPr>
              <a:t>279</a:t>
            </a:r>
            <a:endParaRPr lang="en-US" sz="3000" dirty="0"/>
          </a:p>
        </p:txBody>
      </p:sp>
      <p:sp>
        <p:nvSpPr>
          <p:cNvPr id="9" name="Text 7"/>
          <p:cNvSpPr/>
          <p:nvPr/>
        </p:nvSpPr>
        <p:spPr>
          <a:xfrm>
            <a:off x="6095848" y="2514600"/>
            <a:ext cx="2581580" cy="274320"/>
          </a:xfrm>
          <a:prstGeom prst="rect">
            <a:avLst/>
          </a:prstGeom>
          <a:noFill/>
          <a:ln/>
        </p:spPr>
        <p:txBody>
          <a:bodyPr wrap="square" lIns="0" tIns="0" rIns="0" bIns="0" rtlCol="0" anchor="t"/>
          <a:lstStyle/>
          <a:p>
            <a:pPr indent="0" marL="0">
              <a:buNone/>
            </a:pPr>
            <a:r>
              <a:rPr lang="en-US" sz="1150" b="1" spc="120" kern="0" dirty="0">
                <a:solidFill>
                  <a:srgbClr val="1F8A97"/>
                </a:solidFill>
                <a:latin typeface="Arial" pitchFamily="34" charset="0"/>
                <a:ea typeface="Arial" pitchFamily="34" charset="-122"/>
                <a:cs typeface="Arial" pitchFamily="34" charset="-120"/>
              </a:rPr>
              <a:t>IMPLANTS</a:t>
            </a:r>
            <a:endParaRPr lang="en-US" sz="1150" dirty="0"/>
          </a:p>
        </p:txBody>
      </p:sp>
      <p:sp>
        <p:nvSpPr>
          <p:cNvPr id="10" name="Text 8"/>
          <p:cNvSpPr/>
          <p:nvPr/>
        </p:nvSpPr>
        <p:spPr>
          <a:xfrm>
            <a:off x="8860307" y="1993392"/>
            <a:ext cx="2581580" cy="548640"/>
          </a:xfrm>
          <a:prstGeom prst="rect">
            <a:avLst/>
          </a:prstGeom>
          <a:noFill/>
          <a:ln/>
        </p:spPr>
        <p:txBody>
          <a:bodyPr wrap="square" lIns="0" tIns="0" rIns="0" bIns="0" rtlCol="0" anchor="t"/>
          <a:lstStyle/>
          <a:p>
            <a:pPr indent="0" marL="0">
              <a:buNone/>
            </a:pPr>
            <a:r>
              <a:rPr lang="en-US" sz="3000" b="1" dirty="0">
                <a:solidFill>
                  <a:srgbClr val="0B2A4A"/>
                </a:solidFill>
                <a:latin typeface="Georgia" pitchFamily="34" charset="0"/>
                <a:ea typeface="Georgia" pitchFamily="34" charset="-122"/>
                <a:cs typeface="Georgia" pitchFamily="34" charset="-120"/>
              </a:rPr>
              <a:t>2–10 yr</a:t>
            </a:r>
            <a:endParaRPr lang="en-US" sz="3000" dirty="0"/>
          </a:p>
        </p:txBody>
      </p:sp>
      <p:sp>
        <p:nvSpPr>
          <p:cNvPr id="11" name="Text 9"/>
          <p:cNvSpPr/>
          <p:nvPr/>
        </p:nvSpPr>
        <p:spPr>
          <a:xfrm>
            <a:off x="8860307" y="2514600"/>
            <a:ext cx="2581580" cy="274320"/>
          </a:xfrm>
          <a:prstGeom prst="rect">
            <a:avLst/>
          </a:prstGeom>
          <a:noFill/>
          <a:ln/>
        </p:spPr>
        <p:txBody>
          <a:bodyPr wrap="square" lIns="0" tIns="0" rIns="0" bIns="0" rtlCol="0" anchor="t"/>
          <a:lstStyle/>
          <a:p>
            <a:pPr indent="0" marL="0">
              <a:buNone/>
            </a:pPr>
            <a:r>
              <a:rPr lang="en-US" sz="1150" b="1" spc="120" kern="0" dirty="0">
                <a:solidFill>
                  <a:srgbClr val="1F8A97"/>
                </a:solidFill>
                <a:latin typeface="Arial" pitchFamily="34" charset="0"/>
                <a:ea typeface="Arial" pitchFamily="34" charset="-122"/>
                <a:cs typeface="Arial" pitchFamily="34" charset="-120"/>
              </a:rPr>
              <a:t>FOLLOW-UP RANGE</a:t>
            </a:r>
            <a:endParaRPr lang="en-US" sz="1150" dirty="0"/>
          </a:p>
        </p:txBody>
      </p:sp>
      <p:sp>
        <p:nvSpPr>
          <p:cNvPr id="12" name="Shape 10"/>
          <p:cNvSpPr/>
          <p:nvPr/>
        </p:nvSpPr>
        <p:spPr>
          <a:xfrm>
            <a:off x="566928" y="2999232"/>
            <a:ext cx="11057839" cy="0"/>
          </a:xfrm>
          <a:prstGeom prst="line">
            <a:avLst/>
          </a:prstGeom>
          <a:noFill/>
          <a:ln w="12700">
            <a:solidFill>
              <a:srgbClr val="DEE3E7"/>
            </a:solidFill>
            <a:prstDash val="solid"/>
          </a:ln>
        </p:spPr>
      </p:sp>
      <p:sp>
        <p:nvSpPr>
          <p:cNvPr id="13" name="Text 11"/>
          <p:cNvSpPr/>
          <p:nvPr/>
        </p:nvSpPr>
        <p:spPr>
          <a:xfrm>
            <a:off x="566928" y="3182112"/>
            <a:ext cx="5029200" cy="310896"/>
          </a:xfrm>
          <a:prstGeom prst="rect">
            <a:avLst/>
          </a:prstGeom>
          <a:noFill/>
          <a:ln/>
        </p:spPr>
        <p:txBody>
          <a:bodyPr wrap="square" lIns="0" tIns="0" rIns="0" bIns="0" rtlCol="0" anchor="ctr"/>
          <a:lstStyle/>
          <a:p>
            <a:pPr indent="0" marL="0">
              <a:buNone/>
            </a:pPr>
            <a:r>
              <a:rPr lang="en-US" sz="1150" b="1" spc="100" kern="0" dirty="0">
                <a:solidFill>
                  <a:srgbClr val="5B6570"/>
                </a:solidFill>
                <a:latin typeface="Arial" pitchFamily="34" charset="0"/>
                <a:ea typeface="Arial" pitchFamily="34" charset="-122"/>
                <a:cs typeface="Arial" pitchFamily="34" charset="-120"/>
              </a:rPr>
              <a:t>Study</a:t>
            </a:r>
            <a:endParaRPr lang="en-US" sz="1150" dirty="0"/>
          </a:p>
        </p:txBody>
      </p:sp>
      <p:sp>
        <p:nvSpPr>
          <p:cNvPr id="14" name="Text 12"/>
          <p:cNvSpPr/>
          <p:nvPr/>
        </p:nvSpPr>
        <p:spPr>
          <a:xfrm>
            <a:off x="5687568" y="3182112"/>
            <a:ext cx="2377440" cy="310896"/>
          </a:xfrm>
          <a:prstGeom prst="rect">
            <a:avLst/>
          </a:prstGeom>
          <a:noFill/>
          <a:ln/>
        </p:spPr>
        <p:txBody>
          <a:bodyPr wrap="square" lIns="0" tIns="0" rIns="0" bIns="0" rtlCol="0" anchor="ctr"/>
          <a:lstStyle/>
          <a:p>
            <a:pPr indent="0" marL="0">
              <a:buNone/>
            </a:pPr>
            <a:r>
              <a:rPr lang="en-US" sz="1150" b="1" dirty="0">
                <a:solidFill>
                  <a:srgbClr val="5B6570"/>
                </a:solidFill>
                <a:latin typeface="Arial" pitchFamily="34" charset="0"/>
                <a:ea typeface="Arial" pitchFamily="34" charset="-122"/>
                <a:cs typeface="Arial" pitchFamily="34" charset="-120"/>
              </a:rPr>
              <a:t>Follow-up</a:t>
            </a:r>
            <a:endParaRPr lang="en-US" sz="1150" dirty="0"/>
          </a:p>
        </p:txBody>
      </p:sp>
      <p:sp>
        <p:nvSpPr>
          <p:cNvPr id="15" name="Text 13"/>
          <p:cNvSpPr/>
          <p:nvPr/>
        </p:nvSpPr>
        <p:spPr>
          <a:xfrm>
            <a:off x="8156448" y="3182112"/>
            <a:ext cx="3468319" cy="310896"/>
          </a:xfrm>
          <a:prstGeom prst="rect">
            <a:avLst/>
          </a:prstGeom>
          <a:noFill/>
          <a:ln/>
        </p:spPr>
        <p:txBody>
          <a:bodyPr wrap="square" lIns="0" tIns="0" rIns="0" bIns="0" rtlCol="0" anchor="ctr"/>
          <a:lstStyle/>
          <a:p>
            <a:pPr indent="0" marL="0">
              <a:buNone/>
            </a:pPr>
            <a:r>
              <a:rPr lang="en-US" sz="1150" b="1" dirty="0">
                <a:solidFill>
                  <a:srgbClr val="5B6570"/>
                </a:solidFill>
                <a:latin typeface="Arial" pitchFamily="34" charset="0"/>
                <a:ea typeface="Arial" pitchFamily="34" charset="-122"/>
                <a:cs typeface="Arial" pitchFamily="34" charset="-120"/>
              </a:rPr>
              <a:t>N (baseline → final)</a:t>
            </a:r>
            <a:endParaRPr lang="en-US" sz="1150" dirty="0"/>
          </a:p>
        </p:txBody>
      </p:sp>
      <p:sp>
        <p:nvSpPr>
          <p:cNvPr id="16" name="Shape 14"/>
          <p:cNvSpPr/>
          <p:nvPr/>
        </p:nvSpPr>
        <p:spPr>
          <a:xfrm>
            <a:off x="566928" y="3483864"/>
            <a:ext cx="11057839" cy="0"/>
          </a:xfrm>
          <a:prstGeom prst="line">
            <a:avLst/>
          </a:prstGeom>
          <a:noFill/>
          <a:ln w="12700">
            <a:solidFill>
              <a:srgbClr val="DEE3E7"/>
            </a:solidFill>
            <a:prstDash val="solid"/>
          </a:ln>
        </p:spPr>
      </p:sp>
      <p:sp>
        <p:nvSpPr>
          <p:cNvPr id="17" name="Text 15"/>
          <p:cNvSpPr/>
          <p:nvPr/>
        </p:nvSpPr>
        <p:spPr>
          <a:xfrm>
            <a:off x="566928" y="3511296"/>
            <a:ext cx="502920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Agustín-Panadero et al, 2019</a:t>
            </a:r>
            <a:endParaRPr lang="en-US" sz="1350" dirty="0"/>
          </a:p>
        </p:txBody>
      </p:sp>
      <p:sp>
        <p:nvSpPr>
          <p:cNvPr id="18" name="Text 16"/>
          <p:cNvSpPr/>
          <p:nvPr/>
        </p:nvSpPr>
        <p:spPr>
          <a:xfrm>
            <a:off x="5687568" y="3511296"/>
            <a:ext cx="237744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3 years</a:t>
            </a:r>
            <a:endParaRPr lang="en-US" sz="1350" dirty="0"/>
          </a:p>
        </p:txBody>
      </p:sp>
      <p:sp>
        <p:nvSpPr>
          <p:cNvPr id="19" name="Text 17"/>
          <p:cNvSpPr/>
          <p:nvPr/>
        </p:nvSpPr>
        <p:spPr>
          <a:xfrm>
            <a:off x="8156448" y="3511296"/>
            <a:ext cx="3468319"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75 → 68</a:t>
            </a:r>
            <a:endParaRPr lang="en-US" sz="1350" dirty="0"/>
          </a:p>
        </p:txBody>
      </p:sp>
      <p:sp>
        <p:nvSpPr>
          <p:cNvPr id="20" name="Text 18"/>
          <p:cNvSpPr/>
          <p:nvPr/>
        </p:nvSpPr>
        <p:spPr>
          <a:xfrm>
            <a:off x="566928" y="3799332"/>
            <a:ext cx="502920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Amorfini et al, 2018</a:t>
            </a:r>
            <a:endParaRPr lang="en-US" sz="1350" dirty="0"/>
          </a:p>
        </p:txBody>
      </p:sp>
      <p:sp>
        <p:nvSpPr>
          <p:cNvPr id="21" name="Text 19"/>
          <p:cNvSpPr/>
          <p:nvPr/>
        </p:nvSpPr>
        <p:spPr>
          <a:xfrm>
            <a:off x="5687568" y="3799332"/>
            <a:ext cx="237744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10 years</a:t>
            </a:r>
            <a:endParaRPr lang="en-US" sz="1350" dirty="0"/>
          </a:p>
        </p:txBody>
      </p:sp>
      <p:sp>
        <p:nvSpPr>
          <p:cNvPr id="22" name="Text 20"/>
          <p:cNvSpPr/>
          <p:nvPr/>
        </p:nvSpPr>
        <p:spPr>
          <a:xfrm>
            <a:off x="8156448" y="3799332"/>
            <a:ext cx="3468319"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40 → 30</a:t>
            </a:r>
            <a:endParaRPr lang="en-US" sz="1350" dirty="0"/>
          </a:p>
        </p:txBody>
      </p:sp>
      <p:sp>
        <p:nvSpPr>
          <p:cNvPr id="23" name="Text 21"/>
          <p:cNvSpPr/>
          <p:nvPr/>
        </p:nvSpPr>
        <p:spPr>
          <a:xfrm>
            <a:off x="566928" y="4087368"/>
            <a:ext cx="502920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Kraus et al, 2022</a:t>
            </a:r>
            <a:endParaRPr lang="en-US" sz="1350" dirty="0"/>
          </a:p>
        </p:txBody>
      </p:sp>
      <p:sp>
        <p:nvSpPr>
          <p:cNvPr id="24" name="Text 22"/>
          <p:cNvSpPr/>
          <p:nvPr/>
        </p:nvSpPr>
        <p:spPr>
          <a:xfrm>
            <a:off x="5687568" y="4087368"/>
            <a:ext cx="237744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5 years</a:t>
            </a:r>
            <a:endParaRPr lang="en-US" sz="1350" dirty="0"/>
          </a:p>
        </p:txBody>
      </p:sp>
      <p:sp>
        <p:nvSpPr>
          <p:cNvPr id="25" name="Text 23"/>
          <p:cNvSpPr/>
          <p:nvPr/>
        </p:nvSpPr>
        <p:spPr>
          <a:xfrm>
            <a:off x="8156448" y="4087368"/>
            <a:ext cx="3468319"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44 → 41</a:t>
            </a:r>
            <a:endParaRPr lang="en-US" sz="1350" dirty="0"/>
          </a:p>
        </p:txBody>
      </p:sp>
      <p:sp>
        <p:nvSpPr>
          <p:cNvPr id="26" name="Text 24"/>
          <p:cNvSpPr/>
          <p:nvPr/>
        </p:nvSpPr>
        <p:spPr>
          <a:xfrm>
            <a:off x="566928" y="4375404"/>
            <a:ext cx="502920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Schropp et al, 2013</a:t>
            </a:r>
            <a:endParaRPr lang="en-US" sz="1350" dirty="0"/>
          </a:p>
        </p:txBody>
      </p:sp>
      <p:sp>
        <p:nvSpPr>
          <p:cNvPr id="27" name="Text 25"/>
          <p:cNvSpPr/>
          <p:nvPr/>
        </p:nvSpPr>
        <p:spPr>
          <a:xfrm>
            <a:off x="5687568" y="4375404"/>
            <a:ext cx="237744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10 years</a:t>
            </a:r>
            <a:endParaRPr lang="en-US" sz="1350" dirty="0"/>
          </a:p>
        </p:txBody>
      </p:sp>
      <p:sp>
        <p:nvSpPr>
          <p:cNvPr id="28" name="Text 26"/>
          <p:cNvSpPr/>
          <p:nvPr/>
        </p:nvSpPr>
        <p:spPr>
          <a:xfrm>
            <a:off x="8156448" y="4375404"/>
            <a:ext cx="3468319"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63 → 53</a:t>
            </a:r>
            <a:endParaRPr lang="en-US" sz="1350" dirty="0"/>
          </a:p>
        </p:txBody>
      </p:sp>
      <p:sp>
        <p:nvSpPr>
          <p:cNvPr id="29" name="Text 27"/>
          <p:cNvSpPr/>
          <p:nvPr/>
        </p:nvSpPr>
        <p:spPr>
          <a:xfrm>
            <a:off x="566928" y="4663440"/>
            <a:ext cx="502920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Wolfart et al, 2021</a:t>
            </a:r>
            <a:endParaRPr lang="en-US" sz="1350" dirty="0"/>
          </a:p>
        </p:txBody>
      </p:sp>
      <p:sp>
        <p:nvSpPr>
          <p:cNvPr id="30" name="Text 28"/>
          <p:cNvSpPr/>
          <p:nvPr/>
        </p:nvSpPr>
        <p:spPr>
          <a:xfrm>
            <a:off x="5687568" y="4663440"/>
            <a:ext cx="237744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1–2 years</a:t>
            </a:r>
            <a:endParaRPr lang="en-US" sz="1350" dirty="0"/>
          </a:p>
        </p:txBody>
      </p:sp>
      <p:sp>
        <p:nvSpPr>
          <p:cNvPr id="31" name="Text 29"/>
          <p:cNvSpPr/>
          <p:nvPr/>
        </p:nvSpPr>
        <p:spPr>
          <a:xfrm>
            <a:off x="8156448" y="4663440"/>
            <a:ext cx="3468319"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41</a:t>
            </a:r>
            <a:endParaRPr lang="en-US" sz="1350" dirty="0"/>
          </a:p>
        </p:txBody>
      </p:sp>
      <p:sp>
        <p:nvSpPr>
          <p:cNvPr id="32" name="Text 30"/>
          <p:cNvSpPr/>
          <p:nvPr/>
        </p:nvSpPr>
        <p:spPr>
          <a:xfrm>
            <a:off x="566928" y="4951476"/>
            <a:ext cx="502920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Zembic et al, 2012</a:t>
            </a:r>
            <a:endParaRPr lang="en-US" sz="1350" dirty="0"/>
          </a:p>
        </p:txBody>
      </p:sp>
      <p:sp>
        <p:nvSpPr>
          <p:cNvPr id="33" name="Text 31"/>
          <p:cNvSpPr/>
          <p:nvPr/>
        </p:nvSpPr>
        <p:spPr>
          <a:xfrm>
            <a:off x="5687568" y="4951476"/>
            <a:ext cx="2377440"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5.6 years</a:t>
            </a:r>
            <a:endParaRPr lang="en-US" sz="1350" dirty="0"/>
          </a:p>
        </p:txBody>
      </p:sp>
      <p:sp>
        <p:nvSpPr>
          <p:cNvPr id="34" name="Text 32"/>
          <p:cNvSpPr/>
          <p:nvPr/>
        </p:nvSpPr>
        <p:spPr>
          <a:xfrm>
            <a:off x="8156448" y="4951476"/>
            <a:ext cx="3468319" cy="310896"/>
          </a:xfrm>
          <a:prstGeom prst="rect">
            <a:avLst/>
          </a:prstGeom>
          <a:noFill/>
          <a:ln/>
        </p:spPr>
        <p:txBody>
          <a:bodyPr wrap="square" lIns="0" tIns="0" rIns="0" bIns="0" rtlCol="0" anchor="ctr"/>
          <a:lstStyle/>
          <a:p>
            <a:pPr indent="0" marL="0">
              <a:buNone/>
            </a:pPr>
            <a:r>
              <a:rPr lang="en-US" sz="1350" dirty="0">
                <a:solidFill>
                  <a:srgbClr val="2B2E33"/>
                </a:solidFill>
                <a:latin typeface="Arial" pitchFamily="34" charset="0"/>
                <a:ea typeface="Arial" pitchFamily="34" charset="-122"/>
                <a:cs typeface="Arial" pitchFamily="34" charset="-120"/>
              </a:rPr>
              <a:t>22 → 18</a:t>
            </a:r>
            <a:endParaRPr lang="en-US" sz="1350" dirty="0"/>
          </a:p>
        </p:txBody>
      </p:sp>
      <p:sp>
        <p:nvSpPr>
          <p:cNvPr id="35" name="Text 33"/>
          <p:cNvSpPr/>
          <p:nvPr/>
        </p:nvSpPr>
        <p:spPr>
          <a:xfrm>
            <a:off x="566928" y="5404104"/>
            <a:ext cx="11057839" cy="548640"/>
          </a:xfrm>
          <a:prstGeom prst="rect">
            <a:avLst/>
          </a:prstGeom>
          <a:noFill/>
          <a:ln/>
        </p:spPr>
        <p:txBody>
          <a:bodyPr wrap="square" lIns="0" tIns="0" rIns="0" bIns="0" rtlCol="0" anchor="ctr"/>
          <a:lstStyle/>
          <a:p>
            <a:pPr indent="0" marL="0">
              <a:lnSpc>
                <a:spcPct val="120000"/>
              </a:lnSpc>
              <a:buNone/>
            </a:pPr>
            <a:r>
              <a:rPr lang="en-US" sz="1250" i="1" dirty="0">
                <a:solidFill>
                  <a:srgbClr val="5B6570"/>
                </a:solidFill>
                <a:latin typeface="Arial" pitchFamily="34" charset="0"/>
                <a:ea typeface="Arial" pitchFamily="34" charset="-122"/>
                <a:cs typeface="Arial" pitchFamily="34" charset="-120"/>
              </a:rPr>
              <a:t>All six trials restored single-unit implant crowns. Implant systems, abutment materials, and cements varied widely: 1 methacrylate-based, 3 resin, 1 zinc phosphate, and 1 glass-ionomer cement across the trials.</a:t>
            </a:r>
            <a:endParaRPr lang="en-US" sz="1250" dirty="0"/>
          </a:p>
        </p:txBody>
      </p:sp>
      <p:sp>
        <p:nvSpPr>
          <p:cNvPr id="36" name="Text 34"/>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37" name="Text 35"/>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QUALITY APPRAISAL</a:t>
            </a:r>
            <a:endParaRPr lang="en-US" sz="1300" dirty="0"/>
          </a:p>
        </p:txBody>
      </p:sp>
      <p:sp>
        <p:nvSpPr>
          <p:cNvPr id="3" name="Text 1"/>
          <p:cNvSpPr/>
          <p:nvPr/>
        </p:nvSpPr>
        <p:spPr>
          <a:xfrm>
            <a:off x="566928" y="731520"/>
            <a:ext cx="7863840" cy="118872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Every Included Trial Raised Some Risk-of-Bias Concern</a:t>
            </a:r>
            <a:endParaRPr lang="en-US" sz="3200" dirty="0"/>
          </a:p>
        </p:txBody>
      </p:sp>
      <p:pic>
        <p:nvPicPr>
          <p:cNvPr id="4" name="Image 0" descr="/tmp/claude-0/-home-user-project/d97f94cc-3bb8-5ef5-a091-9ffd884b42b2/scratchpad/fig/rob2.png">    </p:cNvPr>
          <p:cNvPicPr>
            <a:picLocks noChangeAspect="1"/>
          </p:cNvPicPr>
          <p:nvPr/>
        </p:nvPicPr>
        <p:blipFill>
          <a:blip r:embed="rId1"/>
          <a:stretch>
            <a:fillRect/>
          </a:stretch>
        </p:blipFill>
        <p:spPr>
          <a:xfrm>
            <a:off x="566928" y="2057400"/>
            <a:ext cx="4999239" cy="3703320"/>
          </a:xfrm>
          <a:prstGeom prst="rect">
            <a:avLst/>
          </a:prstGeom>
          <a:effectLst>
            <a:outerShdw sx="100000" sy="100000" kx="0" ky="0" algn="bl" rotWithShape="0" blurRad="101600" dist="38100" dir="5400000">
              <a:srgbClr val="0B2A4A">
                <a:alpha val="18000"/>
              </a:srgbClr>
            </a:outerShdw>
          </a:effectLst>
        </p:spPr>
      </p:pic>
      <p:sp>
        <p:nvSpPr>
          <p:cNvPr id="5" name="Text 2"/>
          <p:cNvSpPr/>
          <p:nvPr/>
        </p:nvSpPr>
        <p:spPr>
          <a:xfrm>
            <a:off x="566928" y="5833872"/>
            <a:ext cx="4999239" cy="411480"/>
          </a:xfrm>
          <a:prstGeom prst="rect">
            <a:avLst/>
          </a:prstGeom>
          <a:noFill/>
          <a:ln/>
        </p:spPr>
        <p:txBody>
          <a:bodyPr wrap="square" lIns="0" tIns="0" rIns="0" bIns="0" rtlCol="0" anchor="ctr"/>
          <a:lstStyle/>
          <a:p>
            <a:pPr indent="0" marL="0">
              <a:lnSpc>
                <a:spcPct val="115000"/>
              </a:lnSpc>
              <a:buNone/>
            </a:pPr>
            <a:r>
              <a:rPr lang="en-US" sz="1000" i="1" dirty="0">
                <a:solidFill>
                  <a:srgbClr val="5B6570"/>
                </a:solidFill>
                <a:latin typeface="Arial" pitchFamily="34" charset="0"/>
                <a:ea typeface="Arial" pitchFamily="34" charset="-122"/>
                <a:cs typeface="Arial" pitchFamily="34" charset="-120"/>
              </a:rPr>
              <a:t>Cochrane RoB 2. D1 Randomization · D2.1/D2.2 Deviations from intended intervention · D3 Missing data · D4 Outcome measurement · D5 Selective reporting.</a:t>
            </a:r>
            <a:endParaRPr lang="en-US" sz="1000" dirty="0"/>
          </a:p>
        </p:txBody>
      </p:sp>
      <p:sp>
        <p:nvSpPr>
          <p:cNvPr id="6" name="Shape 3"/>
          <p:cNvSpPr/>
          <p:nvPr/>
        </p:nvSpPr>
        <p:spPr>
          <a:xfrm>
            <a:off x="5886207" y="2057400"/>
            <a:ext cx="5738560" cy="1417320"/>
          </a:xfrm>
          <a:prstGeom prst="rect">
            <a:avLst/>
          </a:prstGeom>
          <a:solidFill>
            <a:srgbClr val="0B2A4A"/>
          </a:solidFill>
          <a:ln/>
        </p:spPr>
      </p:sp>
      <p:sp>
        <p:nvSpPr>
          <p:cNvPr id="7" name="Text 4"/>
          <p:cNvSpPr/>
          <p:nvPr/>
        </p:nvSpPr>
        <p:spPr>
          <a:xfrm>
            <a:off x="6114807" y="2221992"/>
            <a:ext cx="5281360" cy="274320"/>
          </a:xfrm>
          <a:prstGeom prst="rect">
            <a:avLst/>
          </a:prstGeom>
          <a:noFill/>
          <a:ln/>
        </p:spPr>
        <p:txBody>
          <a:bodyPr wrap="square" lIns="0" tIns="0" rIns="0" bIns="0" rtlCol="0" anchor="ctr"/>
          <a:lstStyle/>
          <a:p>
            <a:pPr indent="0" marL="0">
              <a:buNone/>
            </a:pPr>
            <a:r>
              <a:rPr lang="en-US" sz="1150" b="1" spc="150" kern="0" dirty="0">
                <a:solidFill>
                  <a:srgbClr val="8FCAD2"/>
                </a:solidFill>
                <a:latin typeface="Arial" pitchFamily="34" charset="0"/>
                <a:ea typeface="Arial" pitchFamily="34" charset="-122"/>
                <a:cs typeface="Arial" pitchFamily="34" charset="-120"/>
              </a:rPr>
              <a:t>GRADE CERTAINTY</a:t>
            </a:r>
            <a:endParaRPr lang="en-US" sz="1150" dirty="0"/>
          </a:p>
        </p:txBody>
      </p:sp>
      <p:sp>
        <p:nvSpPr>
          <p:cNvPr id="8" name="Text 5"/>
          <p:cNvSpPr/>
          <p:nvPr/>
        </p:nvSpPr>
        <p:spPr>
          <a:xfrm>
            <a:off x="6114807" y="2478024"/>
            <a:ext cx="5281360" cy="5029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Moderate</a:t>
            </a:r>
            <a:endParaRPr lang="en-US" sz="2800" dirty="0"/>
          </a:p>
        </p:txBody>
      </p:sp>
      <p:sp>
        <p:nvSpPr>
          <p:cNvPr id="9" name="Text 6"/>
          <p:cNvSpPr/>
          <p:nvPr/>
        </p:nvSpPr>
        <p:spPr>
          <a:xfrm>
            <a:off x="6114807" y="3017520"/>
            <a:ext cx="5281360" cy="365760"/>
          </a:xfrm>
          <a:prstGeom prst="rect">
            <a:avLst/>
          </a:prstGeom>
          <a:noFill/>
          <a:ln/>
        </p:spPr>
        <p:txBody>
          <a:bodyPr wrap="square" lIns="0" tIns="0" rIns="0" bIns="0" rtlCol="0" anchor="ctr"/>
          <a:lstStyle/>
          <a:p>
            <a:pPr indent="0" marL="0">
              <a:buNone/>
            </a:pPr>
            <a:r>
              <a:rPr lang="en-US" sz="1300" dirty="0">
                <a:solidFill>
                  <a:srgbClr val="BFD6E0"/>
                </a:solidFill>
                <a:latin typeface="Arial" pitchFamily="34" charset="0"/>
                <a:ea typeface="Arial" pitchFamily="34" charset="-122"/>
                <a:cs typeface="Arial" pitchFamily="34" charset="-120"/>
              </a:rPr>
              <a:t>⊕⊕⊕◯   both outcomes</a:t>
            </a:r>
            <a:endParaRPr lang="en-US" sz="1300" dirty="0"/>
          </a:p>
        </p:txBody>
      </p:sp>
      <p:sp>
        <p:nvSpPr>
          <p:cNvPr id="10" name="Text 7"/>
          <p:cNvSpPr/>
          <p:nvPr/>
        </p:nvSpPr>
        <p:spPr>
          <a:xfrm>
            <a:off x="5886207" y="3749040"/>
            <a:ext cx="5738560" cy="2286000"/>
          </a:xfrm>
          <a:prstGeom prst="rect">
            <a:avLst/>
          </a:prstGeom>
          <a:noFill/>
          <a:ln/>
        </p:spPr>
        <p:txBody>
          <a:bodyPr wrap="square" lIns="0" tIns="0" rIns="0" bIns="0" rtlCol="0" anchor="ctr"/>
          <a:lstStyle/>
          <a:p>
            <a:pPr indent="0" marL="0">
              <a:lnSpc>
                <a:spcPct val="125000"/>
              </a:lnSpc>
              <a:buNone/>
            </a:pPr>
            <a:r>
              <a:rPr lang="en-US" sz="1350" dirty="0">
                <a:solidFill>
                  <a:srgbClr val="2B2E33"/>
                </a:solidFill>
                <a:latin typeface="Arial" pitchFamily="34" charset="0"/>
                <a:ea typeface="Arial" pitchFamily="34" charset="-122"/>
                <a:cs typeface="Arial" pitchFamily="34" charset="-120"/>
              </a:rPr>
              <a:t>All 6 RCTs were rated “some concerns” overall — none low risk, none high risk. Concerns clustered in randomization (D1), assignment to intervention (D2.1), and selective reporting (D5); only 1 trial clearly reported blinded outcome assessment (D4).</a:t>
            </a:r>
            <a:endParaRPr lang="en-US" sz="1350" dirty="0"/>
          </a:p>
        </p:txBody>
      </p:sp>
      <p:sp>
        <p:nvSpPr>
          <p:cNvPr id="11" name="Text 8"/>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12" name="Text 9"/>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7</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RESULTS · PERI-IMPLANT MUCOSITIS</a:t>
            </a:r>
            <a:endParaRPr lang="en-US" sz="1300" dirty="0"/>
          </a:p>
        </p:txBody>
      </p:sp>
      <p:sp>
        <p:nvSpPr>
          <p:cNvPr id="3" name="Text 1"/>
          <p:cNvSpPr/>
          <p:nvPr/>
        </p:nvSpPr>
        <p:spPr>
          <a:xfrm>
            <a:off x="566928" y="731520"/>
            <a:ext cx="11057839" cy="118872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No Statistically Significant Difference in Mucositis Risk</a:t>
            </a:r>
            <a:endParaRPr lang="en-US" sz="3200" dirty="0"/>
          </a:p>
        </p:txBody>
      </p:sp>
      <p:pic>
        <p:nvPicPr>
          <p:cNvPr id="4" name="Image 0" descr="/tmp/claude-0/-home-user-project/d97f94cc-3bb8-5ef5-a091-9ffd884b42b2/scratchpad/fig/forestA.png">    </p:cNvPr>
          <p:cNvPicPr>
            <a:picLocks noChangeAspect="1"/>
          </p:cNvPicPr>
          <p:nvPr/>
        </p:nvPicPr>
        <p:blipFill>
          <a:blip r:embed="rId1"/>
          <a:stretch>
            <a:fillRect/>
          </a:stretch>
        </p:blipFill>
        <p:spPr>
          <a:xfrm>
            <a:off x="566928" y="1965960"/>
            <a:ext cx="4537177" cy="2880360"/>
          </a:xfrm>
          <a:prstGeom prst="rect">
            <a:avLst/>
          </a:prstGeom>
          <a:effectLst>
            <a:outerShdw sx="100000" sy="100000" kx="0" ky="0" algn="bl" rotWithShape="0" blurRad="101600" dist="38100" dir="5400000">
              <a:srgbClr val="0B2A4A">
                <a:alpha val="18000"/>
              </a:srgbClr>
            </a:outerShdw>
          </a:effectLst>
        </p:spPr>
      </p:pic>
      <p:sp>
        <p:nvSpPr>
          <p:cNvPr id="5" name="Text 2"/>
          <p:cNvSpPr/>
          <p:nvPr/>
        </p:nvSpPr>
        <p:spPr>
          <a:xfrm>
            <a:off x="566928" y="4901184"/>
            <a:ext cx="4537177" cy="274320"/>
          </a:xfrm>
          <a:prstGeom prst="rect">
            <a:avLst/>
          </a:prstGeom>
          <a:noFill/>
          <a:ln/>
        </p:spPr>
        <p:txBody>
          <a:bodyPr wrap="square" lIns="0" tIns="0" rIns="0" bIns="0" rtlCol="0" anchor="ctr"/>
          <a:lstStyle/>
          <a:p>
            <a:pPr indent="0" marL="0">
              <a:buNone/>
            </a:pPr>
            <a:r>
              <a:rPr lang="en-US" sz="1000" i="1" dirty="0">
                <a:solidFill>
                  <a:srgbClr val="5B6570"/>
                </a:solidFill>
                <a:latin typeface="Arial" pitchFamily="34" charset="0"/>
                <a:ea typeface="Arial" pitchFamily="34" charset="-122"/>
                <a:cs typeface="Arial" pitchFamily="34" charset="-120"/>
              </a:rPr>
              <a:t>Figure reproduced from Reis et al., Figure 3A. Diamond = pooled effect; vertical line at 1.0 = line of no effect.</a:t>
            </a:r>
            <a:endParaRPr lang="en-US" sz="1000" dirty="0"/>
          </a:p>
        </p:txBody>
      </p:sp>
      <p:sp>
        <p:nvSpPr>
          <p:cNvPr id="6" name="Text 3"/>
          <p:cNvSpPr/>
          <p:nvPr/>
        </p:nvSpPr>
        <p:spPr>
          <a:xfrm>
            <a:off x="5378425" y="1965960"/>
            <a:ext cx="6246342" cy="384048"/>
          </a:xfrm>
          <a:prstGeom prst="rect">
            <a:avLst/>
          </a:prstGeom>
          <a:noFill/>
          <a:ln/>
        </p:spPr>
        <p:txBody>
          <a:bodyPr wrap="square" lIns="0" tIns="0" rIns="0" bIns="0" rtlCol="0" anchor="t"/>
          <a:lstStyle/>
          <a:p>
            <a:pPr indent="0" marL="0">
              <a:buNone/>
            </a:pPr>
            <a:r>
              <a:rPr lang="en-US" sz="2200" b="1" dirty="0">
                <a:solidFill>
                  <a:srgbClr val="0B2A4A"/>
                </a:solidFill>
                <a:latin typeface="Georgia" pitchFamily="34" charset="0"/>
                <a:ea typeface="Georgia" pitchFamily="34" charset="-122"/>
                <a:cs typeface="Georgia" pitchFamily="34" charset="-120"/>
              </a:rPr>
              <a:t>1.36</a:t>
            </a:r>
            <a:endParaRPr lang="en-US" sz="2200" dirty="0"/>
          </a:p>
        </p:txBody>
      </p:sp>
      <p:sp>
        <p:nvSpPr>
          <p:cNvPr id="7" name="Text 4"/>
          <p:cNvSpPr/>
          <p:nvPr/>
        </p:nvSpPr>
        <p:spPr>
          <a:xfrm>
            <a:off x="5378425" y="2331720"/>
            <a:ext cx="6246342" cy="237744"/>
          </a:xfrm>
          <a:prstGeom prst="rect">
            <a:avLst/>
          </a:prstGeom>
          <a:noFill/>
          <a:ln/>
        </p:spPr>
        <p:txBody>
          <a:bodyPr wrap="square" lIns="0" tIns="0" rIns="0" bIns="0" rtlCol="0" anchor="t"/>
          <a:lstStyle/>
          <a:p>
            <a:pPr indent="0" marL="0">
              <a:buNone/>
            </a:pPr>
            <a:r>
              <a:rPr lang="en-US" sz="1050" b="1" spc="120" kern="0" dirty="0">
                <a:solidFill>
                  <a:srgbClr val="1F8A97"/>
                </a:solidFill>
                <a:latin typeface="Arial" pitchFamily="34" charset="0"/>
                <a:ea typeface="Arial" pitchFamily="34" charset="-122"/>
                <a:cs typeface="Arial" pitchFamily="34" charset="-120"/>
              </a:rPr>
              <a:t>RR</a:t>
            </a:r>
            <a:endParaRPr lang="en-US" sz="1050" dirty="0"/>
          </a:p>
        </p:txBody>
      </p:sp>
      <p:sp>
        <p:nvSpPr>
          <p:cNvPr id="8" name="Text 5"/>
          <p:cNvSpPr/>
          <p:nvPr/>
        </p:nvSpPr>
        <p:spPr>
          <a:xfrm>
            <a:off x="5378425" y="2592324"/>
            <a:ext cx="6246342" cy="384048"/>
          </a:xfrm>
          <a:prstGeom prst="rect">
            <a:avLst/>
          </a:prstGeom>
          <a:noFill/>
          <a:ln/>
        </p:spPr>
        <p:txBody>
          <a:bodyPr wrap="square" lIns="0" tIns="0" rIns="0" bIns="0" rtlCol="0" anchor="t"/>
          <a:lstStyle/>
          <a:p>
            <a:pPr indent="0" marL="0">
              <a:buNone/>
            </a:pPr>
            <a:r>
              <a:rPr lang="en-US" sz="2200" b="1" dirty="0">
                <a:solidFill>
                  <a:srgbClr val="0B2A4A"/>
                </a:solidFill>
                <a:latin typeface="Georgia" pitchFamily="34" charset="0"/>
                <a:ea typeface="Georgia" pitchFamily="34" charset="-122"/>
                <a:cs typeface="Georgia" pitchFamily="34" charset="-120"/>
              </a:rPr>
              <a:t>0.42–4.38</a:t>
            </a:r>
            <a:endParaRPr lang="en-US" sz="2200" dirty="0"/>
          </a:p>
        </p:txBody>
      </p:sp>
      <p:sp>
        <p:nvSpPr>
          <p:cNvPr id="9" name="Text 6"/>
          <p:cNvSpPr/>
          <p:nvPr/>
        </p:nvSpPr>
        <p:spPr>
          <a:xfrm>
            <a:off x="5378425" y="2958084"/>
            <a:ext cx="6246342" cy="237744"/>
          </a:xfrm>
          <a:prstGeom prst="rect">
            <a:avLst/>
          </a:prstGeom>
          <a:noFill/>
          <a:ln/>
        </p:spPr>
        <p:txBody>
          <a:bodyPr wrap="square" lIns="0" tIns="0" rIns="0" bIns="0" rtlCol="0" anchor="t"/>
          <a:lstStyle/>
          <a:p>
            <a:pPr indent="0" marL="0">
              <a:buNone/>
            </a:pPr>
            <a:r>
              <a:rPr lang="en-US" sz="1050" b="1" spc="120" kern="0" dirty="0">
                <a:solidFill>
                  <a:srgbClr val="1F8A97"/>
                </a:solidFill>
                <a:latin typeface="Arial" pitchFamily="34" charset="0"/>
                <a:ea typeface="Arial" pitchFamily="34" charset="-122"/>
                <a:cs typeface="Arial" pitchFamily="34" charset="-120"/>
              </a:rPr>
              <a:t>95% CI</a:t>
            </a:r>
            <a:endParaRPr lang="en-US" sz="1050" dirty="0"/>
          </a:p>
        </p:txBody>
      </p:sp>
      <p:sp>
        <p:nvSpPr>
          <p:cNvPr id="10" name="Text 7"/>
          <p:cNvSpPr/>
          <p:nvPr/>
        </p:nvSpPr>
        <p:spPr>
          <a:xfrm>
            <a:off x="5378425" y="3218688"/>
            <a:ext cx="6246342" cy="384048"/>
          </a:xfrm>
          <a:prstGeom prst="rect">
            <a:avLst/>
          </a:prstGeom>
          <a:noFill/>
          <a:ln/>
        </p:spPr>
        <p:txBody>
          <a:bodyPr wrap="square" lIns="0" tIns="0" rIns="0" bIns="0" rtlCol="0" anchor="t"/>
          <a:lstStyle/>
          <a:p>
            <a:pPr indent="0" marL="0">
              <a:buNone/>
            </a:pPr>
            <a:r>
              <a:rPr lang="en-US" sz="2200" b="1" dirty="0">
                <a:solidFill>
                  <a:srgbClr val="0B2A4A"/>
                </a:solidFill>
                <a:latin typeface="Georgia" pitchFamily="34" charset="0"/>
                <a:ea typeface="Georgia" pitchFamily="34" charset="-122"/>
                <a:cs typeface="Georgia" pitchFamily="34" charset="-120"/>
              </a:rPr>
              <a:t>.61</a:t>
            </a:r>
            <a:endParaRPr lang="en-US" sz="2200" dirty="0"/>
          </a:p>
        </p:txBody>
      </p:sp>
      <p:sp>
        <p:nvSpPr>
          <p:cNvPr id="11" name="Text 8"/>
          <p:cNvSpPr/>
          <p:nvPr/>
        </p:nvSpPr>
        <p:spPr>
          <a:xfrm>
            <a:off x="5378425" y="3584448"/>
            <a:ext cx="6246342" cy="237744"/>
          </a:xfrm>
          <a:prstGeom prst="rect">
            <a:avLst/>
          </a:prstGeom>
          <a:noFill/>
          <a:ln/>
        </p:spPr>
        <p:txBody>
          <a:bodyPr wrap="square" lIns="0" tIns="0" rIns="0" bIns="0" rtlCol="0" anchor="t"/>
          <a:lstStyle/>
          <a:p>
            <a:pPr indent="0" marL="0">
              <a:buNone/>
            </a:pPr>
            <a:r>
              <a:rPr lang="en-US" sz="1050" b="1" spc="120" kern="0" dirty="0">
                <a:solidFill>
                  <a:srgbClr val="1F8A97"/>
                </a:solidFill>
                <a:latin typeface="Arial" pitchFamily="34" charset="0"/>
                <a:ea typeface="Arial" pitchFamily="34" charset="-122"/>
                <a:cs typeface="Arial" pitchFamily="34" charset="-120"/>
              </a:rPr>
              <a:t>P VALUE</a:t>
            </a:r>
            <a:endParaRPr lang="en-US" sz="1050" dirty="0"/>
          </a:p>
        </p:txBody>
      </p:sp>
      <p:sp>
        <p:nvSpPr>
          <p:cNvPr id="12" name="Text 9"/>
          <p:cNvSpPr/>
          <p:nvPr/>
        </p:nvSpPr>
        <p:spPr>
          <a:xfrm>
            <a:off x="5378425" y="3845052"/>
            <a:ext cx="6246342" cy="384048"/>
          </a:xfrm>
          <a:prstGeom prst="rect">
            <a:avLst/>
          </a:prstGeom>
          <a:noFill/>
          <a:ln/>
        </p:spPr>
        <p:txBody>
          <a:bodyPr wrap="square" lIns="0" tIns="0" rIns="0" bIns="0" rtlCol="0" anchor="t"/>
          <a:lstStyle/>
          <a:p>
            <a:pPr indent="0" marL="0">
              <a:buNone/>
            </a:pPr>
            <a:r>
              <a:rPr lang="en-US" sz="2200" b="1" dirty="0">
                <a:solidFill>
                  <a:srgbClr val="0B2A4A"/>
                </a:solidFill>
                <a:latin typeface="Georgia" pitchFamily="34" charset="0"/>
                <a:ea typeface="Georgia" pitchFamily="34" charset="-122"/>
                <a:cs typeface="Georgia" pitchFamily="34" charset="-120"/>
              </a:rPr>
              <a:t>61%</a:t>
            </a:r>
            <a:endParaRPr lang="en-US" sz="2200" dirty="0"/>
          </a:p>
        </p:txBody>
      </p:sp>
      <p:sp>
        <p:nvSpPr>
          <p:cNvPr id="13" name="Text 10"/>
          <p:cNvSpPr/>
          <p:nvPr/>
        </p:nvSpPr>
        <p:spPr>
          <a:xfrm>
            <a:off x="5378425" y="4210812"/>
            <a:ext cx="6246342" cy="237744"/>
          </a:xfrm>
          <a:prstGeom prst="rect">
            <a:avLst/>
          </a:prstGeom>
          <a:noFill/>
          <a:ln/>
        </p:spPr>
        <p:txBody>
          <a:bodyPr wrap="square" lIns="0" tIns="0" rIns="0" bIns="0" rtlCol="0" anchor="t"/>
          <a:lstStyle/>
          <a:p>
            <a:pPr indent="0" marL="0">
              <a:buNone/>
            </a:pPr>
            <a:r>
              <a:rPr lang="en-US" sz="1050" b="1" spc="120" kern="0" dirty="0">
                <a:solidFill>
                  <a:srgbClr val="1F8A97"/>
                </a:solidFill>
                <a:latin typeface="Arial" pitchFamily="34" charset="0"/>
                <a:ea typeface="Arial" pitchFamily="34" charset="-122"/>
                <a:cs typeface="Arial" pitchFamily="34" charset="-120"/>
              </a:rPr>
              <a:t>I²</a:t>
            </a:r>
            <a:endParaRPr lang="en-US" sz="1050" dirty="0"/>
          </a:p>
        </p:txBody>
      </p:sp>
      <p:sp>
        <p:nvSpPr>
          <p:cNvPr id="14" name="Text 11"/>
          <p:cNvSpPr/>
          <p:nvPr/>
        </p:nvSpPr>
        <p:spPr>
          <a:xfrm>
            <a:off x="5378425" y="4489704"/>
            <a:ext cx="6246342" cy="457200"/>
          </a:xfrm>
          <a:prstGeom prst="rect">
            <a:avLst/>
          </a:prstGeom>
          <a:noFill/>
          <a:ln/>
        </p:spPr>
        <p:txBody>
          <a:bodyPr wrap="square" lIns="0" tIns="0" rIns="0" bIns="0" rtlCol="0" anchor="ctr"/>
          <a:lstStyle/>
          <a:p>
            <a:pPr indent="0" marL="0">
              <a:lnSpc>
                <a:spcPct val="115000"/>
              </a:lnSpc>
              <a:buNone/>
            </a:pPr>
            <a:r>
              <a:rPr lang="en-US" sz="1050" i="1" dirty="0">
                <a:solidFill>
                  <a:srgbClr val="5B6570"/>
                </a:solidFill>
                <a:latin typeface="Arial" pitchFamily="34" charset="0"/>
                <a:ea typeface="Arial" pitchFamily="34" charset="-122"/>
                <a:cs typeface="Arial" pitchFamily="34" charset="-120"/>
              </a:rPr>
              <a:t>Based on 4 of 6 trials (180 patients).</a:t>
            </a:r>
            <a:endParaRPr lang="en-US" sz="1050" dirty="0"/>
          </a:p>
        </p:txBody>
      </p:sp>
      <p:sp>
        <p:nvSpPr>
          <p:cNvPr id="15" name="Shape 12"/>
          <p:cNvSpPr/>
          <p:nvPr/>
        </p:nvSpPr>
        <p:spPr>
          <a:xfrm>
            <a:off x="566928" y="5230368"/>
            <a:ext cx="11057839" cy="658368"/>
          </a:xfrm>
          <a:prstGeom prst="rect">
            <a:avLst/>
          </a:prstGeom>
          <a:solidFill>
            <a:srgbClr val="EAF4F5"/>
          </a:solidFill>
          <a:ln/>
        </p:spPr>
      </p:sp>
      <p:sp>
        <p:nvSpPr>
          <p:cNvPr id="16" name="Text 13"/>
          <p:cNvSpPr/>
          <p:nvPr/>
        </p:nvSpPr>
        <p:spPr>
          <a:xfrm>
            <a:off x="795528" y="5230368"/>
            <a:ext cx="10600639" cy="658368"/>
          </a:xfrm>
          <a:prstGeom prst="rect">
            <a:avLst/>
          </a:prstGeom>
          <a:noFill/>
          <a:ln/>
        </p:spPr>
        <p:txBody>
          <a:bodyPr wrap="square" lIns="0" tIns="0" rIns="0" bIns="0" rtlCol="0" anchor="ctr"/>
          <a:lstStyle/>
          <a:p>
            <a:pPr indent="0" marL="0">
              <a:lnSpc>
                <a:spcPct val="115000"/>
              </a:lnSpc>
              <a:buNone/>
            </a:pPr>
            <a:r>
              <a:rPr lang="en-US" sz="1300" dirty="0">
                <a:solidFill>
                  <a:srgbClr val="0B2A4A"/>
                </a:solidFill>
                <a:latin typeface="Arial" pitchFamily="34" charset="0"/>
                <a:ea typeface="Arial" pitchFamily="34" charset="-122"/>
                <a:cs typeface="Arial" pitchFamily="34" charset="-120"/>
              </a:rPr>
              <a:t>The confidence interval crosses 1.0 and is wide, spanning both a lower and a much higher risk with cement retention — the pooled result is not statistically significant.</a:t>
            </a:r>
            <a:endParaRPr lang="en-US" sz="1300" dirty="0"/>
          </a:p>
        </p:txBody>
      </p:sp>
      <p:sp>
        <p:nvSpPr>
          <p:cNvPr id="17" name="Text 14"/>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18" name="Text 15"/>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RESULTS · PERI-IMPLANTITIS</a:t>
            </a:r>
            <a:endParaRPr lang="en-US" sz="1300" dirty="0"/>
          </a:p>
        </p:txBody>
      </p:sp>
      <p:sp>
        <p:nvSpPr>
          <p:cNvPr id="3" name="Text 1"/>
          <p:cNvSpPr/>
          <p:nvPr/>
        </p:nvSpPr>
        <p:spPr>
          <a:xfrm>
            <a:off x="566928" y="731520"/>
            <a:ext cx="11057839" cy="118872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Peri-Implantitis Incidence Was Statistically Identical Between Groups</a:t>
            </a:r>
            <a:endParaRPr lang="en-US" sz="3200" dirty="0"/>
          </a:p>
        </p:txBody>
      </p:sp>
      <p:sp>
        <p:nvSpPr>
          <p:cNvPr id="4" name="Text 2"/>
          <p:cNvSpPr/>
          <p:nvPr/>
        </p:nvSpPr>
        <p:spPr>
          <a:xfrm>
            <a:off x="566928" y="2084832"/>
            <a:ext cx="3429000" cy="384048"/>
          </a:xfrm>
          <a:prstGeom prst="rect">
            <a:avLst/>
          </a:prstGeom>
          <a:noFill/>
          <a:ln/>
        </p:spPr>
        <p:txBody>
          <a:bodyPr wrap="square" lIns="0" tIns="0" rIns="0" bIns="0" rtlCol="0" anchor="t"/>
          <a:lstStyle/>
          <a:p>
            <a:pPr indent="0" marL="0">
              <a:buNone/>
            </a:pPr>
            <a:r>
              <a:rPr lang="en-US" sz="2200" b="1" dirty="0">
                <a:solidFill>
                  <a:srgbClr val="0B2A4A"/>
                </a:solidFill>
                <a:latin typeface="Georgia" pitchFamily="34" charset="0"/>
                <a:ea typeface="Georgia" pitchFamily="34" charset="-122"/>
                <a:cs typeface="Georgia" pitchFamily="34" charset="-120"/>
              </a:rPr>
              <a:t>1.00</a:t>
            </a:r>
            <a:endParaRPr lang="en-US" sz="2200" dirty="0"/>
          </a:p>
        </p:txBody>
      </p:sp>
      <p:sp>
        <p:nvSpPr>
          <p:cNvPr id="5" name="Text 3"/>
          <p:cNvSpPr/>
          <p:nvPr/>
        </p:nvSpPr>
        <p:spPr>
          <a:xfrm>
            <a:off x="566928" y="2450592"/>
            <a:ext cx="3429000" cy="237744"/>
          </a:xfrm>
          <a:prstGeom prst="rect">
            <a:avLst/>
          </a:prstGeom>
          <a:noFill/>
          <a:ln/>
        </p:spPr>
        <p:txBody>
          <a:bodyPr wrap="square" lIns="0" tIns="0" rIns="0" bIns="0" rtlCol="0" anchor="t"/>
          <a:lstStyle/>
          <a:p>
            <a:pPr indent="0" marL="0">
              <a:buNone/>
            </a:pPr>
            <a:r>
              <a:rPr lang="en-US" sz="1050" b="1" spc="120" kern="0" dirty="0">
                <a:solidFill>
                  <a:srgbClr val="1F8A97"/>
                </a:solidFill>
                <a:latin typeface="Arial" pitchFamily="34" charset="0"/>
                <a:ea typeface="Arial" pitchFamily="34" charset="-122"/>
                <a:cs typeface="Arial" pitchFamily="34" charset="-120"/>
              </a:rPr>
              <a:t>RR</a:t>
            </a:r>
            <a:endParaRPr lang="en-US" sz="1050" dirty="0"/>
          </a:p>
        </p:txBody>
      </p:sp>
      <p:sp>
        <p:nvSpPr>
          <p:cNvPr id="6" name="Text 4"/>
          <p:cNvSpPr/>
          <p:nvPr/>
        </p:nvSpPr>
        <p:spPr>
          <a:xfrm>
            <a:off x="566928" y="2711196"/>
            <a:ext cx="3429000" cy="384048"/>
          </a:xfrm>
          <a:prstGeom prst="rect">
            <a:avLst/>
          </a:prstGeom>
          <a:noFill/>
          <a:ln/>
        </p:spPr>
        <p:txBody>
          <a:bodyPr wrap="square" lIns="0" tIns="0" rIns="0" bIns="0" rtlCol="0" anchor="t"/>
          <a:lstStyle/>
          <a:p>
            <a:pPr indent="0" marL="0">
              <a:buNone/>
            </a:pPr>
            <a:r>
              <a:rPr lang="en-US" sz="2200" b="1" dirty="0">
                <a:solidFill>
                  <a:srgbClr val="0B2A4A"/>
                </a:solidFill>
                <a:latin typeface="Georgia" pitchFamily="34" charset="0"/>
                <a:ea typeface="Georgia" pitchFamily="34" charset="-122"/>
                <a:cs typeface="Georgia" pitchFamily="34" charset="-120"/>
              </a:rPr>
              <a:t>0.23–4.31</a:t>
            </a:r>
            <a:endParaRPr lang="en-US" sz="2200" dirty="0"/>
          </a:p>
        </p:txBody>
      </p:sp>
      <p:sp>
        <p:nvSpPr>
          <p:cNvPr id="7" name="Text 5"/>
          <p:cNvSpPr/>
          <p:nvPr/>
        </p:nvSpPr>
        <p:spPr>
          <a:xfrm>
            <a:off x="566928" y="3076956"/>
            <a:ext cx="3429000" cy="237744"/>
          </a:xfrm>
          <a:prstGeom prst="rect">
            <a:avLst/>
          </a:prstGeom>
          <a:noFill/>
          <a:ln/>
        </p:spPr>
        <p:txBody>
          <a:bodyPr wrap="square" lIns="0" tIns="0" rIns="0" bIns="0" rtlCol="0" anchor="t"/>
          <a:lstStyle/>
          <a:p>
            <a:pPr indent="0" marL="0">
              <a:buNone/>
            </a:pPr>
            <a:r>
              <a:rPr lang="en-US" sz="1050" b="1" spc="120" kern="0" dirty="0">
                <a:solidFill>
                  <a:srgbClr val="1F8A97"/>
                </a:solidFill>
                <a:latin typeface="Arial" pitchFamily="34" charset="0"/>
                <a:ea typeface="Arial" pitchFamily="34" charset="-122"/>
                <a:cs typeface="Arial" pitchFamily="34" charset="-120"/>
              </a:rPr>
              <a:t>95% CI</a:t>
            </a:r>
            <a:endParaRPr lang="en-US" sz="1050" dirty="0"/>
          </a:p>
        </p:txBody>
      </p:sp>
      <p:sp>
        <p:nvSpPr>
          <p:cNvPr id="8" name="Text 6"/>
          <p:cNvSpPr/>
          <p:nvPr/>
        </p:nvSpPr>
        <p:spPr>
          <a:xfrm>
            <a:off x="566928" y="3337560"/>
            <a:ext cx="3429000" cy="384048"/>
          </a:xfrm>
          <a:prstGeom prst="rect">
            <a:avLst/>
          </a:prstGeom>
          <a:noFill/>
          <a:ln/>
        </p:spPr>
        <p:txBody>
          <a:bodyPr wrap="square" lIns="0" tIns="0" rIns="0" bIns="0" rtlCol="0" anchor="t"/>
          <a:lstStyle/>
          <a:p>
            <a:pPr indent="0" marL="0">
              <a:buNone/>
            </a:pPr>
            <a:r>
              <a:rPr lang="en-US" sz="2200" b="1" dirty="0">
                <a:solidFill>
                  <a:srgbClr val="0B2A4A"/>
                </a:solidFill>
                <a:latin typeface="Georgia" pitchFamily="34" charset="0"/>
                <a:ea typeface="Georgia" pitchFamily="34" charset="-122"/>
                <a:cs typeface="Georgia" pitchFamily="34" charset="-120"/>
              </a:rPr>
              <a:t>&gt;.999</a:t>
            </a:r>
            <a:endParaRPr lang="en-US" sz="2200" dirty="0"/>
          </a:p>
        </p:txBody>
      </p:sp>
      <p:sp>
        <p:nvSpPr>
          <p:cNvPr id="9" name="Text 7"/>
          <p:cNvSpPr/>
          <p:nvPr/>
        </p:nvSpPr>
        <p:spPr>
          <a:xfrm>
            <a:off x="566928" y="3703320"/>
            <a:ext cx="3429000" cy="237744"/>
          </a:xfrm>
          <a:prstGeom prst="rect">
            <a:avLst/>
          </a:prstGeom>
          <a:noFill/>
          <a:ln/>
        </p:spPr>
        <p:txBody>
          <a:bodyPr wrap="square" lIns="0" tIns="0" rIns="0" bIns="0" rtlCol="0" anchor="t"/>
          <a:lstStyle/>
          <a:p>
            <a:pPr indent="0" marL="0">
              <a:buNone/>
            </a:pPr>
            <a:r>
              <a:rPr lang="en-US" sz="1050" b="1" spc="120" kern="0" dirty="0">
                <a:solidFill>
                  <a:srgbClr val="1F8A97"/>
                </a:solidFill>
                <a:latin typeface="Arial" pitchFamily="34" charset="0"/>
                <a:ea typeface="Arial" pitchFamily="34" charset="-122"/>
                <a:cs typeface="Arial" pitchFamily="34" charset="-120"/>
              </a:rPr>
              <a:t>P VALUE</a:t>
            </a:r>
            <a:endParaRPr lang="en-US" sz="1050" dirty="0"/>
          </a:p>
        </p:txBody>
      </p:sp>
      <p:sp>
        <p:nvSpPr>
          <p:cNvPr id="10" name="Text 8"/>
          <p:cNvSpPr/>
          <p:nvPr/>
        </p:nvSpPr>
        <p:spPr>
          <a:xfrm>
            <a:off x="566928" y="3963924"/>
            <a:ext cx="3429000" cy="384048"/>
          </a:xfrm>
          <a:prstGeom prst="rect">
            <a:avLst/>
          </a:prstGeom>
          <a:noFill/>
          <a:ln/>
        </p:spPr>
        <p:txBody>
          <a:bodyPr wrap="square" lIns="0" tIns="0" rIns="0" bIns="0" rtlCol="0" anchor="t"/>
          <a:lstStyle/>
          <a:p>
            <a:pPr indent="0" marL="0">
              <a:buNone/>
            </a:pPr>
            <a:r>
              <a:rPr lang="en-US" sz="2200" b="1" dirty="0">
                <a:solidFill>
                  <a:srgbClr val="0B2A4A"/>
                </a:solidFill>
                <a:latin typeface="Georgia" pitchFamily="34" charset="0"/>
                <a:ea typeface="Georgia" pitchFamily="34" charset="-122"/>
                <a:cs typeface="Georgia" pitchFamily="34" charset="-120"/>
              </a:rPr>
              <a:t>0%</a:t>
            </a:r>
            <a:endParaRPr lang="en-US" sz="2200" dirty="0"/>
          </a:p>
        </p:txBody>
      </p:sp>
      <p:sp>
        <p:nvSpPr>
          <p:cNvPr id="11" name="Text 9"/>
          <p:cNvSpPr/>
          <p:nvPr/>
        </p:nvSpPr>
        <p:spPr>
          <a:xfrm>
            <a:off x="566928" y="4329684"/>
            <a:ext cx="3429000" cy="237744"/>
          </a:xfrm>
          <a:prstGeom prst="rect">
            <a:avLst/>
          </a:prstGeom>
          <a:noFill/>
          <a:ln/>
        </p:spPr>
        <p:txBody>
          <a:bodyPr wrap="square" lIns="0" tIns="0" rIns="0" bIns="0" rtlCol="0" anchor="t"/>
          <a:lstStyle/>
          <a:p>
            <a:pPr indent="0" marL="0">
              <a:buNone/>
            </a:pPr>
            <a:r>
              <a:rPr lang="en-US" sz="1050" b="1" spc="120" kern="0" dirty="0">
                <a:solidFill>
                  <a:srgbClr val="1F8A97"/>
                </a:solidFill>
                <a:latin typeface="Arial" pitchFamily="34" charset="0"/>
                <a:ea typeface="Arial" pitchFamily="34" charset="-122"/>
                <a:cs typeface="Arial" pitchFamily="34" charset="-120"/>
              </a:rPr>
              <a:t>I²</a:t>
            </a:r>
            <a:endParaRPr lang="en-US" sz="1050" dirty="0"/>
          </a:p>
        </p:txBody>
      </p:sp>
      <p:sp>
        <p:nvSpPr>
          <p:cNvPr id="12" name="Text 10"/>
          <p:cNvSpPr/>
          <p:nvPr/>
        </p:nvSpPr>
        <p:spPr>
          <a:xfrm>
            <a:off x="566928" y="4608576"/>
            <a:ext cx="3429000" cy="457200"/>
          </a:xfrm>
          <a:prstGeom prst="rect">
            <a:avLst/>
          </a:prstGeom>
          <a:noFill/>
          <a:ln/>
        </p:spPr>
        <p:txBody>
          <a:bodyPr wrap="square" lIns="0" tIns="0" rIns="0" bIns="0" rtlCol="0" anchor="ctr"/>
          <a:lstStyle/>
          <a:p>
            <a:pPr indent="0" marL="0">
              <a:lnSpc>
                <a:spcPct val="115000"/>
              </a:lnSpc>
              <a:buNone/>
            </a:pPr>
            <a:r>
              <a:rPr lang="en-US" sz="1050" i="1" dirty="0">
                <a:solidFill>
                  <a:srgbClr val="5B6570"/>
                </a:solidFill>
                <a:latin typeface="Arial" pitchFamily="34" charset="0"/>
                <a:ea typeface="Arial" pitchFamily="34" charset="-122"/>
                <a:cs typeface="Arial" pitchFamily="34" charset="-120"/>
              </a:rPr>
              <a:t>Based on 4 of 6 trials (193 patients; 7 total events).</a:t>
            </a:r>
            <a:endParaRPr lang="en-US" sz="1050" dirty="0"/>
          </a:p>
        </p:txBody>
      </p:sp>
      <p:pic>
        <p:nvPicPr>
          <p:cNvPr id="13" name="Image 0" descr="/tmp/claude-0/-home-user-project/d97f94cc-3bb8-5ef5-a091-9ffd884b42b2/scratchpad/fig/forestB.png">    </p:cNvPr>
          <p:cNvPicPr>
            <a:picLocks noChangeAspect="1"/>
          </p:cNvPicPr>
          <p:nvPr/>
        </p:nvPicPr>
        <p:blipFill>
          <a:blip r:embed="rId1"/>
          <a:stretch>
            <a:fillRect/>
          </a:stretch>
        </p:blipFill>
        <p:spPr>
          <a:xfrm>
            <a:off x="5886111" y="2084832"/>
            <a:ext cx="4168514" cy="3200400"/>
          </a:xfrm>
          <a:prstGeom prst="rect">
            <a:avLst/>
          </a:prstGeom>
          <a:effectLst>
            <a:outerShdw sx="100000" sy="100000" kx="0" ky="0" algn="bl" rotWithShape="0" blurRad="101600" dist="38100" dir="5400000">
              <a:srgbClr val="0B2A4A">
                <a:alpha val="18000"/>
              </a:srgbClr>
            </a:outerShdw>
          </a:effectLst>
        </p:spPr>
      </p:pic>
      <p:sp>
        <p:nvSpPr>
          <p:cNvPr id="14" name="Text 11"/>
          <p:cNvSpPr/>
          <p:nvPr/>
        </p:nvSpPr>
        <p:spPr>
          <a:xfrm>
            <a:off x="4315968" y="5358384"/>
            <a:ext cx="7308799" cy="274320"/>
          </a:xfrm>
          <a:prstGeom prst="rect">
            <a:avLst/>
          </a:prstGeom>
          <a:noFill/>
          <a:ln/>
        </p:spPr>
        <p:txBody>
          <a:bodyPr wrap="square" lIns="0" tIns="0" rIns="0" bIns="0" rtlCol="0" anchor="ctr"/>
          <a:lstStyle/>
          <a:p>
            <a:pPr indent="0" marL="0">
              <a:buNone/>
            </a:pPr>
            <a:r>
              <a:rPr lang="en-US" sz="1000" i="1" dirty="0">
                <a:solidFill>
                  <a:srgbClr val="5B6570"/>
                </a:solidFill>
                <a:latin typeface="Arial" pitchFamily="34" charset="0"/>
                <a:ea typeface="Arial" pitchFamily="34" charset="-122"/>
                <a:cs typeface="Arial" pitchFamily="34" charset="-120"/>
              </a:rPr>
              <a:t>Figure reproduced from Reis et al., Figure 3B.</a:t>
            </a:r>
            <a:endParaRPr lang="en-US" sz="1000" dirty="0"/>
          </a:p>
        </p:txBody>
      </p:sp>
      <p:sp>
        <p:nvSpPr>
          <p:cNvPr id="15" name="Shape 12"/>
          <p:cNvSpPr/>
          <p:nvPr/>
        </p:nvSpPr>
        <p:spPr>
          <a:xfrm>
            <a:off x="566928" y="5943600"/>
            <a:ext cx="11057839" cy="530352"/>
          </a:xfrm>
          <a:prstGeom prst="rect">
            <a:avLst/>
          </a:prstGeom>
          <a:solidFill>
            <a:srgbClr val="EAF4F5"/>
          </a:solidFill>
          <a:ln/>
        </p:spPr>
      </p:sp>
      <p:sp>
        <p:nvSpPr>
          <p:cNvPr id="16" name="Text 13"/>
          <p:cNvSpPr/>
          <p:nvPr/>
        </p:nvSpPr>
        <p:spPr>
          <a:xfrm>
            <a:off x="795528" y="5943600"/>
            <a:ext cx="10600639" cy="530352"/>
          </a:xfrm>
          <a:prstGeom prst="rect">
            <a:avLst/>
          </a:prstGeom>
          <a:noFill/>
          <a:ln/>
        </p:spPr>
        <p:txBody>
          <a:bodyPr wrap="square" lIns="0" tIns="0" rIns="0" bIns="0" rtlCol="0" anchor="ctr"/>
          <a:lstStyle/>
          <a:p>
            <a:pPr indent="0" marL="0">
              <a:lnSpc>
                <a:spcPct val="112000"/>
              </a:lnSpc>
              <a:buNone/>
            </a:pPr>
            <a:r>
              <a:rPr lang="en-US" sz="1200" dirty="0">
                <a:solidFill>
                  <a:srgbClr val="0B2A4A"/>
                </a:solidFill>
                <a:latin typeface="Arial" pitchFamily="34" charset="0"/>
                <a:ea typeface="Arial" pitchFamily="34" charset="-122"/>
                <a:cs typeface="Arial" pitchFamily="34" charset="-120"/>
              </a:rPr>
              <a:t>A tidy point estimate (RR = 1.00) with no observed heterogeneity — but built on only 7 disease events total. Very low event counts make this precise-looking number fragile.</a:t>
            </a:r>
            <a:endParaRPr lang="en-US" sz="1200" dirty="0"/>
          </a:p>
        </p:txBody>
      </p:sp>
      <p:sp>
        <p:nvSpPr>
          <p:cNvPr id="17" name="Text 14"/>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18" name="Text 15"/>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9</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INTERPRETATION</a:t>
            </a:r>
            <a:endParaRPr lang="en-US" sz="1300" dirty="0"/>
          </a:p>
        </p:txBody>
      </p:sp>
      <p:sp>
        <p:nvSpPr>
          <p:cNvPr id="3" name="Text 1"/>
          <p:cNvSpPr/>
          <p:nvPr/>
        </p:nvSpPr>
        <p:spPr>
          <a:xfrm>
            <a:off x="566928" y="731520"/>
            <a:ext cx="11057839" cy="91440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Absence of Proof Is Not Proof of Equivalence</a:t>
            </a:r>
            <a:endParaRPr lang="en-US" sz="3200" dirty="0"/>
          </a:p>
        </p:txBody>
      </p:sp>
      <p:sp>
        <p:nvSpPr>
          <p:cNvPr id="4" name="Shape 2"/>
          <p:cNvSpPr/>
          <p:nvPr/>
        </p:nvSpPr>
        <p:spPr>
          <a:xfrm>
            <a:off x="566928" y="1783080"/>
            <a:ext cx="5254600" cy="4160520"/>
          </a:xfrm>
          <a:prstGeom prst="rect">
            <a:avLst/>
          </a:prstGeom>
          <a:solidFill>
            <a:srgbClr val="EAF4F5"/>
          </a:solidFill>
          <a:ln/>
        </p:spPr>
      </p:sp>
      <p:sp>
        <p:nvSpPr>
          <p:cNvPr id="5" name="Text 3"/>
          <p:cNvSpPr/>
          <p:nvPr/>
        </p:nvSpPr>
        <p:spPr>
          <a:xfrm>
            <a:off x="841248" y="2011680"/>
            <a:ext cx="4705960" cy="320040"/>
          </a:xfrm>
          <a:prstGeom prst="rect">
            <a:avLst/>
          </a:prstGeom>
          <a:noFill/>
          <a:ln/>
        </p:spPr>
        <p:txBody>
          <a:bodyPr wrap="square" lIns="0" tIns="0" rIns="0" bIns="0" rtlCol="0" anchor="ctr"/>
          <a:lstStyle/>
          <a:p>
            <a:pPr indent="0" marL="0">
              <a:buNone/>
            </a:pPr>
            <a:r>
              <a:rPr lang="en-US" sz="1250" b="1" spc="120" kern="0" dirty="0">
                <a:solidFill>
                  <a:srgbClr val="1F8A97"/>
                </a:solidFill>
                <a:latin typeface="Arial" pitchFamily="34" charset="0"/>
                <a:ea typeface="Arial" pitchFamily="34" charset="-122"/>
                <a:cs typeface="Arial" pitchFamily="34" charset="-120"/>
              </a:rPr>
              <a:t>WHAT THE EVIDENCE SUPPORTS</a:t>
            </a:r>
            <a:endParaRPr lang="en-US" sz="1250" dirty="0"/>
          </a:p>
        </p:txBody>
      </p:sp>
      <p:sp>
        <p:nvSpPr>
          <p:cNvPr id="6" name="Text 4"/>
          <p:cNvSpPr/>
          <p:nvPr/>
        </p:nvSpPr>
        <p:spPr>
          <a:xfrm>
            <a:off x="841248" y="2313432"/>
            <a:ext cx="4705960" cy="274320"/>
          </a:xfrm>
          <a:prstGeom prst="rect">
            <a:avLst/>
          </a:prstGeom>
          <a:noFill/>
          <a:ln/>
        </p:spPr>
        <p:txBody>
          <a:bodyPr wrap="square" lIns="0" tIns="0" rIns="0" bIns="0" rtlCol="0" anchor="ctr"/>
          <a:lstStyle/>
          <a:p>
            <a:pPr indent="0" marL="0">
              <a:buNone/>
            </a:pPr>
            <a:r>
              <a:rPr lang="en-US" sz="1100" i="1" dirty="0">
                <a:solidFill>
                  <a:srgbClr val="5B6570"/>
                </a:solidFill>
                <a:latin typeface="Arial" pitchFamily="34" charset="0"/>
                <a:ea typeface="Arial" pitchFamily="34" charset="-122"/>
                <a:cs typeface="Arial" pitchFamily="34" charset="-120"/>
              </a:rPr>
              <a:t>Authors’ reported finding</a:t>
            </a:r>
            <a:endParaRPr lang="en-US" sz="1100" dirty="0"/>
          </a:p>
        </p:txBody>
      </p:sp>
      <p:sp>
        <p:nvSpPr>
          <p:cNvPr id="7" name="Text 5"/>
          <p:cNvSpPr/>
          <p:nvPr/>
        </p:nvSpPr>
        <p:spPr>
          <a:xfrm>
            <a:off x="841248" y="2697480"/>
            <a:ext cx="4705960" cy="822960"/>
          </a:xfrm>
          <a:prstGeom prst="rect">
            <a:avLst/>
          </a:prstGeom>
          <a:noFill/>
          <a:ln/>
        </p:spPr>
        <p:txBody>
          <a:bodyPr wrap="square" lIns="0" tIns="0" rIns="0" bIns="0" rtlCol="0" anchor="ctr"/>
          <a:lstStyle/>
          <a:p>
            <a:pPr indent="0" marL="0">
              <a:lnSpc>
                <a:spcPct val="120000"/>
              </a:lnSpc>
              <a:buNone/>
            </a:pPr>
            <a:r>
              <a:rPr lang="en-US" sz="1400" dirty="0">
                <a:solidFill>
                  <a:srgbClr val="0B2A4A"/>
                </a:solidFill>
                <a:latin typeface="Arial" pitchFamily="34" charset="0"/>
                <a:ea typeface="Arial" pitchFamily="34" charset="-122"/>
                <a:cs typeface="Arial" pitchFamily="34" charset="-120"/>
              </a:rPr>
              <a:t>•  No statistically significant difference in mucositis or peri-implantitis incidence between cement- and screw-retained single-unit implant crowns</a:t>
            </a:r>
            <a:endParaRPr lang="en-US" sz="1400" dirty="0"/>
          </a:p>
        </p:txBody>
      </p:sp>
      <p:sp>
        <p:nvSpPr>
          <p:cNvPr id="8" name="Text 6"/>
          <p:cNvSpPr/>
          <p:nvPr/>
        </p:nvSpPr>
        <p:spPr>
          <a:xfrm>
            <a:off x="841248" y="3566160"/>
            <a:ext cx="4705960" cy="822960"/>
          </a:xfrm>
          <a:prstGeom prst="rect">
            <a:avLst/>
          </a:prstGeom>
          <a:noFill/>
          <a:ln/>
        </p:spPr>
        <p:txBody>
          <a:bodyPr wrap="square" lIns="0" tIns="0" rIns="0" bIns="0" rtlCol="0" anchor="ctr"/>
          <a:lstStyle/>
          <a:p>
            <a:pPr indent="0" marL="0">
              <a:lnSpc>
                <a:spcPct val="120000"/>
              </a:lnSpc>
              <a:buNone/>
            </a:pPr>
            <a:r>
              <a:rPr lang="en-US" sz="1400" dirty="0">
                <a:solidFill>
                  <a:srgbClr val="0B2A4A"/>
                </a:solidFill>
                <a:latin typeface="Arial" pitchFamily="34" charset="0"/>
                <a:ea typeface="Arial" pitchFamily="34" charset="-122"/>
                <a:cs typeface="Arial" pitchFamily="34" charset="-120"/>
              </a:rPr>
              <a:t>•  Consistent across the pooled RCT data available</a:t>
            </a:r>
            <a:endParaRPr lang="en-US" sz="1400" dirty="0"/>
          </a:p>
        </p:txBody>
      </p:sp>
      <p:sp>
        <p:nvSpPr>
          <p:cNvPr id="9" name="Text 7"/>
          <p:cNvSpPr/>
          <p:nvPr/>
        </p:nvSpPr>
        <p:spPr>
          <a:xfrm>
            <a:off x="841248" y="4434840"/>
            <a:ext cx="4705960" cy="822960"/>
          </a:xfrm>
          <a:prstGeom prst="rect">
            <a:avLst/>
          </a:prstGeom>
          <a:noFill/>
          <a:ln/>
        </p:spPr>
        <p:txBody>
          <a:bodyPr wrap="square" lIns="0" tIns="0" rIns="0" bIns="0" rtlCol="0" anchor="ctr"/>
          <a:lstStyle/>
          <a:p>
            <a:pPr indent="0" marL="0">
              <a:lnSpc>
                <a:spcPct val="120000"/>
              </a:lnSpc>
              <a:buNone/>
            </a:pPr>
            <a:r>
              <a:rPr lang="en-US" sz="1400" dirty="0">
                <a:solidFill>
                  <a:srgbClr val="0B2A4A"/>
                </a:solidFill>
                <a:latin typeface="Arial" pitchFamily="34" charset="0"/>
                <a:ea typeface="Arial" pitchFamily="34" charset="-122"/>
                <a:cs typeface="Arial" pitchFamily="34" charset="-120"/>
              </a:rPr>
              <a:t>•  Moderate-certainty evidence, per GRADE</a:t>
            </a:r>
            <a:endParaRPr lang="en-US" sz="1400" dirty="0"/>
          </a:p>
        </p:txBody>
      </p:sp>
      <p:sp>
        <p:nvSpPr>
          <p:cNvPr id="10" name="Shape 8"/>
          <p:cNvSpPr/>
          <p:nvPr/>
        </p:nvSpPr>
        <p:spPr>
          <a:xfrm>
            <a:off x="6370168" y="1783080"/>
            <a:ext cx="5254600" cy="4160520"/>
          </a:xfrm>
          <a:prstGeom prst="rect">
            <a:avLst/>
          </a:prstGeom>
          <a:solidFill>
            <a:srgbClr val="F7F9FA"/>
          </a:solidFill>
          <a:ln w="12700">
            <a:solidFill>
              <a:srgbClr val="DEE3E7"/>
            </a:solidFill>
            <a:prstDash val="solid"/>
          </a:ln>
        </p:spPr>
      </p:sp>
      <p:sp>
        <p:nvSpPr>
          <p:cNvPr id="11" name="Text 9"/>
          <p:cNvSpPr/>
          <p:nvPr/>
        </p:nvSpPr>
        <p:spPr>
          <a:xfrm>
            <a:off x="6644488" y="2011680"/>
            <a:ext cx="4705960" cy="320040"/>
          </a:xfrm>
          <a:prstGeom prst="rect">
            <a:avLst/>
          </a:prstGeom>
          <a:noFill/>
          <a:ln/>
        </p:spPr>
        <p:txBody>
          <a:bodyPr wrap="square" lIns="0" tIns="0" rIns="0" bIns="0" rtlCol="0" anchor="ctr"/>
          <a:lstStyle/>
          <a:p>
            <a:pPr indent="0" marL="0">
              <a:buNone/>
            </a:pPr>
            <a:r>
              <a:rPr lang="en-US" sz="1250" b="1" spc="120" kern="0" dirty="0">
                <a:solidFill>
                  <a:srgbClr val="0B2A4A"/>
                </a:solidFill>
                <a:latin typeface="Arial" pitchFamily="34" charset="0"/>
                <a:ea typeface="Arial" pitchFamily="34" charset="-122"/>
                <a:cs typeface="Arial" pitchFamily="34" charset="-120"/>
              </a:rPr>
              <a:t>WHAT IT DOES NOT ESTABLISH</a:t>
            </a:r>
            <a:endParaRPr lang="en-US" sz="1250" dirty="0"/>
          </a:p>
        </p:txBody>
      </p:sp>
      <p:sp>
        <p:nvSpPr>
          <p:cNvPr id="12" name="Text 10"/>
          <p:cNvSpPr/>
          <p:nvPr/>
        </p:nvSpPr>
        <p:spPr>
          <a:xfrm>
            <a:off x="6644488" y="2313432"/>
            <a:ext cx="4705960" cy="274320"/>
          </a:xfrm>
          <a:prstGeom prst="rect">
            <a:avLst/>
          </a:prstGeom>
          <a:noFill/>
          <a:ln/>
        </p:spPr>
        <p:txBody>
          <a:bodyPr wrap="square" lIns="0" tIns="0" rIns="0" bIns="0" rtlCol="0" anchor="ctr"/>
          <a:lstStyle/>
          <a:p>
            <a:pPr indent="0" marL="0">
              <a:buNone/>
            </a:pPr>
            <a:r>
              <a:rPr lang="en-US" sz="1100" i="1" dirty="0">
                <a:solidFill>
                  <a:srgbClr val="5B6570"/>
                </a:solidFill>
                <a:latin typeface="Arial" pitchFamily="34" charset="0"/>
                <a:ea typeface="Arial" pitchFamily="34" charset="-122"/>
                <a:cs typeface="Arial" pitchFamily="34" charset="-120"/>
              </a:rPr>
              <a:t>Presenter’s critical interpretation</a:t>
            </a:r>
            <a:endParaRPr lang="en-US" sz="1100" dirty="0"/>
          </a:p>
        </p:txBody>
      </p:sp>
      <p:sp>
        <p:nvSpPr>
          <p:cNvPr id="13" name="Text 11"/>
          <p:cNvSpPr/>
          <p:nvPr/>
        </p:nvSpPr>
        <p:spPr>
          <a:xfrm>
            <a:off x="6644488" y="2697480"/>
            <a:ext cx="4705960" cy="822960"/>
          </a:xfrm>
          <a:prstGeom prst="rect">
            <a:avLst/>
          </a:prstGeom>
          <a:noFill/>
          <a:ln/>
        </p:spPr>
        <p:txBody>
          <a:bodyPr wrap="square" lIns="0" tIns="0" rIns="0" bIns="0" rtlCol="0" anchor="ctr"/>
          <a:lstStyle/>
          <a:p>
            <a:pPr indent="0" marL="0">
              <a:lnSpc>
                <a:spcPct val="120000"/>
              </a:lnSpc>
              <a:buNone/>
            </a:pPr>
            <a:r>
              <a:rPr lang="en-US" sz="1400" dirty="0">
                <a:solidFill>
                  <a:srgbClr val="2B2E33"/>
                </a:solidFill>
                <a:latin typeface="Arial" pitchFamily="34" charset="0"/>
                <a:ea typeface="Arial" pitchFamily="34" charset="-122"/>
                <a:cs typeface="Arial" pitchFamily="34" charset="-120"/>
              </a:rPr>
              <a:t>•  That the two retention methods carry truly equal risk for every patient or setting</a:t>
            </a:r>
            <a:endParaRPr lang="en-US" sz="1400" dirty="0"/>
          </a:p>
        </p:txBody>
      </p:sp>
      <p:sp>
        <p:nvSpPr>
          <p:cNvPr id="14" name="Text 12"/>
          <p:cNvSpPr/>
          <p:nvPr/>
        </p:nvSpPr>
        <p:spPr>
          <a:xfrm>
            <a:off x="6644488" y="3566160"/>
            <a:ext cx="4705960" cy="822960"/>
          </a:xfrm>
          <a:prstGeom prst="rect">
            <a:avLst/>
          </a:prstGeom>
          <a:noFill/>
          <a:ln/>
        </p:spPr>
        <p:txBody>
          <a:bodyPr wrap="square" lIns="0" tIns="0" rIns="0" bIns="0" rtlCol="0" anchor="ctr"/>
          <a:lstStyle/>
          <a:p>
            <a:pPr indent="0" marL="0">
              <a:lnSpc>
                <a:spcPct val="120000"/>
              </a:lnSpc>
              <a:buNone/>
            </a:pPr>
            <a:r>
              <a:rPr lang="en-US" sz="1400" dirty="0">
                <a:solidFill>
                  <a:srgbClr val="2B2E33"/>
                </a:solidFill>
                <a:latin typeface="Arial" pitchFamily="34" charset="0"/>
                <a:ea typeface="Arial" pitchFamily="34" charset="-122"/>
                <a:cs typeface="Arial" pitchFamily="34" charset="-120"/>
              </a:rPr>
              <a:t>•  Full understanding of mucositis/peri-implantitis risk regardless of cement type, hygiene access, or maintenance</a:t>
            </a:r>
            <a:endParaRPr lang="en-US" sz="1400" dirty="0"/>
          </a:p>
        </p:txBody>
      </p:sp>
      <p:sp>
        <p:nvSpPr>
          <p:cNvPr id="15" name="Text 13"/>
          <p:cNvSpPr/>
          <p:nvPr/>
        </p:nvSpPr>
        <p:spPr>
          <a:xfrm>
            <a:off x="6644488" y="4434840"/>
            <a:ext cx="4705960" cy="822960"/>
          </a:xfrm>
          <a:prstGeom prst="rect">
            <a:avLst/>
          </a:prstGeom>
          <a:noFill/>
          <a:ln/>
        </p:spPr>
        <p:txBody>
          <a:bodyPr wrap="square" lIns="0" tIns="0" rIns="0" bIns="0" rtlCol="0" anchor="ctr"/>
          <a:lstStyle/>
          <a:p>
            <a:pPr indent="0" marL="0">
              <a:lnSpc>
                <a:spcPct val="120000"/>
              </a:lnSpc>
              <a:buNone/>
            </a:pPr>
            <a:r>
              <a:rPr lang="en-US" sz="1400" dirty="0">
                <a:solidFill>
                  <a:srgbClr val="2B2E33"/>
                </a:solidFill>
                <a:latin typeface="Arial" pitchFamily="34" charset="0"/>
                <a:ea typeface="Arial" pitchFamily="34" charset="-122"/>
                <a:cs typeface="Arial" pitchFamily="34" charset="-120"/>
              </a:rPr>
              <a:t>•  Generalizability beyond single-unit crowns, the specific systems tested, and 2–10 year follow-up</a:t>
            </a:r>
            <a:endParaRPr lang="en-US" sz="1400" dirty="0"/>
          </a:p>
        </p:txBody>
      </p:sp>
      <p:sp>
        <p:nvSpPr>
          <p:cNvPr id="16" name="Text 14"/>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17" name="Text 15"/>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10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CRITICAL APPRAISAL</a:t>
            </a:r>
            <a:endParaRPr lang="en-US" sz="1300" dirty="0"/>
          </a:p>
        </p:txBody>
      </p:sp>
      <p:sp>
        <p:nvSpPr>
          <p:cNvPr id="3" name="Text 1"/>
          <p:cNvSpPr/>
          <p:nvPr/>
        </p:nvSpPr>
        <p:spPr>
          <a:xfrm>
            <a:off x="566928" y="731520"/>
            <a:ext cx="11057839" cy="118872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A Rigorous Design Built on a Thin, Uneven Evidence Base</a:t>
            </a:r>
            <a:endParaRPr lang="en-US" sz="3200" dirty="0"/>
          </a:p>
        </p:txBody>
      </p:sp>
      <p:sp>
        <p:nvSpPr>
          <p:cNvPr id="4" name="Text 2"/>
          <p:cNvSpPr/>
          <p:nvPr/>
        </p:nvSpPr>
        <p:spPr>
          <a:xfrm>
            <a:off x="566928" y="2084832"/>
            <a:ext cx="5254600" cy="292608"/>
          </a:xfrm>
          <a:prstGeom prst="rect">
            <a:avLst/>
          </a:prstGeom>
          <a:noFill/>
          <a:ln/>
        </p:spPr>
        <p:txBody>
          <a:bodyPr wrap="square" lIns="0" tIns="0" rIns="0" bIns="0" rtlCol="0" anchor="ctr"/>
          <a:lstStyle/>
          <a:p>
            <a:pPr indent="0" marL="0">
              <a:buNone/>
            </a:pPr>
            <a:r>
              <a:rPr lang="en-US" sz="1300" b="1" spc="150" kern="0" dirty="0">
                <a:solidFill>
                  <a:srgbClr val="1F8A97"/>
                </a:solidFill>
                <a:latin typeface="Arial" pitchFamily="34" charset="0"/>
                <a:ea typeface="Arial" pitchFamily="34" charset="-122"/>
                <a:cs typeface="Arial" pitchFamily="34" charset="-120"/>
              </a:rPr>
              <a:t>STRENGTHS</a:t>
            </a:r>
            <a:endParaRPr lang="en-US" sz="1300" dirty="0"/>
          </a:p>
        </p:txBody>
      </p:sp>
      <p:sp>
        <p:nvSpPr>
          <p:cNvPr id="5" name="Text 3"/>
          <p:cNvSpPr/>
          <p:nvPr/>
        </p:nvSpPr>
        <p:spPr>
          <a:xfrm>
            <a:off x="566928" y="2450592"/>
            <a:ext cx="5254600" cy="548640"/>
          </a:xfrm>
          <a:prstGeom prst="rect">
            <a:avLst/>
          </a:prstGeom>
          <a:noFill/>
          <a:ln/>
        </p:spPr>
        <p:txBody>
          <a:bodyPr wrap="square" lIns="0" tIns="0" rIns="0" bIns="0" rtlCol="0" anchor="ctr"/>
          <a:lstStyle/>
          <a:p>
            <a:pPr indent="0" marL="0">
              <a:lnSpc>
                <a:spcPct val="115000"/>
              </a:lnSpc>
              <a:buNone/>
            </a:pPr>
            <a:r>
              <a:rPr lang="en-US" sz="1350" dirty="0">
                <a:solidFill>
                  <a:srgbClr val="2B2E33"/>
                </a:solidFill>
                <a:latin typeface="Arial" pitchFamily="34" charset="0"/>
                <a:ea typeface="Arial" pitchFamily="34" charset="-122"/>
                <a:cs typeface="Arial" pitchFamily="34" charset="-120"/>
              </a:rPr>
              <a:t>+  PRISMA 2020 reporting + PROSPERO pre-registration</a:t>
            </a:r>
            <a:endParaRPr lang="en-US" sz="1350" dirty="0"/>
          </a:p>
        </p:txBody>
      </p:sp>
      <p:sp>
        <p:nvSpPr>
          <p:cNvPr id="6" name="Text 4"/>
          <p:cNvSpPr/>
          <p:nvPr/>
        </p:nvSpPr>
        <p:spPr>
          <a:xfrm>
            <a:off x="566928" y="3017520"/>
            <a:ext cx="5254600" cy="548640"/>
          </a:xfrm>
          <a:prstGeom prst="rect">
            <a:avLst/>
          </a:prstGeom>
          <a:noFill/>
          <a:ln/>
        </p:spPr>
        <p:txBody>
          <a:bodyPr wrap="square" lIns="0" tIns="0" rIns="0" bIns="0" rtlCol="0" anchor="ctr"/>
          <a:lstStyle/>
          <a:p>
            <a:pPr indent="0" marL="0">
              <a:lnSpc>
                <a:spcPct val="115000"/>
              </a:lnSpc>
              <a:buNone/>
            </a:pPr>
            <a:r>
              <a:rPr lang="en-US" sz="1350" dirty="0">
                <a:solidFill>
                  <a:srgbClr val="2B2E33"/>
                </a:solidFill>
                <a:latin typeface="Arial" pitchFamily="34" charset="0"/>
                <a:ea typeface="Arial" pitchFamily="34" charset="-122"/>
                <a:cs typeface="Arial" pitchFamily="34" charset="-120"/>
              </a:rPr>
              <a:t>+  RCTs only — minimizes confounding vs. observational data</a:t>
            </a:r>
            <a:endParaRPr lang="en-US" sz="1350" dirty="0"/>
          </a:p>
        </p:txBody>
      </p:sp>
      <p:sp>
        <p:nvSpPr>
          <p:cNvPr id="7" name="Text 5"/>
          <p:cNvSpPr/>
          <p:nvPr/>
        </p:nvSpPr>
        <p:spPr>
          <a:xfrm>
            <a:off x="566928" y="3584448"/>
            <a:ext cx="5254600" cy="548640"/>
          </a:xfrm>
          <a:prstGeom prst="rect">
            <a:avLst/>
          </a:prstGeom>
          <a:noFill/>
          <a:ln/>
        </p:spPr>
        <p:txBody>
          <a:bodyPr wrap="square" lIns="0" tIns="0" rIns="0" bIns="0" rtlCol="0" anchor="ctr"/>
          <a:lstStyle/>
          <a:p>
            <a:pPr indent="0" marL="0">
              <a:lnSpc>
                <a:spcPct val="115000"/>
              </a:lnSpc>
              <a:buNone/>
            </a:pPr>
            <a:r>
              <a:rPr lang="en-US" sz="1350" dirty="0">
                <a:solidFill>
                  <a:srgbClr val="2B2E33"/>
                </a:solidFill>
                <a:latin typeface="Arial" pitchFamily="34" charset="0"/>
                <a:ea typeface="Arial" pitchFamily="34" charset="-122"/>
                <a:cs typeface="Arial" pitchFamily="34" charset="-120"/>
              </a:rPr>
              <a:t>+  Prospective follow-up from implant placement (disease-free at baseline)</a:t>
            </a:r>
            <a:endParaRPr lang="en-US" sz="1350" dirty="0"/>
          </a:p>
        </p:txBody>
      </p:sp>
      <p:sp>
        <p:nvSpPr>
          <p:cNvPr id="8" name="Text 6"/>
          <p:cNvSpPr/>
          <p:nvPr/>
        </p:nvSpPr>
        <p:spPr>
          <a:xfrm>
            <a:off x="566928" y="4151376"/>
            <a:ext cx="5254600" cy="548640"/>
          </a:xfrm>
          <a:prstGeom prst="rect">
            <a:avLst/>
          </a:prstGeom>
          <a:noFill/>
          <a:ln/>
        </p:spPr>
        <p:txBody>
          <a:bodyPr wrap="square" lIns="0" tIns="0" rIns="0" bIns="0" rtlCol="0" anchor="ctr"/>
          <a:lstStyle/>
          <a:p>
            <a:pPr indent="0" marL="0">
              <a:lnSpc>
                <a:spcPct val="115000"/>
              </a:lnSpc>
              <a:buNone/>
            </a:pPr>
            <a:r>
              <a:rPr lang="en-US" sz="1350" dirty="0">
                <a:solidFill>
                  <a:srgbClr val="2B2E33"/>
                </a:solidFill>
                <a:latin typeface="Arial" pitchFamily="34" charset="0"/>
                <a:ea typeface="Arial" pitchFamily="34" charset="-122"/>
                <a:cs typeface="Arial" pitchFamily="34" charset="-120"/>
              </a:rPr>
              <a:t>+  Both retention types evaluated within the same trials</a:t>
            </a:r>
            <a:endParaRPr lang="en-US" sz="1350" dirty="0"/>
          </a:p>
        </p:txBody>
      </p:sp>
      <p:sp>
        <p:nvSpPr>
          <p:cNvPr id="9" name="Text 7"/>
          <p:cNvSpPr/>
          <p:nvPr/>
        </p:nvSpPr>
        <p:spPr>
          <a:xfrm>
            <a:off x="566928" y="4718304"/>
            <a:ext cx="5254600" cy="548640"/>
          </a:xfrm>
          <a:prstGeom prst="rect">
            <a:avLst/>
          </a:prstGeom>
          <a:noFill/>
          <a:ln/>
        </p:spPr>
        <p:txBody>
          <a:bodyPr wrap="square" lIns="0" tIns="0" rIns="0" bIns="0" rtlCol="0" anchor="ctr"/>
          <a:lstStyle/>
          <a:p>
            <a:pPr indent="0" marL="0">
              <a:lnSpc>
                <a:spcPct val="115000"/>
              </a:lnSpc>
              <a:buNone/>
            </a:pPr>
            <a:r>
              <a:rPr lang="en-US" sz="1350" dirty="0">
                <a:solidFill>
                  <a:srgbClr val="2B2E33"/>
                </a:solidFill>
                <a:latin typeface="Arial" pitchFamily="34" charset="0"/>
                <a:ea typeface="Arial" pitchFamily="34" charset="-122"/>
                <a:cs typeface="Arial" pitchFamily="34" charset="-120"/>
              </a:rPr>
              <a:t>+  Duplicate independent screening/extraction, good–excellent kappa</a:t>
            </a:r>
            <a:endParaRPr lang="en-US" sz="1350" dirty="0"/>
          </a:p>
        </p:txBody>
      </p:sp>
      <p:sp>
        <p:nvSpPr>
          <p:cNvPr id="10" name="Text 8"/>
          <p:cNvSpPr/>
          <p:nvPr/>
        </p:nvSpPr>
        <p:spPr>
          <a:xfrm>
            <a:off x="6370168" y="2084832"/>
            <a:ext cx="5254600" cy="292608"/>
          </a:xfrm>
          <a:prstGeom prst="rect">
            <a:avLst/>
          </a:prstGeom>
          <a:noFill/>
          <a:ln/>
        </p:spPr>
        <p:txBody>
          <a:bodyPr wrap="square" lIns="0" tIns="0" rIns="0" bIns="0" rtlCol="0" anchor="ctr"/>
          <a:lstStyle/>
          <a:p>
            <a:pPr indent="0" marL="0">
              <a:buNone/>
            </a:pPr>
            <a:r>
              <a:rPr lang="en-US" sz="1300" b="1" spc="150" kern="0" dirty="0">
                <a:solidFill>
                  <a:srgbClr val="A85B1E"/>
                </a:solidFill>
                <a:latin typeface="Arial" pitchFamily="34" charset="0"/>
                <a:ea typeface="Arial" pitchFamily="34" charset="-122"/>
                <a:cs typeface="Arial" pitchFamily="34" charset="-120"/>
              </a:rPr>
              <a:t>LIMITATIONS</a:t>
            </a:r>
            <a:endParaRPr lang="en-US" sz="1300" dirty="0"/>
          </a:p>
        </p:txBody>
      </p:sp>
      <p:sp>
        <p:nvSpPr>
          <p:cNvPr id="11" name="Text 9"/>
          <p:cNvSpPr/>
          <p:nvPr/>
        </p:nvSpPr>
        <p:spPr>
          <a:xfrm>
            <a:off x="6370168" y="2450592"/>
            <a:ext cx="5254600" cy="402336"/>
          </a:xfrm>
          <a:prstGeom prst="rect">
            <a:avLst/>
          </a:prstGeom>
          <a:noFill/>
          <a:ln/>
        </p:spPr>
        <p:txBody>
          <a:bodyPr wrap="square" lIns="0" tIns="0" rIns="0" bIns="0" rtlCol="0" anchor="ctr"/>
          <a:lstStyle/>
          <a:p>
            <a:pPr indent="0" marL="0">
              <a:lnSpc>
                <a:spcPct val="110000"/>
              </a:lnSpc>
              <a:buNone/>
            </a:pPr>
            <a:r>
              <a:rPr lang="en-US" sz="1350" dirty="0">
                <a:solidFill>
                  <a:srgbClr val="2B2E33"/>
                </a:solidFill>
                <a:latin typeface="Arial" pitchFamily="34" charset="0"/>
                <a:ea typeface="Arial" pitchFamily="34" charset="-122"/>
                <a:cs typeface="Arial" pitchFamily="34" charset="-120"/>
              </a:rPr>
              <a:t>−  Only 6 RCTs; just 4 of 6 contributed to each outcome</a:t>
            </a:r>
            <a:endParaRPr lang="en-US" sz="1350" dirty="0"/>
          </a:p>
        </p:txBody>
      </p:sp>
      <p:sp>
        <p:nvSpPr>
          <p:cNvPr id="12" name="Text 10"/>
          <p:cNvSpPr/>
          <p:nvPr/>
        </p:nvSpPr>
        <p:spPr>
          <a:xfrm>
            <a:off x="6370168" y="2852928"/>
            <a:ext cx="5254600" cy="402336"/>
          </a:xfrm>
          <a:prstGeom prst="rect">
            <a:avLst/>
          </a:prstGeom>
          <a:noFill/>
          <a:ln/>
        </p:spPr>
        <p:txBody>
          <a:bodyPr wrap="square" lIns="0" tIns="0" rIns="0" bIns="0" rtlCol="0" anchor="ctr"/>
          <a:lstStyle/>
          <a:p>
            <a:pPr indent="0" marL="0">
              <a:lnSpc>
                <a:spcPct val="110000"/>
              </a:lnSpc>
              <a:buNone/>
            </a:pPr>
            <a:r>
              <a:rPr lang="en-US" sz="1350" dirty="0">
                <a:solidFill>
                  <a:srgbClr val="2B2E33"/>
                </a:solidFill>
                <a:latin typeface="Arial" pitchFamily="34" charset="0"/>
                <a:ea typeface="Arial" pitchFamily="34" charset="-122"/>
                <a:cs typeface="Arial" pitchFamily="34" charset="-120"/>
              </a:rPr>
              <a:t>−  Small samples, few disease events → imprecise estimates</a:t>
            </a:r>
            <a:endParaRPr lang="en-US" sz="1350" dirty="0"/>
          </a:p>
        </p:txBody>
      </p:sp>
      <p:sp>
        <p:nvSpPr>
          <p:cNvPr id="13" name="Text 11"/>
          <p:cNvSpPr/>
          <p:nvPr/>
        </p:nvSpPr>
        <p:spPr>
          <a:xfrm>
            <a:off x="6370168" y="3255264"/>
            <a:ext cx="5254600" cy="402336"/>
          </a:xfrm>
          <a:prstGeom prst="rect">
            <a:avLst/>
          </a:prstGeom>
          <a:noFill/>
          <a:ln/>
        </p:spPr>
        <p:txBody>
          <a:bodyPr wrap="square" lIns="0" tIns="0" rIns="0" bIns="0" rtlCol="0" anchor="ctr"/>
          <a:lstStyle/>
          <a:p>
            <a:pPr indent="0" marL="0">
              <a:lnSpc>
                <a:spcPct val="110000"/>
              </a:lnSpc>
              <a:buNone/>
            </a:pPr>
            <a:r>
              <a:rPr lang="en-US" sz="1350" dirty="0">
                <a:solidFill>
                  <a:srgbClr val="2B2E33"/>
                </a:solidFill>
                <a:latin typeface="Arial" pitchFamily="34" charset="0"/>
                <a:ea typeface="Arial" pitchFamily="34" charset="-122"/>
                <a:cs typeface="Arial" pitchFamily="34" charset="-120"/>
              </a:rPr>
              <a:t>−  Wide, overlapping confidence intervals</a:t>
            </a:r>
            <a:endParaRPr lang="en-US" sz="1350" dirty="0"/>
          </a:p>
        </p:txBody>
      </p:sp>
      <p:sp>
        <p:nvSpPr>
          <p:cNvPr id="14" name="Text 12"/>
          <p:cNvSpPr/>
          <p:nvPr/>
        </p:nvSpPr>
        <p:spPr>
          <a:xfrm>
            <a:off x="6370168" y="3657600"/>
            <a:ext cx="5254600" cy="402336"/>
          </a:xfrm>
          <a:prstGeom prst="rect">
            <a:avLst/>
          </a:prstGeom>
          <a:noFill/>
          <a:ln/>
        </p:spPr>
        <p:txBody>
          <a:bodyPr wrap="square" lIns="0" tIns="0" rIns="0" bIns="0" rtlCol="0" anchor="ctr"/>
          <a:lstStyle/>
          <a:p>
            <a:pPr indent="0" marL="0">
              <a:lnSpc>
                <a:spcPct val="110000"/>
              </a:lnSpc>
              <a:buNone/>
            </a:pPr>
            <a:r>
              <a:rPr lang="en-US" sz="1350" dirty="0">
                <a:solidFill>
                  <a:srgbClr val="2B2E33"/>
                </a:solidFill>
                <a:latin typeface="Arial" pitchFamily="34" charset="0"/>
                <a:ea typeface="Arial" pitchFamily="34" charset="-122"/>
                <a:cs typeface="Arial" pitchFamily="34" charset="-120"/>
              </a:rPr>
              <a:t>−  3 of 6 trials did not report a definition of mucositis/peri-implantitis at all</a:t>
            </a:r>
            <a:endParaRPr lang="en-US" sz="1350" dirty="0"/>
          </a:p>
        </p:txBody>
      </p:sp>
      <p:sp>
        <p:nvSpPr>
          <p:cNvPr id="15" name="Text 13"/>
          <p:cNvSpPr/>
          <p:nvPr/>
        </p:nvSpPr>
        <p:spPr>
          <a:xfrm>
            <a:off x="6370168" y="4059936"/>
            <a:ext cx="5254600" cy="402336"/>
          </a:xfrm>
          <a:prstGeom prst="rect">
            <a:avLst/>
          </a:prstGeom>
          <a:noFill/>
          <a:ln/>
        </p:spPr>
        <p:txBody>
          <a:bodyPr wrap="square" lIns="0" tIns="0" rIns="0" bIns="0" rtlCol="0" anchor="ctr"/>
          <a:lstStyle/>
          <a:p>
            <a:pPr indent="0" marL="0">
              <a:lnSpc>
                <a:spcPct val="110000"/>
              </a:lnSpc>
              <a:buNone/>
            </a:pPr>
            <a:r>
              <a:rPr lang="en-US" sz="1350" dirty="0">
                <a:solidFill>
                  <a:srgbClr val="2B2E33"/>
                </a:solidFill>
                <a:latin typeface="Arial" pitchFamily="34" charset="0"/>
                <a:ea typeface="Arial" pitchFamily="34" charset="-122"/>
                <a:cs typeface="Arial" pitchFamily="34" charset="-120"/>
              </a:rPr>
              <a:t>−  Marked heterogeneity in implants, abutments, cements</a:t>
            </a:r>
            <a:endParaRPr lang="en-US" sz="1350" dirty="0"/>
          </a:p>
        </p:txBody>
      </p:sp>
      <p:sp>
        <p:nvSpPr>
          <p:cNvPr id="16" name="Text 14"/>
          <p:cNvSpPr/>
          <p:nvPr/>
        </p:nvSpPr>
        <p:spPr>
          <a:xfrm>
            <a:off x="6370168" y="4462272"/>
            <a:ext cx="5254600" cy="402336"/>
          </a:xfrm>
          <a:prstGeom prst="rect">
            <a:avLst/>
          </a:prstGeom>
          <a:noFill/>
          <a:ln/>
        </p:spPr>
        <p:txBody>
          <a:bodyPr wrap="square" lIns="0" tIns="0" rIns="0" bIns="0" rtlCol="0" anchor="ctr"/>
          <a:lstStyle/>
          <a:p>
            <a:pPr indent="0" marL="0">
              <a:lnSpc>
                <a:spcPct val="110000"/>
              </a:lnSpc>
              <a:buNone/>
            </a:pPr>
            <a:r>
              <a:rPr lang="en-US" sz="1350" dirty="0">
                <a:solidFill>
                  <a:srgbClr val="2B2E33"/>
                </a:solidFill>
                <a:latin typeface="Arial" pitchFamily="34" charset="0"/>
                <a:ea typeface="Arial" pitchFamily="34" charset="-122"/>
                <a:cs typeface="Arial" pitchFamily="34" charset="-120"/>
              </a:rPr>
              <a:t>−  Unequal cement- vs. screw-group sizes in some trials</a:t>
            </a:r>
            <a:endParaRPr lang="en-US" sz="1350" dirty="0"/>
          </a:p>
        </p:txBody>
      </p:sp>
      <p:sp>
        <p:nvSpPr>
          <p:cNvPr id="17" name="Text 15"/>
          <p:cNvSpPr/>
          <p:nvPr/>
        </p:nvSpPr>
        <p:spPr>
          <a:xfrm>
            <a:off x="6370168" y="4864608"/>
            <a:ext cx="5254600" cy="402336"/>
          </a:xfrm>
          <a:prstGeom prst="rect">
            <a:avLst/>
          </a:prstGeom>
          <a:noFill/>
          <a:ln/>
        </p:spPr>
        <p:txBody>
          <a:bodyPr wrap="square" lIns="0" tIns="0" rIns="0" bIns="0" rtlCol="0" anchor="ctr"/>
          <a:lstStyle/>
          <a:p>
            <a:pPr indent="0" marL="0">
              <a:lnSpc>
                <a:spcPct val="110000"/>
              </a:lnSpc>
              <a:buNone/>
            </a:pPr>
            <a:r>
              <a:rPr lang="en-US" sz="1350" dirty="0">
                <a:solidFill>
                  <a:srgbClr val="2B2E33"/>
                </a:solidFill>
                <a:latin typeface="Arial" pitchFamily="34" charset="0"/>
                <a:ea typeface="Arial" pitchFamily="34" charset="-122"/>
                <a:cs typeface="Arial" pitchFamily="34" charset="-120"/>
              </a:rPr>
              <a:t>−  RoB 2 “some concerns” in every trial</a:t>
            </a:r>
            <a:endParaRPr lang="en-US" sz="1350" dirty="0"/>
          </a:p>
        </p:txBody>
      </p:sp>
      <p:sp>
        <p:nvSpPr>
          <p:cNvPr id="18" name="Text 16"/>
          <p:cNvSpPr/>
          <p:nvPr/>
        </p:nvSpPr>
        <p:spPr>
          <a:xfrm>
            <a:off x="6370168" y="5266944"/>
            <a:ext cx="5254600" cy="402336"/>
          </a:xfrm>
          <a:prstGeom prst="rect">
            <a:avLst/>
          </a:prstGeom>
          <a:noFill/>
          <a:ln/>
        </p:spPr>
        <p:txBody>
          <a:bodyPr wrap="square" lIns="0" tIns="0" rIns="0" bIns="0" rtlCol="0" anchor="ctr"/>
          <a:lstStyle/>
          <a:p>
            <a:pPr indent="0" marL="0">
              <a:lnSpc>
                <a:spcPct val="110000"/>
              </a:lnSpc>
              <a:buNone/>
            </a:pPr>
            <a:r>
              <a:rPr lang="en-US" sz="1350" dirty="0">
                <a:solidFill>
                  <a:srgbClr val="2B2E33"/>
                </a:solidFill>
                <a:latin typeface="Arial" pitchFamily="34" charset="0"/>
                <a:ea typeface="Arial" pitchFamily="34" charset="-122"/>
                <a:cs typeface="Arial" pitchFamily="34" charset="-120"/>
              </a:rPr>
              <a:t>−  Older trials (enrollment 2000s–2010s) predate some contemporary workflows</a:t>
            </a:r>
            <a:endParaRPr lang="en-US" sz="1350" dirty="0"/>
          </a:p>
        </p:txBody>
      </p:sp>
      <p:sp>
        <p:nvSpPr>
          <p:cNvPr id="19" name="Text 17"/>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20" name="Text 18"/>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11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CLINICAL IMPLICATIONS</a:t>
            </a:r>
            <a:endParaRPr lang="en-US" sz="1300" dirty="0"/>
          </a:p>
        </p:txBody>
      </p:sp>
      <p:sp>
        <p:nvSpPr>
          <p:cNvPr id="3" name="Text 1"/>
          <p:cNvSpPr/>
          <p:nvPr/>
        </p:nvSpPr>
        <p:spPr>
          <a:xfrm>
            <a:off x="566928" y="731520"/>
            <a:ext cx="9692640" cy="91440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Retention Choice Still Rests on the Whole Clinical Picture</a:t>
            </a:r>
            <a:endParaRPr lang="en-US" sz="3200" dirty="0"/>
          </a:p>
        </p:txBody>
      </p:sp>
      <p:sp>
        <p:nvSpPr>
          <p:cNvPr id="4" name="Shape 2"/>
          <p:cNvSpPr/>
          <p:nvPr/>
        </p:nvSpPr>
        <p:spPr>
          <a:xfrm>
            <a:off x="566928" y="1837944"/>
            <a:ext cx="365760" cy="365760"/>
          </a:xfrm>
          <a:prstGeom prst="ellipse">
            <a:avLst/>
          </a:prstGeom>
          <a:solidFill>
            <a:srgbClr val="EAF4F5"/>
          </a:solidFill>
          <a:ln w="12700">
            <a:solidFill>
              <a:srgbClr val="1F8A97"/>
            </a:solidFill>
            <a:prstDash val="solid"/>
          </a:ln>
        </p:spPr>
      </p:sp>
      <p:sp>
        <p:nvSpPr>
          <p:cNvPr id="5" name="Text 3"/>
          <p:cNvSpPr/>
          <p:nvPr/>
        </p:nvSpPr>
        <p:spPr>
          <a:xfrm>
            <a:off x="566928" y="1837944"/>
            <a:ext cx="365760" cy="365760"/>
          </a:xfrm>
          <a:prstGeom prst="rect">
            <a:avLst/>
          </a:prstGeom>
          <a:noFill/>
          <a:ln/>
        </p:spPr>
        <p:txBody>
          <a:bodyPr wrap="square" lIns="0" tIns="0" rIns="0" bIns="0" rtlCol="0" anchor="ctr"/>
          <a:lstStyle/>
          <a:p>
            <a:pPr algn="ctr" indent="0" marL="0">
              <a:buNone/>
            </a:pPr>
            <a:r>
              <a:rPr lang="en-US" sz="1300" b="1" dirty="0">
                <a:solidFill>
                  <a:srgbClr val="1F8A97"/>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069848" y="1783080"/>
            <a:ext cx="4797400" cy="292608"/>
          </a:xfrm>
          <a:prstGeom prst="rect">
            <a:avLst/>
          </a:prstGeom>
          <a:noFill/>
          <a:ln/>
        </p:spPr>
        <p:txBody>
          <a:bodyPr wrap="square" lIns="0" tIns="0" rIns="0" bIns="0" rtlCol="0" anchor="ctr"/>
          <a:lstStyle/>
          <a:p>
            <a:pPr indent="0" marL="0">
              <a:buNone/>
            </a:pPr>
            <a:r>
              <a:rPr lang="en-US" sz="1450" b="1" dirty="0">
                <a:solidFill>
                  <a:srgbClr val="0B2A4A"/>
                </a:solidFill>
                <a:latin typeface="Arial" pitchFamily="34" charset="0"/>
                <a:ea typeface="Arial" pitchFamily="34" charset="-122"/>
                <a:cs typeface="Arial" pitchFamily="34" charset="-120"/>
              </a:rPr>
              <a:t>Retrievability</a:t>
            </a:r>
            <a:endParaRPr lang="en-US" sz="1450" dirty="0"/>
          </a:p>
        </p:txBody>
      </p:sp>
      <p:sp>
        <p:nvSpPr>
          <p:cNvPr id="7" name="Text 5"/>
          <p:cNvSpPr/>
          <p:nvPr/>
        </p:nvSpPr>
        <p:spPr>
          <a:xfrm>
            <a:off x="1069848" y="2075688"/>
            <a:ext cx="4797400" cy="420624"/>
          </a:xfrm>
          <a:prstGeom prst="rect">
            <a:avLst/>
          </a:prstGeom>
          <a:noFill/>
          <a:ln/>
        </p:spPr>
        <p:txBody>
          <a:bodyPr wrap="square" lIns="0" tIns="0" rIns="0" bIns="0" rtlCol="0" anchor="ctr"/>
          <a:lstStyle/>
          <a:p>
            <a:pPr indent="0" marL="0">
              <a:lnSpc>
                <a:spcPct val="110000"/>
              </a:lnSpc>
              <a:buNone/>
            </a:pPr>
            <a:r>
              <a:rPr lang="en-US" sz="1150" dirty="0">
                <a:solidFill>
                  <a:srgbClr val="5B6570"/>
                </a:solidFill>
                <a:latin typeface="Arial" pitchFamily="34" charset="0"/>
                <a:ea typeface="Arial" pitchFamily="34" charset="-122"/>
                <a:cs typeface="Arial" pitchFamily="34" charset="-120"/>
              </a:rPr>
              <a:t>For maintenance, repair, or peri-implant therapy</a:t>
            </a:r>
            <a:endParaRPr lang="en-US" sz="1150" dirty="0"/>
          </a:p>
        </p:txBody>
      </p:sp>
      <p:sp>
        <p:nvSpPr>
          <p:cNvPr id="8" name="Shape 6"/>
          <p:cNvSpPr/>
          <p:nvPr/>
        </p:nvSpPr>
        <p:spPr>
          <a:xfrm>
            <a:off x="566928" y="2624328"/>
            <a:ext cx="365760" cy="365760"/>
          </a:xfrm>
          <a:prstGeom prst="ellipse">
            <a:avLst/>
          </a:prstGeom>
          <a:solidFill>
            <a:srgbClr val="EAF4F5"/>
          </a:solidFill>
          <a:ln w="12700">
            <a:solidFill>
              <a:srgbClr val="1F8A97"/>
            </a:solidFill>
            <a:prstDash val="solid"/>
          </a:ln>
        </p:spPr>
      </p:sp>
      <p:sp>
        <p:nvSpPr>
          <p:cNvPr id="9" name="Text 7"/>
          <p:cNvSpPr/>
          <p:nvPr/>
        </p:nvSpPr>
        <p:spPr>
          <a:xfrm>
            <a:off x="566928" y="2624328"/>
            <a:ext cx="365760" cy="365760"/>
          </a:xfrm>
          <a:prstGeom prst="rect">
            <a:avLst/>
          </a:prstGeom>
          <a:noFill/>
          <a:ln/>
        </p:spPr>
        <p:txBody>
          <a:bodyPr wrap="square" lIns="0" tIns="0" rIns="0" bIns="0" rtlCol="0" anchor="ctr"/>
          <a:lstStyle/>
          <a:p>
            <a:pPr algn="ctr" indent="0" marL="0">
              <a:buNone/>
            </a:pPr>
            <a:r>
              <a:rPr lang="en-US" sz="1300" b="1" dirty="0">
                <a:solidFill>
                  <a:srgbClr val="1F8A97"/>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069848" y="2569464"/>
            <a:ext cx="4797400" cy="292608"/>
          </a:xfrm>
          <a:prstGeom prst="rect">
            <a:avLst/>
          </a:prstGeom>
          <a:noFill/>
          <a:ln/>
        </p:spPr>
        <p:txBody>
          <a:bodyPr wrap="square" lIns="0" tIns="0" rIns="0" bIns="0" rtlCol="0" anchor="ctr"/>
          <a:lstStyle/>
          <a:p>
            <a:pPr indent="0" marL="0">
              <a:buNone/>
            </a:pPr>
            <a:r>
              <a:rPr lang="en-US" sz="1450" b="1" dirty="0">
                <a:solidFill>
                  <a:srgbClr val="0B2A4A"/>
                </a:solidFill>
                <a:latin typeface="Arial" pitchFamily="34" charset="0"/>
                <a:ea typeface="Arial" pitchFamily="34" charset="-122"/>
                <a:cs typeface="Arial" pitchFamily="34" charset="-120"/>
              </a:rPr>
              <a:t>Prosthetic space</a:t>
            </a:r>
            <a:endParaRPr lang="en-US" sz="1450" dirty="0"/>
          </a:p>
        </p:txBody>
      </p:sp>
      <p:sp>
        <p:nvSpPr>
          <p:cNvPr id="11" name="Text 9"/>
          <p:cNvSpPr/>
          <p:nvPr/>
        </p:nvSpPr>
        <p:spPr>
          <a:xfrm>
            <a:off x="1069848" y="2862072"/>
            <a:ext cx="4797400" cy="420624"/>
          </a:xfrm>
          <a:prstGeom prst="rect">
            <a:avLst/>
          </a:prstGeom>
          <a:noFill/>
          <a:ln/>
        </p:spPr>
        <p:txBody>
          <a:bodyPr wrap="square" lIns="0" tIns="0" rIns="0" bIns="0" rtlCol="0" anchor="ctr"/>
          <a:lstStyle/>
          <a:p>
            <a:pPr indent="0" marL="0">
              <a:lnSpc>
                <a:spcPct val="110000"/>
              </a:lnSpc>
              <a:buNone/>
            </a:pPr>
            <a:r>
              <a:rPr lang="en-US" sz="1150" dirty="0">
                <a:solidFill>
                  <a:srgbClr val="5B6570"/>
                </a:solidFill>
                <a:latin typeface="Arial" pitchFamily="34" charset="0"/>
                <a:ea typeface="Arial" pitchFamily="34" charset="-122"/>
                <a:cs typeface="Arial" pitchFamily="34" charset="-120"/>
              </a:rPr>
              <a:t>Interocclusal space and screw-access position</a:t>
            </a:r>
            <a:endParaRPr lang="en-US" sz="1150" dirty="0"/>
          </a:p>
        </p:txBody>
      </p:sp>
      <p:sp>
        <p:nvSpPr>
          <p:cNvPr id="12" name="Shape 10"/>
          <p:cNvSpPr/>
          <p:nvPr/>
        </p:nvSpPr>
        <p:spPr>
          <a:xfrm>
            <a:off x="566928" y="3410712"/>
            <a:ext cx="365760" cy="365760"/>
          </a:xfrm>
          <a:prstGeom prst="ellipse">
            <a:avLst/>
          </a:prstGeom>
          <a:solidFill>
            <a:srgbClr val="EAF4F5"/>
          </a:solidFill>
          <a:ln w="12700">
            <a:solidFill>
              <a:srgbClr val="1F8A97"/>
            </a:solidFill>
            <a:prstDash val="solid"/>
          </a:ln>
        </p:spPr>
      </p:sp>
      <p:sp>
        <p:nvSpPr>
          <p:cNvPr id="13" name="Text 11"/>
          <p:cNvSpPr/>
          <p:nvPr/>
        </p:nvSpPr>
        <p:spPr>
          <a:xfrm>
            <a:off x="566928" y="3410712"/>
            <a:ext cx="365760" cy="365760"/>
          </a:xfrm>
          <a:prstGeom prst="rect">
            <a:avLst/>
          </a:prstGeom>
          <a:noFill/>
          <a:ln/>
        </p:spPr>
        <p:txBody>
          <a:bodyPr wrap="square" lIns="0" tIns="0" rIns="0" bIns="0" rtlCol="0" anchor="ctr"/>
          <a:lstStyle/>
          <a:p>
            <a:pPr algn="ctr" indent="0" marL="0">
              <a:buNone/>
            </a:pPr>
            <a:r>
              <a:rPr lang="en-US" sz="1300" b="1" dirty="0">
                <a:solidFill>
                  <a:srgbClr val="1F8A97"/>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069848" y="3355848"/>
            <a:ext cx="4797400" cy="292608"/>
          </a:xfrm>
          <a:prstGeom prst="rect">
            <a:avLst/>
          </a:prstGeom>
          <a:noFill/>
          <a:ln/>
        </p:spPr>
        <p:txBody>
          <a:bodyPr wrap="square" lIns="0" tIns="0" rIns="0" bIns="0" rtlCol="0" anchor="ctr"/>
          <a:lstStyle/>
          <a:p>
            <a:pPr indent="0" marL="0">
              <a:buNone/>
            </a:pPr>
            <a:r>
              <a:rPr lang="en-US" sz="1450" b="1" dirty="0">
                <a:solidFill>
                  <a:srgbClr val="0B2A4A"/>
                </a:solidFill>
                <a:latin typeface="Arial" pitchFamily="34" charset="0"/>
                <a:ea typeface="Arial" pitchFamily="34" charset="-122"/>
                <a:cs typeface="Arial" pitchFamily="34" charset="-120"/>
              </a:rPr>
              <a:t>Implant angulation</a:t>
            </a:r>
            <a:endParaRPr lang="en-US" sz="1450" dirty="0"/>
          </a:p>
        </p:txBody>
      </p:sp>
      <p:sp>
        <p:nvSpPr>
          <p:cNvPr id="15" name="Text 13"/>
          <p:cNvSpPr/>
          <p:nvPr/>
        </p:nvSpPr>
        <p:spPr>
          <a:xfrm>
            <a:off x="1069848" y="3648456"/>
            <a:ext cx="4797400" cy="420624"/>
          </a:xfrm>
          <a:prstGeom prst="rect">
            <a:avLst/>
          </a:prstGeom>
          <a:noFill/>
          <a:ln/>
        </p:spPr>
        <p:txBody>
          <a:bodyPr wrap="square" lIns="0" tIns="0" rIns="0" bIns="0" rtlCol="0" anchor="ctr"/>
          <a:lstStyle/>
          <a:p>
            <a:pPr indent="0" marL="0">
              <a:lnSpc>
                <a:spcPct val="110000"/>
              </a:lnSpc>
              <a:buNone/>
            </a:pPr>
            <a:r>
              <a:rPr lang="en-US" sz="1150" dirty="0">
                <a:solidFill>
                  <a:srgbClr val="5B6570"/>
                </a:solidFill>
                <a:latin typeface="Arial" pitchFamily="34" charset="0"/>
                <a:ea typeface="Arial" pitchFamily="34" charset="-122"/>
                <a:cs typeface="Arial" pitchFamily="34" charset="-120"/>
              </a:rPr>
              <a:t>May dictate whether a screw channel is usable</a:t>
            </a:r>
            <a:endParaRPr lang="en-US" sz="1150" dirty="0"/>
          </a:p>
        </p:txBody>
      </p:sp>
      <p:sp>
        <p:nvSpPr>
          <p:cNvPr id="16" name="Shape 14"/>
          <p:cNvSpPr/>
          <p:nvPr/>
        </p:nvSpPr>
        <p:spPr>
          <a:xfrm>
            <a:off x="566928" y="4197096"/>
            <a:ext cx="365760" cy="365760"/>
          </a:xfrm>
          <a:prstGeom prst="ellipse">
            <a:avLst/>
          </a:prstGeom>
          <a:solidFill>
            <a:srgbClr val="EAF4F5"/>
          </a:solidFill>
          <a:ln w="12700">
            <a:solidFill>
              <a:srgbClr val="1F8A97"/>
            </a:solidFill>
            <a:prstDash val="solid"/>
          </a:ln>
        </p:spPr>
      </p:sp>
      <p:sp>
        <p:nvSpPr>
          <p:cNvPr id="17" name="Text 15"/>
          <p:cNvSpPr/>
          <p:nvPr/>
        </p:nvSpPr>
        <p:spPr>
          <a:xfrm>
            <a:off x="566928" y="4197096"/>
            <a:ext cx="365760" cy="365760"/>
          </a:xfrm>
          <a:prstGeom prst="rect">
            <a:avLst/>
          </a:prstGeom>
          <a:noFill/>
          <a:ln/>
        </p:spPr>
        <p:txBody>
          <a:bodyPr wrap="square" lIns="0" tIns="0" rIns="0" bIns="0" rtlCol="0" anchor="ctr"/>
          <a:lstStyle/>
          <a:p>
            <a:pPr algn="ctr" indent="0" marL="0">
              <a:buNone/>
            </a:pPr>
            <a:r>
              <a:rPr lang="en-US" sz="1300" b="1" dirty="0">
                <a:solidFill>
                  <a:srgbClr val="1F8A97"/>
                </a:solidFill>
                <a:latin typeface="Arial" pitchFamily="34" charset="0"/>
                <a:ea typeface="Arial" pitchFamily="34" charset="-122"/>
                <a:cs typeface="Arial" pitchFamily="34" charset="-120"/>
              </a:rPr>
              <a:t>4</a:t>
            </a:r>
            <a:endParaRPr lang="en-US" sz="1300" dirty="0"/>
          </a:p>
        </p:txBody>
      </p:sp>
      <p:sp>
        <p:nvSpPr>
          <p:cNvPr id="18" name="Text 16"/>
          <p:cNvSpPr/>
          <p:nvPr/>
        </p:nvSpPr>
        <p:spPr>
          <a:xfrm>
            <a:off x="1069848" y="4142232"/>
            <a:ext cx="4797400" cy="292608"/>
          </a:xfrm>
          <a:prstGeom prst="rect">
            <a:avLst/>
          </a:prstGeom>
          <a:noFill/>
          <a:ln/>
        </p:spPr>
        <p:txBody>
          <a:bodyPr wrap="square" lIns="0" tIns="0" rIns="0" bIns="0" rtlCol="0" anchor="ctr"/>
          <a:lstStyle/>
          <a:p>
            <a:pPr indent="0" marL="0">
              <a:buNone/>
            </a:pPr>
            <a:r>
              <a:rPr lang="en-US" sz="1450" b="1" dirty="0">
                <a:solidFill>
                  <a:srgbClr val="0B2A4A"/>
                </a:solidFill>
                <a:latin typeface="Arial" pitchFamily="34" charset="0"/>
                <a:ea typeface="Arial" pitchFamily="34" charset="-122"/>
                <a:cs typeface="Arial" pitchFamily="34" charset="-120"/>
              </a:rPr>
              <a:t>Esthetics</a:t>
            </a:r>
            <a:endParaRPr lang="en-US" sz="1450" dirty="0"/>
          </a:p>
        </p:txBody>
      </p:sp>
      <p:sp>
        <p:nvSpPr>
          <p:cNvPr id="19" name="Text 17"/>
          <p:cNvSpPr/>
          <p:nvPr/>
        </p:nvSpPr>
        <p:spPr>
          <a:xfrm>
            <a:off x="1069848" y="4434840"/>
            <a:ext cx="4797400" cy="420624"/>
          </a:xfrm>
          <a:prstGeom prst="rect">
            <a:avLst/>
          </a:prstGeom>
          <a:noFill/>
          <a:ln/>
        </p:spPr>
        <p:txBody>
          <a:bodyPr wrap="square" lIns="0" tIns="0" rIns="0" bIns="0" rtlCol="0" anchor="ctr"/>
          <a:lstStyle/>
          <a:p>
            <a:pPr indent="0" marL="0">
              <a:lnSpc>
                <a:spcPct val="110000"/>
              </a:lnSpc>
              <a:buNone/>
            </a:pPr>
            <a:r>
              <a:rPr lang="en-US" sz="1150" dirty="0">
                <a:solidFill>
                  <a:srgbClr val="5B6570"/>
                </a:solidFill>
                <a:latin typeface="Arial" pitchFamily="34" charset="0"/>
                <a:ea typeface="Arial" pitchFamily="34" charset="-122"/>
                <a:cs typeface="Arial" pitchFamily="34" charset="-120"/>
              </a:rPr>
              <a:t>Visibility of the screw-access channel</a:t>
            </a:r>
            <a:endParaRPr lang="en-US" sz="1150" dirty="0"/>
          </a:p>
        </p:txBody>
      </p:sp>
      <p:sp>
        <p:nvSpPr>
          <p:cNvPr id="20" name="Shape 18"/>
          <p:cNvSpPr/>
          <p:nvPr/>
        </p:nvSpPr>
        <p:spPr>
          <a:xfrm>
            <a:off x="566928" y="4983480"/>
            <a:ext cx="365760" cy="365760"/>
          </a:xfrm>
          <a:prstGeom prst="ellipse">
            <a:avLst/>
          </a:prstGeom>
          <a:solidFill>
            <a:srgbClr val="EAF4F5"/>
          </a:solidFill>
          <a:ln w="12700">
            <a:solidFill>
              <a:srgbClr val="1F8A97"/>
            </a:solidFill>
            <a:prstDash val="solid"/>
          </a:ln>
        </p:spPr>
      </p:sp>
      <p:sp>
        <p:nvSpPr>
          <p:cNvPr id="21" name="Text 19"/>
          <p:cNvSpPr/>
          <p:nvPr/>
        </p:nvSpPr>
        <p:spPr>
          <a:xfrm>
            <a:off x="566928" y="4983480"/>
            <a:ext cx="365760" cy="365760"/>
          </a:xfrm>
          <a:prstGeom prst="rect">
            <a:avLst/>
          </a:prstGeom>
          <a:noFill/>
          <a:ln/>
        </p:spPr>
        <p:txBody>
          <a:bodyPr wrap="square" lIns="0" tIns="0" rIns="0" bIns="0" rtlCol="0" anchor="ctr"/>
          <a:lstStyle/>
          <a:p>
            <a:pPr algn="ctr" indent="0" marL="0">
              <a:buNone/>
            </a:pPr>
            <a:r>
              <a:rPr lang="en-US" sz="1300" b="1" dirty="0">
                <a:solidFill>
                  <a:srgbClr val="1F8A97"/>
                </a:solidFill>
                <a:latin typeface="Arial" pitchFamily="34" charset="0"/>
                <a:ea typeface="Arial" pitchFamily="34" charset="-122"/>
                <a:cs typeface="Arial" pitchFamily="34" charset="-120"/>
              </a:rPr>
              <a:t>5</a:t>
            </a:r>
            <a:endParaRPr lang="en-US" sz="1300" dirty="0"/>
          </a:p>
        </p:txBody>
      </p:sp>
      <p:sp>
        <p:nvSpPr>
          <p:cNvPr id="22" name="Text 20"/>
          <p:cNvSpPr/>
          <p:nvPr/>
        </p:nvSpPr>
        <p:spPr>
          <a:xfrm>
            <a:off x="1069848" y="4928616"/>
            <a:ext cx="4797400" cy="292608"/>
          </a:xfrm>
          <a:prstGeom prst="rect">
            <a:avLst/>
          </a:prstGeom>
          <a:noFill/>
          <a:ln/>
        </p:spPr>
        <p:txBody>
          <a:bodyPr wrap="square" lIns="0" tIns="0" rIns="0" bIns="0" rtlCol="0" anchor="ctr"/>
          <a:lstStyle/>
          <a:p>
            <a:pPr indent="0" marL="0">
              <a:buNone/>
            </a:pPr>
            <a:r>
              <a:rPr lang="en-US" sz="1450" b="1" dirty="0">
                <a:solidFill>
                  <a:srgbClr val="0B2A4A"/>
                </a:solidFill>
                <a:latin typeface="Arial" pitchFamily="34" charset="0"/>
                <a:ea typeface="Arial" pitchFamily="34" charset="-122"/>
                <a:cs typeface="Arial" pitchFamily="34" charset="-120"/>
              </a:rPr>
              <a:t>Cement control</a:t>
            </a:r>
            <a:endParaRPr lang="en-US" sz="1450" dirty="0"/>
          </a:p>
        </p:txBody>
      </p:sp>
      <p:sp>
        <p:nvSpPr>
          <p:cNvPr id="23" name="Text 21"/>
          <p:cNvSpPr/>
          <p:nvPr/>
        </p:nvSpPr>
        <p:spPr>
          <a:xfrm>
            <a:off x="1069848" y="5221224"/>
            <a:ext cx="4797400" cy="420624"/>
          </a:xfrm>
          <a:prstGeom prst="rect">
            <a:avLst/>
          </a:prstGeom>
          <a:noFill/>
          <a:ln/>
        </p:spPr>
        <p:txBody>
          <a:bodyPr wrap="square" lIns="0" tIns="0" rIns="0" bIns="0" rtlCol="0" anchor="ctr"/>
          <a:lstStyle/>
          <a:p>
            <a:pPr indent="0" marL="0">
              <a:lnSpc>
                <a:spcPct val="110000"/>
              </a:lnSpc>
              <a:buNone/>
            </a:pPr>
            <a:r>
              <a:rPr lang="en-US" sz="1150" dirty="0">
                <a:solidFill>
                  <a:srgbClr val="5B6570"/>
                </a:solidFill>
                <a:latin typeface="Arial" pitchFamily="34" charset="0"/>
                <a:ea typeface="Arial" pitchFamily="34" charset="-122"/>
                <a:cs typeface="Arial" pitchFamily="34" charset="-120"/>
              </a:rPr>
              <a:t>Ability to fully remove subgingival excess</a:t>
            </a:r>
            <a:endParaRPr lang="en-US" sz="1150" dirty="0"/>
          </a:p>
        </p:txBody>
      </p:sp>
      <p:sp>
        <p:nvSpPr>
          <p:cNvPr id="24" name="Shape 22"/>
          <p:cNvSpPr/>
          <p:nvPr/>
        </p:nvSpPr>
        <p:spPr>
          <a:xfrm>
            <a:off x="6324448" y="1837944"/>
            <a:ext cx="365760" cy="365760"/>
          </a:xfrm>
          <a:prstGeom prst="ellipse">
            <a:avLst/>
          </a:prstGeom>
          <a:solidFill>
            <a:srgbClr val="EAF4F5"/>
          </a:solidFill>
          <a:ln w="12700">
            <a:solidFill>
              <a:srgbClr val="1F8A97"/>
            </a:solidFill>
            <a:prstDash val="solid"/>
          </a:ln>
        </p:spPr>
      </p:sp>
      <p:sp>
        <p:nvSpPr>
          <p:cNvPr id="25" name="Text 23"/>
          <p:cNvSpPr/>
          <p:nvPr/>
        </p:nvSpPr>
        <p:spPr>
          <a:xfrm>
            <a:off x="6324448" y="1837944"/>
            <a:ext cx="365760" cy="365760"/>
          </a:xfrm>
          <a:prstGeom prst="rect">
            <a:avLst/>
          </a:prstGeom>
          <a:noFill/>
          <a:ln/>
        </p:spPr>
        <p:txBody>
          <a:bodyPr wrap="square" lIns="0" tIns="0" rIns="0" bIns="0" rtlCol="0" anchor="ctr"/>
          <a:lstStyle/>
          <a:p>
            <a:pPr algn="ctr" indent="0" marL="0">
              <a:buNone/>
            </a:pPr>
            <a:r>
              <a:rPr lang="en-US" sz="1300" b="1" dirty="0">
                <a:solidFill>
                  <a:srgbClr val="1F8A97"/>
                </a:solidFill>
                <a:latin typeface="Arial" pitchFamily="34" charset="0"/>
                <a:ea typeface="Arial" pitchFamily="34" charset="-122"/>
                <a:cs typeface="Arial" pitchFamily="34" charset="-120"/>
              </a:rPr>
              <a:t>6</a:t>
            </a:r>
            <a:endParaRPr lang="en-US" sz="1300" dirty="0"/>
          </a:p>
        </p:txBody>
      </p:sp>
      <p:sp>
        <p:nvSpPr>
          <p:cNvPr id="26" name="Text 24"/>
          <p:cNvSpPr/>
          <p:nvPr/>
        </p:nvSpPr>
        <p:spPr>
          <a:xfrm>
            <a:off x="6827368" y="1783080"/>
            <a:ext cx="4797400" cy="292608"/>
          </a:xfrm>
          <a:prstGeom prst="rect">
            <a:avLst/>
          </a:prstGeom>
          <a:noFill/>
          <a:ln/>
        </p:spPr>
        <p:txBody>
          <a:bodyPr wrap="square" lIns="0" tIns="0" rIns="0" bIns="0" rtlCol="0" anchor="ctr"/>
          <a:lstStyle/>
          <a:p>
            <a:pPr indent="0" marL="0">
              <a:buNone/>
            </a:pPr>
            <a:r>
              <a:rPr lang="en-US" sz="1450" b="1" dirty="0">
                <a:solidFill>
                  <a:srgbClr val="0B2A4A"/>
                </a:solidFill>
                <a:latin typeface="Arial" pitchFamily="34" charset="0"/>
                <a:ea typeface="Arial" pitchFamily="34" charset="-122"/>
                <a:cs typeface="Arial" pitchFamily="34" charset="-120"/>
              </a:rPr>
              <a:t>Margin depth</a:t>
            </a:r>
            <a:endParaRPr lang="en-US" sz="1450" dirty="0"/>
          </a:p>
        </p:txBody>
      </p:sp>
      <p:sp>
        <p:nvSpPr>
          <p:cNvPr id="27" name="Text 25"/>
          <p:cNvSpPr/>
          <p:nvPr/>
        </p:nvSpPr>
        <p:spPr>
          <a:xfrm>
            <a:off x="6827368" y="2075688"/>
            <a:ext cx="4797400" cy="420624"/>
          </a:xfrm>
          <a:prstGeom prst="rect">
            <a:avLst/>
          </a:prstGeom>
          <a:noFill/>
          <a:ln/>
        </p:spPr>
        <p:txBody>
          <a:bodyPr wrap="square" lIns="0" tIns="0" rIns="0" bIns="0" rtlCol="0" anchor="ctr"/>
          <a:lstStyle/>
          <a:p>
            <a:pPr indent="0" marL="0">
              <a:lnSpc>
                <a:spcPct val="110000"/>
              </a:lnSpc>
              <a:buNone/>
            </a:pPr>
            <a:r>
              <a:rPr lang="en-US" sz="1150" dirty="0">
                <a:solidFill>
                  <a:srgbClr val="5B6570"/>
                </a:solidFill>
                <a:latin typeface="Arial" pitchFamily="34" charset="0"/>
                <a:ea typeface="Arial" pitchFamily="34" charset="-122"/>
                <a:cs typeface="Arial" pitchFamily="34" charset="-120"/>
              </a:rPr>
              <a:t>Deeper, less accessible margins raise cement risk</a:t>
            </a:r>
            <a:endParaRPr lang="en-US" sz="1150" dirty="0"/>
          </a:p>
        </p:txBody>
      </p:sp>
      <p:sp>
        <p:nvSpPr>
          <p:cNvPr id="28" name="Shape 26"/>
          <p:cNvSpPr/>
          <p:nvPr/>
        </p:nvSpPr>
        <p:spPr>
          <a:xfrm>
            <a:off x="6324448" y="2624328"/>
            <a:ext cx="365760" cy="365760"/>
          </a:xfrm>
          <a:prstGeom prst="ellipse">
            <a:avLst/>
          </a:prstGeom>
          <a:solidFill>
            <a:srgbClr val="EAF4F5"/>
          </a:solidFill>
          <a:ln w="12700">
            <a:solidFill>
              <a:srgbClr val="1F8A97"/>
            </a:solidFill>
            <a:prstDash val="solid"/>
          </a:ln>
        </p:spPr>
      </p:sp>
      <p:sp>
        <p:nvSpPr>
          <p:cNvPr id="29" name="Text 27"/>
          <p:cNvSpPr/>
          <p:nvPr/>
        </p:nvSpPr>
        <p:spPr>
          <a:xfrm>
            <a:off x="6324448" y="2624328"/>
            <a:ext cx="365760" cy="365760"/>
          </a:xfrm>
          <a:prstGeom prst="rect">
            <a:avLst/>
          </a:prstGeom>
          <a:noFill/>
          <a:ln/>
        </p:spPr>
        <p:txBody>
          <a:bodyPr wrap="square" lIns="0" tIns="0" rIns="0" bIns="0" rtlCol="0" anchor="ctr"/>
          <a:lstStyle/>
          <a:p>
            <a:pPr algn="ctr" indent="0" marL="0">
              <a:buNone/>
            </a:pPr>
            <a:r>
              <a:rPr lang="en-US" sz="1300" b="1" dirty="0">
                <a:solidFill>
                  <a:srgbClr val="1F8A97"/>
                </a:solidFill>
                <a:latin typeface="Arial" pitchFamily="34" charset="0"/>
                <a:ea typeface="Arial" pitchFamily="34" charset="-122"/>
                <a:cs typeface="Arial" pitchFamily="34" charset="-120"/>
              </a:rPr>
              <a:t>7</a:t>
            </a:r>
            <a:endParaRPr lang="en-US" sz="1300" dirty="0"/>
          </a:p>
        </p:txBody>
      </p:sp>
      <p:sp>
        <p:nvSpPr>
          <p:cNvPr id="30" name="Text 28"/>
          <p:cNvSpPr/>
          <p:nvPr/>
        </p:nvSpPr>
        <p:spPr>
          <a:xfrm>
            <a:off x="6827368" y="2569464"/>
            <a:ext cx="4797400" cy="292608"/>
          </a:xfrm>
          <a:prstGeom prst="rect">
            <a:avLst/>
          </a:prstGeom>
          <a:noFill/>
          <a:ln/>
        </p:spPr>
        <p:txBody>
          <a:bodyPr wrap="square" lIns="0" tIns="0" rIns="0" bIns="0" rtlCol="0" anchor="ctr"/>
          <a:lstStyle/>
          <a:p>
            <a:pPr indent="0" marL="0">
              <a:buNone/>
            </a:pPr>
            <a:r>
              <a:rPr lang="en-US" sz="1450" b="1" dirty="0">
                <a:solidFill>
                  <a:srgbClr val="0B2A4A"/>
                </a:solidFill>
                <a:latin typeface="Arial" pitchFamily="34" charset="0"/>
                <a:ea typeface="Arial" pitchFamily="34" charset="-122"/>
                <a:cs typeface="Arial" pitchFamily="34" charset="-120"/>
              </a:rPr>
              <a:t>Maintenance needs</a:t>
            </a:r>
            <a:endParaRPr lang="en-US" sz="1450" dirty="0"/>
          </a:p>
        </p:txBody>
      </p:sp>
      <p:sp>
        <p:nvSpPr>
          <p:cNvPr id="31" name="Text 29"/>
          <p:cNvSpPr/>
          <p:nvPr/>
        </p:nvSpPr>
        <p:spPr>
          <a:xfrm>
            <a:off x="6827368" y="2862072"/>
            <a:ext cx="4797400" cy="420624"/>
          </a:xfrm>
          <a:prstGeom prst="rect">
            <a:avLst/>
          </a:prstGeom>
          <a:noFill/>
          <a:ln/>
        </p:spPr>
        <p:txBody>
          <a:bodyPr wrap="square" lIns="0" tIns="0" rIns="0" bIns="0" rtlCol="0" anchor="ctr"/>
          <a:lstStyle/>
          <a:p>
            <a:pPr indent="0" marL="0">
              <a:lnSpc>
                <a:spcPct val="110000"/>
              </a:lnSpc>
              <a:buNone/>
            </a:pPr>
            <a:r>
              <a:rPr lang="en-US" sz="1150" dirty="0">
                <a:solidFill>
                  <a:srgbClr val="5B6570"/>
                </a:solidFill>
                <a:latin typeface="Arial" pitchFamily="34" charset="0"/>
                <a:ea typeface="Arial" pitchFamily="34" charset="-122"/>
                <a:cs typeface="Arial" pitchFamily="34" charset="-120"/>
              </a:rPr>
              <a:t>Recall compliance and hygiene access</a:t>
            </a:r>
            <a:endParaRPr lang="en-US" sz="1150" dirty="0"/>
          </a:p>
        </p:txBody>
      </p:sp>
      <p:sp>
        <p:nvSpPr>
          <p:cNvPr id="32" name="Shape 30"/>
          <p:cNvSpPr/>
          <p:nvPr/>
        </p:nvSpPr>
        <p:spPr>
          <a:xfrm>
            <a:off x="6324448" y="3410712"/>
            <a:ext cx="365760" cy="365760"/>
          </a:xfrm>
          <a:prstGeom prst="ellipse">
            <a:avLst/>
          </a:prstGeom>
          <a:solidFill>
            <a:srgbClr val="EAF4F5"/>
          </a:solidFill>
          <a:ln w="12700">
            <a:solidFill>
              <a:srgbClr val="1F8A97"/>
            </a:solidFill>
            <a:prstDash val="solid"/>
          </a:ln>
        </p:spPr>
      </p:sp>
      <p:sp>
        <p:nvSpPr>
          <p:cNvPr id="33" name="Text 31"/>
          <p:cNvSpPr/>
          <p:nvPr/>
        </p:nvSpPr>
        <p:spPr>
          <a:xfrm>
            <a:off x="6324448" y="3410712"/>
            <a:ext cx="365760" cy="365760"/>
          </a:xfrm>
          <a:prstGeom prst="rect">
            <a:avLst/>
          </a:prstGeom>
          <a:noFill/>
          <a:ln/>
        </p:spPr>
        <p:txBody>
          <a:bodyPr wrap="square" lIns="0" tIns="0" rIns="0" bIns="0" rtlCol="0" anchor="ctr"/>
          <a:lstStyle/>
          <a:p>
            <a:pPr algn="ctr" indent="0" marL="0">
              <a:buNone/>
            </a:pPr>
            <a:r>
              <a:rPr lang="en-US" sz="1300" b="1" dirty="0">
                <a:solidFill>
                  <a:srgbClr val="1F8A97"/>
                </a:solidFill>
                <a:latin typeface="Arial" pitchFamily="34" charset="0"/>
                <a:ea typeface="Arial" pitchFamily="34" charset="-122"/>
                <a:cs typeface="Arial" pitchFamily="34" charset="-120"/>
              </a:rPr>
              <a:t>8</a:t>
            </a:r>
            <a:endParaRPr lang="en-US" sz="1300" dirty="0"/>
          </a:p>
        </p:txBody>
      </p:sp>
      <p:sp>
        <p:nvSpPr>
          <p:cNvPr id="34" name="Text 32"/>
          <p:cNvSpPr/>
          <p:nvPr/>
        </p:nvSpPr>
        <p:spPr>
          <a:xfrm>
            <a:off x="6827368" y="3355848"/>
            <a:ext cx="4797400" cy="292608"/>
          </a:xfrm>
          <a:prstGeom prst="rect">
            <a:avLst/>
          </a:prstGeom>
          <a:noFill/>
          <a:ln/>
        </p:spPr>
        <p:txBody>
          <a:bodyPr wrap="square" lIns="0" tIns="0" rIns="0" bIns="0" rtlCol="0" anchor="ctr"/>
          <a:lstStyle/>
          <a:p>
            <a:pPr indent="0" marL="0">
              <a:buNone/>
            </a:pPr>
            <a:r>
              <a:rPr lang="en-US" sz="1450" b="1" dirty="0">
                <a:solidFill>
                  <a:srgbClr val="0B2A4A"/>
                </a:solidFill>
                <a:latin typeface="Arial" pitchFamily="34" charset="0"/>
                <a:ea typeface="Arial" pitchFamily="34" charset="-122"/>
                <a:cs typeface="Arial" pitchFamily="34" charset="-120"/>
              </a:rPr>
              <a:t>Technical complications</a:t>
            </a:r>
            <a:endParaRPr lang="en-US" sz="1450" dirty="0"/>
          </a:p>
        </p:txBody>
      </p:sp>
      <p:sp>
        <p:nvSpPr>
          <p:cNvPr id="35" name="Text 33"/>
          <p:cNvSpPr/>
          <p:nvPr/>
        </p:nvSpPr>
        <p:spPr>
          <a:xfrm>
            <a:off x="6827368" y="3648456"/>
            <a:ext cx="4797400" cy="420624"/>
          </a:xfrm>
          <a:prstGeom prst="rect">
            <a:avLst/>
          </a:prstGeom>
          <a:noFill/>
          <a:ln/>
        </p:spPr>
        <p:txBody>
          <a:bodyPr wrap="square" lIns="0" tIns="0" rIns="0" bIns="0" rtlCol="0" anchor="ctr"/>
          <a:lstStyle/>
          <a:p>
            <a:pPr indent="0" marL="0">
              <a:lnSpc>
                <a:spcPct val="110000"/>
              </a:lnSpc>
              <a:buNone/>
            </a:pPr>
            <a:r>
              <a:rPr lang="en-US" sz="1150" dirty="0">
                <a:solidFill>
                  <a:srgbClr val="5B6570"/>
                </a:solidFill>
                <a:latin typeface="Arial" pitchFamily="34" charset="0"/>
                <a:ea typeface="Arial" pitchFamily="34" charset="-122"/>
                <a:cs typeface="Arial" pitchFamily="34" charset="-120"/>
              </a:rPr>
              <a:t>Screw loosening vs. cement-related issues</a:t>
            </a:r>
            <a:endParaRPr lang="en-US" sz="1150" dirty="0"/>
          </a:p>
        </p:txBody>
      </p:sp>
      <p:sp>
        <p:nvSpPr>
          <p:cNvPr id="36" name="Shape 34"/>
          <p:cNvSpPr/>
          <p:nvPr/>
        </p:nvSpPr>
        <p:spPr>
          <a:xfrm>
            <a:off x="6324448" y="4197096"/>
            <a:ext cx="365760" cy="365760"/>
          </a:xfrm>
          <a:prstGeom prst="ellipse">
            <a:avLst/>
          </a:prstGeom>
          <a:solidFill>
            <a:srgbClr val="EAF4F5"/>
          </a:solidFill>
          <a:ln w="12700">
            <a:solidFill>
              <a:srgbClr val="1F8A97"/>
            </a:solidFill>
            <a:prstDash val="solid"/>
          </a:ln>
        </p:spPr>
      </p:sp>
      <p:sp>
        <p:nvSpPr>
          <p:cNvPr id="37" name="Text 35"/>
          <p:cNvSpPr/>
          <p:nvPr/>
        </p:nvSpPr>
        <p:spPr>
          <a:xfrm>
            <a:off x="6324448" y="4197096"/>
            <a:ext cx="365760" cy="365760"/>
          </a:xfrm>
          <a:prstGeom prst="rect">
            <a:avLst/>
          </a:prstGeom>
          <a:noFill/>
          <a:ln/>
        </p:spPr>
        <p:txBody>
          <a:bodyPr wrap="square" lIns="0" tIns="0" rIns="0" bIns="0" rtlCol="0" anchor="ctr"/>
          <a:lstStyle/>
          <a:p>
            <a:pPr algn="ctr" indent="0" marL="0">
              <a:buNone/>
            </a:pPr>
            <a:r>
              <a:rPr lang="en-US" sz="1300" b="1" dirty="0">
                <a:solidFill>
                  <a:srgbClr val="1F8A97"/>
                </a:solidFill>
                <a:latin typeface="Arial" pitchFamily="34" charset="0"/>
                <a:ea typeface="Arial" pitchFamily="34" charset="-122"/>
                <a:cs typeface="Arial" pitchFamily="34" charset="-120"/>
              </a:rPr>
              <a:t>9</a:t>
            </a:r>
            <a:endParaRPr lang="en-US" sz="1300" dirty="0"/>
          </a:p>
        </p:txBody>
      </p:sp>
      <p:sp>
        <p:nvSpPr>
          <p:cNvPr id="38" name="Text 36"/>
          <p:cNvSpPr/>
          <p:nvPr/>
        </p:nvSpPr>
        <p:spPr>
          <a:xfrm>
            <a:off x="6827368" y="4142232"/>
            <a:ext cx="4797400" cy="292608"/>
          </a:xfrm>
          <a:prstGeom prst="rect">
            <a:avLst/>
          </a:prstGeom>
          <a:noFill/>
          <a:ln/>
        </p:spPr>
        <p:txBody>
          <a:bodyPr wrap="square" lIns="0" tIns="0" rIns="0" bIns="0" rtlCol="0" anchor="ctr"/>
          <a:lstStyle/>
          <a:p>
            <a:pPr indent="0" marL="0">
              <a:buNone/>
            </a:pPr>
            <a:r>
              <a:rPr lang="en-US" sz="1450" b="1" dirty="0">
                <a:solidFill>
                  <a:srgbClr val="0B2A4A"/>
                </a:solidFill>
                <a:latin typeface="Arial" pitchFamily="34" charset="0"/>
                <a:ea typeface="Arial" pitchFamily="34" charset="-122"/>
                <a:cs typeface="Arial" pitchFamily="34" charset="-120"/>
              </a:rPr>
              <a:t>Operator technique</a:t>
            </a:r>
            <a:endParaRPr lang="en-US" sz="1450" dirty="0"/>
          </a:p>
        </p:txBody>
      </p:sp>
      <p:sp>
        <p:nvSpPr>
          <p:cNvPr id="39" name="Text 37"/>
          <p:cNvSpPr/>
          <p:nvPr/>
        </p:nvSpPr>
        <p:spPr>
          <a:xfrm>
            <a:off x="6827368" y="4434840"/>
            <a:ext cx="4797400" cy="420624"/>
          </a:xfrm>
          <a:prstGeom prst="rect">
            <a:avLst/>
          </a:prstGeom>
          <a:noFill/>
          <a:ln/>
        </p:spPr>
        <p:txBody>
          <a:bodyPr wrap="square" lIns="0" tIns="0" rIns="0" bIns="0" rtlCol="0" anchor="ctr"/>
          <a:lstStyle/>
          <a:p>
            <a:pPr indent="0" marL="0">
              <a:lnSpc>
                <a:spcPct val="110000"/>
              </a:lnSpc>
              <a:buNone/>
            </a:pPr>
            <a:r>
              <a:rPr lang="en-US" sz="1150" dirty="0">
                <a:solidFill>
                  <a:srgbClr val="5B6570"/>
                </a:solidFill>
                <a:latin typeface="Arial" pitchFamily="34" charset="0"/>
                <a:ea typeface="Arial" pitchFamily="34" charset="-122"/>
                <a:cs typeface="Arial" pitchFamily="34" charset="-120"/>
              </a:rPr>
              <a:t>Cementation protocol or screw-torque technique</a:t>
            </a:r>
            <a:endParaRPr lang="en-US" sz="1150" dirty="0"/>
          </a:p>
        </p:txBody>
      </p:sp>
      <p:sp>
        <p:nvSpPr>
          <p:cNvPr id="40" name="Shape 38"/>
          <p:cNvSpPr/>
          <p:nvPr/>
        </p:nvSpPr>
        <p:spPr>
          <a:xfrm>
            <a:off x="6324448" y="4983480"/>
            <a:ext cx="365760" cy="365760"/>
          </a:xfrm>
          <a:prstGeom prst="ellipse">
            <a:avLst/>
          </a:prstGeom>
          <a:solidFill>
            <a:srgbClr val="EAF4F5"/>
          </a:solidFill>
          <a:ln w="12700">
            <a:solidFill>
              <a:srgbClr val="1F8A97"/>
            </a:solidFill>
            <a:prstDash val="solid"/>
          </a:ln>
        </p:spPr>
      </p:sp>
      <p:sp>
        <p:nvSpPr>
          <p:cNvPr id="41" name="Text 39"/>
          <p:cNvSpPr/>
          <p:nvPr/>
        </p:nvSpPr>
        <p:spPr>
          <a:xfrm>
            <a:off x="6324448" y="4983480"/>
            <a:ext cx="365760" cy="365760"/>
          </a:xfrm>
          <a:prstGeom prst="rect">
            <a:avLst/>
          </a:prstGeom>
          <a:noFill/>
          <a:ln/>
        </p:spPr>
        <p:txBody>
          <a:bodyPr wrap="square" lIns="0" tIns="0" rIns="0" bIns="0" rtlCol="0" anchor="ctr"/>
          <a:lstStyle/>
          <a:p>
            <a:pPr algn="ctr" indent="0" marL="0">
              <a:buNone/>
            </a:pPr>
            <a:r>
              <a:rPr lang="en-US" sz="1300" b="1" dirty="0">
                <a:solidFill>
                  <a:srgbClr val="1F8A97"/>
                </a:solidFill>
                <a:latin typeface="Arial" pitchFamily="34" charset="0"/>
                <a:ea typeface="Arial" pitchFamily="34" charset="-122"/>
                <a:cs typeface="Arial" pitchFamily="34" charset="-120"/>
              </a:rPr>
              <a:t>10</a:t>
            </a:r>
            <a:endParaRPr lang="en-US" sz="1300" dirty="0"/>
          </a:p>
        </p:txBody>
      </p:sp>
      <p:sp>
        <p:nvSpPr>
          <p:cNvPr id="42" name="Text 40"/>
          <p:cNvSpPr/>
          <p:nvPr/>
        </p:nvSpPr>
        <p:spPr>
          <a:xfrm>
            <a:off x="6827368" y="4928616"/>
            <a:ext cx="4797400" cy="292608"/>
          </a:xfrm>
          <a:prstGeom prst="rect">
            <a:avLst/>
          </a:prstGeom>
          <a:noFill/>
          <a:ln/>
        </p:spPr>
        <p:txBody>
          <a:bodyPr wrap="square" lIns="0" tIns="0" rIns="0" bIns="0" rtlCol="0" anchor="ctr"/>
          <a:lstStyle/>
          <a:p>
            <a:pPr indent="0" marL="0">
              <a:buNone/>
            </a:pPr>
            <a:r>
              <a:rPr lang="en-US" sz="1450" b="1" dirty="0">
                <a:solidFill>
                  <a:srgbClr val="0B2A4A"/>
                </a:solidFill>
                <a:latin typeface="Arial" pitchFamily="34" charset="0"/>
                <a:ea typeface="Arial" pitchFamily="34" charset="-122"/>
                <a:cs typeface="Arial" pitchFamily="34" charset="-120"/>
              </a:rPr>
              <a:t>Patient risk factors</a:t>
            </a:r>
            <a:endParaRPr lang="en-US" sz="1450" dirty="0"/>
          </a:p>
        </p:txBody>
      </p:sp>
      <p:sp>
        <p:nvSpPr>
          <p:cNvPr id="43" name="Text 41"/>
          <p:cNvSpPr/>
          <p:nvPr/>
        </p:nvSpPr>
        <p:spPr>
          <a:xfrm>
            <a:off x="6827368" y="5221224"/>
            <a:ext cx="4797400" cy="420624"/>
          </a:xfrm>
          <a:prstGeom prst="rect">
            <a:avLst/>
          </a:prstGeom>
          <a:noFill/>
          <a:ln/>
        </p:spPr>
        <p:txBody>
          <a:bodyPr wrap="square" lIns="0" tIns="0" rIns="0" bIns="0" rtlCol="0" anchor="ctr"/>
          <a:lstStyle/>
          <a:p>
            <a:pPr indent="0" marL="0">
              <a:lnSpc>
                <a:spcPct val="110000"/>
              </a:lnSpc>
              <a:buNone/>
            </a:pPr>
            <a:r>
              <a:rPr lang="en-US" sz="1150" dirty="0">
                <a:solidFill>
                  <a:srgbClr val="5B6570"/>
                </a:solidFill>
                <a:latin typeface="Arial" pitchFamily="34" charset="0"/>
                <a:ea typeface="Arial" pitchFamily="34" charset="-122"/>
                <a:cs typeface="Arial" pitchFamily="34" charset="-120"/>
              </a:rPr>
              <a:t>Periodontitis history, smoking, diabetes, hygiene</a:t>
            </a:r>
            <a:endParaRPr lang="en-US" sz="1150" dirty="0"/>
          </a:p>
        </p:txBody>
      </p:sp>
      <p:sp>
        <p:nvSpPr>
          <p:cNvPr id="44" name="Text 42"/>
          <p:cNvSpPr/>
          <p:nvPr/>
        </p:nvSpPr>
        <p:spPr>
          <a:xfrm>
            <a:off x="566928" y="5760720"/>
            <a:ext cx="11057839" cy="320040"/>
          </a:xfrm>
          <a:prstGeom prst="rect">
            <a:avLst/>
          </a:prstGeom>
          <a:noFill/>
          <a:ln/>
        </p:spPr>
        <p:txBody>
          <a:bodyPr wrap="square" lIns="0" tIns="0" rIns="0" bIns="0" rtlCol="0" anchor="ctr"/>
          <a:lstStyle/>
          <a:p>
            <a:pPr indent="0" marL="0">
              <a:buNone/>
            </a:pPr>
            <a:r>
              <a:rPr lang="en-US" sz="1150" i="1" dirty="0">
                <a:solidFill>
                  <a:srgbClr val="5B6570"/>
                </a:solidFill>
                <a:latin typeface="Arial" pitchFamily="34" charset="0"/>
                <a:ea typeface="Arial" pitchFamily="34" charset="-122"/>
                <a:cs typeface="Arial" pitchFamily="34" charset="-120"/>
              </a:rPr>
              <a:t>Framed as clinical context, not as a finding directly tested by this meta-analysis — consistent with the authors’ own Clinical Implications statement.</a:t>
            </a:r>
            <a:endParaRPr lang="en-US" sz="1150" dirty="0"/>
          </a:p>
        </p:txBody>
      </p:sp>
      <p:sp>
        <p:nvSpPr>
          <p:cNvPr id="45" name="Text 43"/>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46" name="Text 44"/>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12</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A4A"/>
        </a:solidFill>
      </p:bgPr>
    </p:bg>
    <p:spTree>
      <p:nvGrpSpPr>
        <p:cNvPr id="1" name=""/>
        <p:cNvGrpSpPr/>
        <p:nvPr/>
      </p:nvGrpSpPr>
      <p:grpSpPr>
        <a:xfrm>
          <a:off x="0" y="0"/>
          <a:ext cx="0" cy="0"/>
          <a:chOff x="0" y="0"/>
          <a:chExt cx="0" cy="0"/>
        </a:xfrm>
      </p:grpSpPr>
      <p:sp>
        <p:nvSpPr>
          <p:cNvPr id="2" name="Text 0"/>
          <p:cNvSpPr/>
          <p:nvPr/>
        </p:nvSpPr>
        <p:spPr>
          <a:xfrm>
            <a:off x="566928" y="566928"/>
            <a:ext cx="11057839" cy="292608"/>
          </a:xfrm>
          <a:prstGeom prst="rect">
            <a:avLst/>
          </a:prstGeom>
          <a:noFill/>
          <a:ln/>
        </p:spPr>
        <p:txBody>
          <a:bodyPr wrap="square" lIns="0" tIns="0" rIns="0" bIns="0" rtlCol="0" anchor="ctr"/>
          <a:lstStyle/>
          <a:p>
            <a:pPr indent="0" marL="0">
              <a:buNone/>
            </a:pPr>
            <a:r>
              <a:rPr lang="en-US" sz="1300" b="1" spc="300" kern="0" dirty="0">
                <a:solidFill>
                  <a:srgbClr val="6FB8C2"/>
                </a:solidFill>
                <a:latin typeface="Arial" pitchFamily="34" charset="0"/>
                <a:ea typeface="Arial" pitchFamily="34" charset="-122"/>
                <a:cs typeface="Arial" pitchFamily="34" charset="-120"/>
              </a:rPr>
              <a:t>BOTTOM LINE</a:t>
            </a:r>
            <a:endParaRPr lang="en-US" sz="1300" dirty="0"/>
          </a:p>
        </p:txBody>
      </p:sp>
      <p:sp>
        <p:nvSpPr>
          <p:cNvPr id="3" name="Text 1"/>
          <p:cNvSpPr/>
          <p:nvPr/>
        </p:nvSpPr>
        <p:spPr>
          <a:xfrm>
            <a:off x="566928" y="960120"/>
            <a:ext cx="11057839" cy="123444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Choose Retention on the Whole Clinical Picture — Not on Disease-Risk Data Alone</a:t>
            </a:r>
            <a:endParaRPr lang="en-US" sz="3000" dirty="0"/>
          </a:p>
        </p:txBody>
      </p:sp>
      <p:sp>
        <p:nvSpPr>
          <p:cNvPr id="4" name="Text 2"/>
          <p:cNvSpPr/>
          <p:nvPr/>
        </p:nvSpPr>
        <p:spPr>
          <a:xfrm>
            <a:off x="566928" y="2423160"/>
            <a:ext cx="11057839" cy="274320"/>
          </a:xfrm>
          <a:prstGeom prst="rect">
            <a:avLst/>
          </a:prstGeom>
          <a:noFill/>
          <a:ln/>
        </p:spPr>
        <p:txBody>
          <a:bodyPr wrap="square" lIns="0" tIns="0" rIns="0" bIns="0" rtlCol="0" anchor="ctr"/>
          <a:lstStyle/>
          <a:p>
            <a:pPr indent="0" marL="0">
              <a:buNone/>
            </a:pPr>
            <a:r>
              <a:rPr lang="en-US" sz="1200" b="1" spc="150" kern="0" dirty="0">
                <a:solidFill>
                  <a:srgbClr val="8FCAD2"/>
                </a:solidFill>
                <a:latin typeface="Arial" pitchFamily="34" charset="0"/>
                <a:ea typeface="Arial" pitchFamily="34" charset="-122"/>
                <a:cs typeface="Arial" pitchFamily="34" charset="-120"/>
              </a:rPr>
              <a:t>AUTHORS’ CONCLUSIONS</a:t>
            </a:r>
            <a:endParaRPr lang="en-US" sz="1200" dirty="0"/>
          </a:p>
        </p:txBody>
      </p:sp>
      <p:sp>
        <p:nvSpPr>
          <p:cNvPr id="5" name="Text 3"/>
          <p:cNvSpPr/>
          <p:nvPr/>
        </p:nvSpPr>
        <p:spPr>
          <a:xfrm>
            <a:off x="566928" y="2743200"/>
            <a:ext cx="11057839" cy="548640"/>
          </a:xfrm>
          <a:prstGeom prst="rect">
            <a:avLst/>
          </a:prstGeom>
          <a:noFill/>
          <a:ln/>
        </p:spPr>
        <p:txBody>
          <a:bodyPr wrap="square" lIns="0" tIns="0" rIns="0" bIns="0" rtlCol="0" anchor="ctr"/>
          <a:lstStyle/>
          <a:p>
            <a:pPr indent="0" marL="0">
              <a:lnSpc>
                <a:spcPct val="120000"/>
              </a:lnSpc>
              <a:buNone/>
            </a:pPr>
            <a:r>
              <a:rPr lang="en-US" sz="1500" dirty="0">
                <a:solidFill>
                  <a:srgbClr val="DCE7EE"/>
                </a:solidFill>
                <a:latin typeface="Arial" pitchFamily="34" charset="0"/>
                <a:ea typeface="Arial" pitchFamily="34" charset="-122"/>
                <a:cs typeface="Arial" pitchFamily="34" charset="-120"/>
              </a:rPr>
              <a:t>1.  Moderate-certainty evidence suggests a similar risk of peri-implant mucositis and peri-implantitis for cement- and screw-retained prostheses.</a:t>
            </a:r>
            <a:endParaRPr lang="en-US" sz="1500" dirty="0"/>
          </a:p>
        </p:txBody>
      </p:sp>
      <p:sp>
        <p:nvSpPr>
          <p:cNvPr id="6" name="Text 4"/>
          <p:cNvSpPr/>
          <p:nvPr/>
        </p:nvSpPr>
        <p:spPr>
          <a:xfrm>
            <a:off x="566928" y="3310128"/>
            <a:ext cx="11057839" cy="548640"/>
          </a:xfrm>
          <a:prstGeom prst="rect">
            <a:avLst/>
          </a:prstGeom>
          <a:noFill/>
          <a:ln/>
        </p:spPr>
        <p:txBody>
          <a:bodyPr wrap="square" lIns="0" tIns="0" rIns="0" bIns="0" rtlCol="0" anchor="ctr"/>
          <a:lstStyle/>
          <a:p>
            <a:pPr indent="0" marL="0">
              <a:lnSpc>
                <a:spcPct val="120000"/>
              </a:lnSpc>
              <a:buNone/>
            </a:pPr>
            <a:r>
              <a:rPr lang="en-US" sz="1500" dirty="0">
                <a:solidFill>
                  <a:srgbClr val="DCE7EE"/>
                </a:solidFill>
                <a:latin typeface="Arial" pitchFamily="34" charset="0"/>
                <a:ea typeface="Arial" pitchFamily="34" charset="-122"/>
                <a:cs typeface="Arial" pitchFamily="34" charset="-120"/>
              </a:rPr>
              <a:t>2.  The choice of retention method should be guided by additional clinical context and patient-specific factors.</a:t>
            </a:r>
            <a:endParaRPr lang="en-US" sz="1500" dirty="0"/>
          </a:p>
        </p:txBody>
      </p:sp>
      <p:sp>
        <p:nvSpPr>
          <p:cNvPr id="7" name="Shape 5"/>
          <p:cNvSpPr/>
          <p:nvPr/>
        </p:nvSpPr>
        <p:spPr>
          <a:xfrm>
            <a:off x="566928" y="4160520"/>
            <a:ext cx="11057839" cy="1691640"/>
          </a:xfrm>
          <a:prstGeom prst="rect">
            <a:avLst/>
          </a:prstGeom>
          <a:solidFill>
            <a:srgbClr val="163A5C"/>
          </a:solidFill>
          <a:ln/>
        </p:spPr>
      </p:sp>
      <p:sp>
        <p:nvSpPr>
          <p:cNvPr id="8" name="Text 6"/>
          <p:cNvSpPr/>
          <p:nvPr/>
        </p:nvSpPr>
        <p:spPr>
          <a:xfrm>
            <a:off x="841248" y="4343400"/>
            <a:ext cx="10509199" cy="274320"/>
          </a:xfrm>
          <a:prstGeom prst="rect">
            <a:avLst/>
          </a:prstGeom>
          <a:noFill/>
          <a:ln/>
        </p:spPr>
        <p:txBody>
          <a:bodyPr wrap="square" lIns="0" tIns="0" rIns="0" bIns="0" rtlCol="0" anchor="ctr"/>
          <a:lstStyle/>
          <a:p>
            <a:pPr indent="0" marL="0">
              <a:buNone/>
            </a:pPr>
            <a:r>
              <a:rPr lang="en-US" sz="1200" b="1" spc="150" kern="0" dirty="0">
                <a:solidFill>
                  <a:srgbClr val="6FB8C2"/>
                </a:solidFill>
                <a:latin typeface="Arial" pitchFamily="34" charset="0"/>
                <a:ea typeface="Arial" pitchFamily="34" charset="-122"/>
                <a:cs typeface="Arial" pitchFamily="34" charset="-120"/>
              </a:rPr>
              <a:t>PRESENTER’S TAKE-HOME MESSAGE</a:t>
            </a:r>
            <a:endParaRPr lang="en-US" sz="1200" dirty="0"/>
          </a:p>
        </p:txBody>
      </p:sp>
      <p:sp>
        <p:nvSpPr>
          <p:cNvPr id="9" name="Text 7"/>
          <p:cNvSpPr/>
          <p:nvPr/>
        </p:nvSpPr>
        <p:spPr>
          <a:xfrm>
            <a:off x="841248" y="4645152"/>
            <a:ext cx="10509199" cy="1143000"/>
          </a:xfrm>
          <a:prstGeom prst="rect">
            <a:avLst/>
          </a:prstGeom>
          <a:noFill/>
          <a:ln/>
        </p:spPr>
        <p:txBody>
          <a:bodyPr wrap="square" lIns="0" tIns="0" rIns="0" bIns="0" rtlCol="0" anchor="ctr"/>
          <a:lstStyle/>
          <a:p>
            <a:pPr indent="0" marL="0">
              <a:lnSpc>
                <a:spcPct val="125000"/>
              </a:lnSpc>
              <a:buNone/>
            </a:pPr>
            <a:r>
              <a:rPr lang="en-US" sz="1400" i="1" dirty="0">
                <a:solidFill>
                  <a:srgbClr val="FFFFFF"/>
                </a:solidFill>
                <a:latin typeface="Arial" pitchFamily="34" charset="0"/>
                <a:ea typeface="Arial" pitchFamily="34" charset="-122"/>
                <a:cs typeface="Arial" pitchFamily="34" charset="-120"/>
              </a:rPr>
              <a:t>For single-unit implant crowns like those studied here, don’t let peri-implant disease risk alone dictate cement vs. screw retention. The current RCT evidence is reassuring but too imprecise to call the two techniques proven equivalent — base the decision on retrievability, access, esthetics, and the patient in front of you, and apply meticulous cement-removal or screw-maintenance protocols regardless of which you choose.</a:t>
            </a:r>
            <a:endParaRPr lang="en-US" sz="1400" dirty="0"/>
          </a:p>
        </p:txBody>
      </p:sp>
      <p:sp>
        <p:nvSpPr>
          <p:cNvPr id="10" name="Text 8"/>
          <p:cNvSpPr/>
          <p:nvPr/>
        </p:nvSpPr>
        <p:spPr>
          <a:xfrm>
            <a:off x="566928" y="6473952"/>
            <a:ext cx="11057839" cy="274320"/>
          </a:xfrm>
          <a:prstGeom prst="rect">
            <a:avLst/>
          </a:prstGeom>
          <a:noFill/>
          <a:ln/>
        </p:spPr>
        <p:txBody>
          <a:bodyPr wrap="square" lIns="0" tIns="0" rIns="0" bIns="0" rtlCol="0" anchor="ctr"/>
          <a:lstStyle/>
          <a:p>
            <a:pPr indent="0" marL="0">
              <a:buNone/>
            </a:pPr>
            <a:r>
              <a:rPr lang="en-US" sz="1050" i="1" dirty="0">
                <a:solidFill>
                  <a:srgbClr val="6E88A0"/>
                </a:solidFill>
                <a:latin typeface="Arial" pitchFamily="34" charset="0"/>
                <a:ea typeface="Arial" pitchFamily="34" charset="-122"/>
                <a:cs typeface="Arial" pitchFamily="34" charset="-120"/>
              </a:rPr>
              <a:t>Reis et al. J Prosthet Dent. 2025;134(1):100-108.</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REFERENCES</a:t>
            </a:r>
            <a:endParaRPr lang="en-US" sz="1300" dirty="0"/>
          </a:p>
        </p:txBody>
      </p:sp>
      <p:sp>
        <p:nvSpPr>
          <p:cNvPr id="3" name="Text 1"/>
          <p:cNvSpPr/>
          <p:nvPr/>
        </p:nvSpPr>
        <p:spPr>
          <a:xfrm>
            <a:off x="566928" y="731520"/>
            <a:ext cx="11057839" cy="914400"/>
          </a:xfrm>
          <a:prstGeom prst="rect">
            <a:avLst/>
          </a:prstGeom>
          <a:noFill/>
          <a:ln/>
        </p:spPr>
        <p:txBody>
          <a:bodyPr wrap="square" lIns="0" tIns="0" rIns="0" bIns="0" rtlCol="0" anchor="t"/>
          <a:lstStyle/>
          <a:p>
            <a:pPr algn="l" indent="0" marL="0">
              <a:lnSpc>
                <a:spcPct val="102000"/>
              </a:lnSpc>
              <a:buNone/>
            </a:pPr>
            <a:r>
              <a:rPr lang="en-US" sz="3200" b="1" dirty="0">
                <a:solidFill>
                  <a:srgbClr val="0B2A4A"/>
                </a:solidFill>
                <a:latin typeface="Georgia" pitchFamily="34" charset="0"/>
                <a:ea typeface="Georgia" pitchFamily="34" charset="-122"/>
                <a:cs typeface="Georgia" pitchFamily="34" charset="-120"/>
              </a:rPr>
              <a:t>Complete References (Vancouver Style)</a:t>
            </a:r>
            <a:endParaRPr lang="en-US" sz="3200" dirty="0"/>
          </a:p>
        </p:txBody>
      </p:sp>
      <p:sp>
        <p:nvSpPr>
          <p:cNvPr id="4" name="Text 2"/>
          <p:cNvSpPr/>
          <p:nvPr/>
        </p:nvSpPr>
        <p:spPr>
          <a:xfrm>
            <a:off x="566928" y="1828800"/>
            <a:ext cx="11057839" cy="1152144"/>
          </a:xfrm>
          <a:prstGeom prst="rect">
            <a:avLst/>
          </a:prstGeom>
          <a:noFill/>
          <a:ln/>
        </p:spPr>
        <p:txBody>
          <a:bodyPr wrap="square" lIns="0" tIns="0" rIns="0" bIns="0" rtlCol="0" anchor="ctr"/>
          <a:lstStyle/>
          <a:p>
            <a:pPr indent="0" marL="0">
              <a:lnSpc>
                <a:spcPct val="125000"/>
              </a:lnSpc>
              <a:buNone/>
            </a:pPr>
            <a:r>
              <a:rPr lang="en-US" sz="1350" dirty="0">
                <a:solidFill>
                  <a:srgbClr val="2B2E33"/>
                </a:solidFill>
                <a:latin typeface="Arial" pitchFamily="34" charset="0"/>
                <a:ea typeface="Arial" pitchFamily="34" charset="-122"/>
                <a:cs typeface="Arial" pitchFamily="34" charset="-120"/>
              </a:rPr>
              <a:t>1. Reis INR, Fukuoka GL, Nagay BE, Pannuti CM, Spin-Neto R, Silva EVF. Incidence of peri-implant disease associated with cement- and screw-retained implant-supported prostheses: a systematic review and meta-analysis. J Prosthet Dent. 2025;134(1):100-108.</a:t>
            </a:r>
            <a:endParaRPr lang="en-US" sz="1350" dirty="0"/>
          </a:p>
        </p:txBody>
      </p:sp>
      <p:sp>
        <p:nvSpPr>
          <p:cNvPr id="5" name="Text 3"/>
          <p:cNvSpPr/>
          <p:nvPr/>
        </p:nvSpPr>
        <p:spPr>
          <a:xfrm>
            <a:off x="566928" y="2907792"/>
            <a:ext cx="11057839" cy="1152144"/>
          </a:xfrm>
          <a:prstGeom prst="rect">
            <a:avLst/>
          </a:prstGeom>
          <a:noFill/>
          <a:ln/>
        </p:spPr>
        <p:txBody>
          <a:bodyPr wrap="square" lIns="0" tIns="0" rIns="0" bIns="0" rtlCol="0" anchor="ctr"/>
          <a:lstStyle/>
          <a:p>
            <a:pPr indent="0" marL="0">
              <a:lnSpc>
                <a:spcPct val="125000"/>
              </a:lnSpc>
              <a:buNone/>
            </a:pPr>
            <a:r>
              <a:rPr lang="en-US" sz="1350" dirty="0">
                <a:solidFill>
                  <a:srgbClr val="2B2E33"/>
                </a:solidFill>
                <a:latin typeface="Arial" pitchFamily="34" charset="0"/>
                <a:ea typeface="Arial" pitchFamily="34" charset="-122"/>
                <a:cs typeface="Arial" pitchFamily="34" charset="-120"/>
              </a:rPr>
              <a:t>2. Berglundh T, Armitage G, Araujo MG, et al. Peri-implant diseases and conditions: consensus report of workgroup 4 of the 2017 World Workshop on the Classification of Periodontal and Peri-Implant Diseases and Conditions. J Clin Periodontol. 2018;45(Suppl 20):S286-S291.</a:t>
            </a:r>
            <a:endParaRPr lang="en-US" sz="1350" dirty="0"/>
          </a:p>
        </p:txBody>
      </p:sp>
      <p:sp>
        <p:nvSpPr>
          <p:cNvPr id="6" name="Text 4"/>
          <p:cNvSpPr/>
          <p:nvPr/>
        </p:nvSpPr>
        <p:spPr>
          <a:xfrm>
            <a:off x="566928" y="3986784"/>
            <a:ext cx="11057839" cy="859536"/>
          </a:xfrm>
          <a:prstGeom prst="rect">
            <a:avLst/>
          </a:prstGeom>
          <a:noFill/>
          <a:ln/>
        </p:spPr>
        <p:txBody>
          <a:bodyPr wrap="square" lIns="0" tIns="0" rIns="0" bIns="0" rtlCol="0" anchor="ctr"/>
          <a:lstStyle/>
          <a:p>
            <a:pPr indent="0" marL="0">
              <a:lnSpc>
                <a:spcPct val="125000"/>
              </a:lnSpc>
              <a:buNone/>
            </a:pPr>
            <a:r>
              <a:rPr lang="en-US" sz="1350" dirty="0">
                <a:solidFill>
                  <a:srgbClr val="2B2E33"/>
                </a:solidFill>
                <a:latin typeface="Arial" pitchFamily="34" charset="0"/>
                <a:ea typeface="Arial" pitchFamily="34" charset="-122"/>
                <a:cs typeface="Arial" pitchFamily="34" charset="-120"/>
              </a:rPr>
              <a:t>3. Page MJ, McKenzie JE, Bossuyt PM, et al. The PRISMA 2020 statement: an updated guideline for reporting systematic reviews. BMJ. 2021;372:n71.</a:t>
            </a:r>
            <a:endParaRPr lang="en-US" sz="1350" dirty="0"/>
          </a:p>
        </p:txBody>
      </p:sp>
      <p:sp>
        <p:nvSpPr>
          <p:cNvPr id="7" name="Text 5"/>
          <p:cNvSpPr/>
          <p:nvPr/>
        </p:nvSpPr>
        <p:spPr>
          <a:xfrm>
            <a:off x="566928" y="4773168"/>
            <a:ext cx="11057839" cy="859536"/>
          </a:xfrm>
          <a:prstGeom prst="rect">
            <a:avLst/>
          </a:prstGeom>
          <a:noFill/>
          <a:ln/>
        </p:spPr>
        <p:txBody>
          <a:bodyPr wrap="square" lIns="0" tIns="0" rIns="0" bIns="0" rtlCol="0" anchor="ctr"/>
          <a:lstStyle/>
          <a:p>
            <a:pPr indent="0" marL="0">
              <a:lnSpc>
                <a:spcPct val="125000"/>
              </a:lnSpc>
              <a:buNone/>
            </a:pPr>
            <a:r>
              <a:rPr lang="en-US" sz="1350" dirty="0">
                <a:solidFill>
                  <a:srgbClr val="2B2E33"/>
                </a:solidFill>
                <a:latin typeface="Arial" pitchFamily="34" charset="0"/>
                <a:ea typeface="Arial" pitchFamily="34" charset="-122"/>
                <a:cs typeface="Arial" pitchFamily="34" charset="-120"/>
              </a:rPr>
              <a:t>4. Nova Southeastern University College of Dental Medicine. Advanced Education in General Dentistry Literature Review Protocol. Internal course document.</a:t>
            </a:r>
            <a:endParaRPr lang="en-US" sz="1350" dirty="0"/>
          </a:p>
        </p:txBody>
      </p:sp>
      <p:sp>
        <p:nvSpPr>
          <p:cNvPr id="8" name="Text 6"/>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9" name="Text 7"/>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13</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66928" y="128016"/>
            <a:ext cx="11057839" cy="201168"/>
          </a:xfrm>
          <a:prstGeom prst="rect">
            <a:avLst/>
          </a:prstGeom>
          <a:noFill/>
          <a:ln/>
        </p:spPr>
        <p:txBody>
          <a:bodyPr wrap="square" lIns="0" tIns="0" rIns="0" bIns="0" rtlCol="0" anchor="t"/>
          <a:lstStyle/>
          <a:p>
            <a:pPr indent="0" marL="0">
              <a:buNone/>
            </a:pPr>
            <a:r>
              <a:rPr lang="en-US" sz="950" b="1" spc="120" kern="0" dirty="0">
                <a:solidFill>
                  <a:srgbClr val="5B6570"/>
                </a:solidFill>
                <a:latin typeface="Arial" pitchFamily="34" charset="0"/>
                <a:ea typeface="Arial" pitchFamily="34" charset="-122"/>
                <a:cs typeface="Arial" pitchFamily="34" charset="-120"/>
              </a:rPr>
              <a:t>BACKUP SLIDE — NOT PART OF THE 15-MINUTE MAIN TALK</a:t>
            </a:r>
            <a:endParaRPr lang="en-US" sz="950" dirty="0"/>
          </a:p>
        </p:txBody>
      </p:sp>
      <p:sp>
        <p:nvSpPr>
          <p:cNvPr id="3" name="Text 1"/>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BACKUP · STUDY CHARACTERISTICS</a:t>
            </a:r>
            <a:endParaRPr lang="en-US" sz="1300" dirty="0"/>
          </a:p>
        </p:txBody>
      </p:sp>
      <p:sp>
        <p:nvSpPr>
          <p:cNvPr id="4" name="Text 2"/>
          <p:cNvSpPr/>
          <p:nvPr/>
        </p:nvSpPr>
        <p:spPr>
          <a:xfrm>
            <a:off x="566928" y="731520"/>
            <a:ext cx="11057839" cy="914400"/>
          </a:xfrm>
          <a:prstGeom prst="rect">
            <a:avLst/>
          </a:prstGeom>
          <a:noFill/>
          <a:ln/>
        </p:spPr>
        <p:txBody>
          <a:bodyPr wrap="square" lIns="0" tIns="0" rIns="0" bIns="0" rtlCol="0" anchor="t"/>
          <a:lstStyle/>
          <a:p>
            <a:pPr algn="l" indent="0" marL="0">
              <a:lnSpc>
                <a:spcPct val="102000"/>
              </a:lnSpc>
              <a:buNone/>
            </a:pPr>
            <a:r>
              <a:rPr lang="en-US" sz="2600" b="1" dirty="0">
                <a:solidFill>
                  <a:srgbClr val="0B2A4A"/>
                </a:solidFill>
                <a:latin typeface="Georgia" pitchFamily="34" charset="0"/>
                <a:ea typeface="Georgia" pitchFamily="34" charset="-122"/>
                <a:cs typeface="Georgia" pitchFamily="34" charset="-120"/>
              </a:rPr>
              <a:t>Implant Systems, Abutments, and Cements Across the 6 Trials</a:t>
            </a:r>
            <a:endParaRPr lang="en-US" sz="2600" dirty="0"/>
          </a:p>
        </p:txBody>
      </p:sp>
      <p:sp>
        <p:nvSpPr>
          <p:cNvPr id="5" name="Text 3"/>
          <p:cNvSpPr/>
          <p:nvPr/>
        </p:nvSpPr>
        <p:spPr>
          <a:xfrm>
            <a:off x="566928" y="1874520"/>
            <a:ext cx="2651760" cy="457200"/>
          </a:xfrm>
          <a:prstGeom prst="rect">
            <a:avLst/>
          </a:prstGeom>
          <a:noFill/>
          <a:ln/>
        </p:spPr>
        <p:txBody>
          <a:bodyPr wrap="square" lIns="0" tIns="0" rIns="0" bIns="0" rtlCol="0" anchor="ctr"/>
          <a:lstStyle/>
          <a:p>
            <a:pPr indent="0" marL="0">
              <a:lnSpc>
                <a:spcPct val="110000"/>
              </a:lnSpc>
              <a:buNone/>
            </a:pPr>
            <a:r>
              <a:rPr lang="en-US" sz="1150" b="1" spc="100" kern="0" dirty="0">
                <a:solidFill>
                  <a:srgbClr val="5B6570"/>
                </a:solidFill>
                <a:latin typeface="Arial" pitchFamily="34" charset="0"/>
                <a:ea typeface="Arial" pitchFamily="34" charset="-122"/>
                <a:cs typeface="Arial" pitchFamily="34" charset="-120"/>
              </a:rPr>
              <a:t>Study</a:t>
            </a:r>
            <a:endParaRPr lang="en-US" sz="1150" dirty="0"/>
          </a:p>
        </p:txBody>
      </p:sp>
      <p:sp>
        <p:nvSpPr>
          <p:cNvPr id="6" name="Text 4"/>
          <p:cNvSpPr/>
          <p:nvPr/>
        </p:nvSpPr>
        <p:spPr>
          <a:xfrm>
            <a:off x="3218688" y="1874520"/>
            <a:ext cx="3749040" cy="457200"/>
          </a:xfrm>
          <a:prstGeom prst="rect">
            <a:avLst/>
          </a:prstGeom>
          <a:noFill/>
          <a:ln/>
        </p:spPr>
        <p:txBody>
          <a:bodyPr wrap="square" lIns="0" tIns="0" rIns="0" bIns="0" rtlCol="0" anchor="ctr"/>
          <a:lstStyle/>
          <a:p>
            <a:pPr indent="0" marL="0">
              <a:lnSpc>
                <a:spcPct val="110000"/>
              </a:lnSpc>
              <a:buNone/>
            </a:pPr>
            <a:r>
              <a:rPr lang="en-US" sz="1150" b="1" dirty="0">
                <a:solidFill>
                  <a:srgbClr val="5B6570"/>
                </a:solidFill>
                <a:latin typeface="Arial" pitchFamily="34" charset="0"/>
                <a:ea typeface="Arial" pitchFamily="34" charset="-122"/>
                <a:cs typeface="Arial" pitchFamily="34" charset="-120"/>
              </a:rPr>
              <a:t>Implant system</a:t>
            </a:r>
            <a:endParaRPr lang="en-US" sz="1150" dirty="0"/>
          </a:p>
        </p:txBody>
      </p:sp>
      <p:sp>
        <p:nvSpPr>
          <p:cNvPr id="7" name="Text 5"/>
          <p:cNvSpPr/>
          <p:nvPr/>
        </p:nvSpPr>
        <p:spPr>
          <a:xfrm>
            <a:off x="6967728" y="1874520"/>
            <a:ext cx="1920240" cy="457200"/>
          </a:xfrm>
          <a:prstGeom prst="rect">
            <a:avLst/>
          </a:prstGeom>
          <a:noFill/>
          <a:ln/>
        </p:spPr>
        <p:txBody>
          <a:bodyPr wrap="square" lIns="0" tIns="0" rIns="0" bIns="0" rtlCol="0" anchor="ctr"/>
          <a:lstStyle/>
          <a:p>
            <a:pPr indent="0" marL="0">
              <a:lnSpc>
                <a:spcPct val="110000"/>
              </a:lnSpc>
              <a:buNone/>
            </a:pPr>
            <a:r>
              <a:rPr lang="en-US" sz="1150" b="1" dirty="0">
                <a:solidFill>
                  <a:srgbClr val="5B6570"/>
                </a:solidFill>
                <a:latin typeface="Arial" pitchFamily="34" charset="0"/>
                <a:ea typeface="Arial" pitchFamily="34" charset="-122"/>
                <a:cs typeface="Arial" pitchFamily="34" charset="-120"/>
              </a:rPr>
              <a:t>Abutment</a:t>
            </a:r>
            <a:endParaRPr lang="en-US" sz="1150" dirty="0"/>
          </a:p>
        </p:txBody>
      </p:sp>
      <p:sp>
        <p:nvSpPr>
          <p:cNvPr id="8" name="Text 6"/>
          <p:cNvSpPr/>
          <p:nvPr/>
        </p:nvSpPr>
        <p:spPr>
          <a:xfrm>
            <a:off x="8887968" y="1874520"/>
            <a:ext cx="2736799" cy="457200"/>
          </a:xfrm>
          <a:prstGeom prst="rect">
            <a:avLst/>
          </a:prstGeom>
          <a:noFill/>
          <a:ln/>
        </p:spPr>
        <p:txBody>
          <a:bodyPr wrap="square" lIns="0" tIns="0" rIns="0" bIns="0" rtlCol="0" anchor="ctr"/>
          <a:lstStyle/>
          <a:p>
            <a:pPr indent="0" marL="0">
              <a:lnSpc>
                <a:spcPct val="110000"/>
              </a:lnSpc>
              <a:buNone/>
            </a:pPr>
            <a:r>
              <a:rPr lang="en-US" sz="1150" b="1" dirty="0">
                <a:solidFill>
                  <a:srgbClr val="5B6570"/>
                </a:solidFill>
                <a:latin typeface="Arial" pitchFamily="34" charset="0"/>
                <a:ea typeface="Arial" pitchFamily="34" charset="-122"/>
                <a:cs typeface="Arial" pitchFamily="34" charset="-120"/>
              </a:rPr>
              <a:t>Cement / retention</a:t>
            </a:r>
            <a:endParaRPr lang="en-US" sz="1150" dirty="0"/>
          </a:p>
        </p:txBody>
      </p:sp>
      <p:sp>
        <p:nvSpPr>
          <p:cNvPr id="9" name="Shape 7"/>
          <p:cNvSpPr/>
          <p:nvPr/>
        </p:nvSpPr>
        <p:spPr>
          <a:xfrm>
            <a:off x="566928" y="2194560"/>
            <a:ext cx="11057839" cy="0"/>
          </a:xfrm>
          <a:prstGeom prst="line">
            <a:avLst/>
          </a:prstGeom>
          <a:noFill/>
          <a:ln w="12700">
            <a:solidFill>
              <a:srgbClr val="DEE3E7"/>
            </a:solidFill>
            <a:prstDash val="solid"/>
          </a:ln>
        </p:spPr>
      </p:sp>
      <p:sp>
        <p:nvSpPr>
          <p:cNvPr id="10" name="Text 8"/>
          <p:cNvSpPr/>
          <p:nvPr/>
        </p:nvSpPr>
        <p:spPr>
          <a:xfrm>
            <a:off x="566928" y="2240280"/>
            <a:ext cx="2651760" cy="457200"/>
          </a:xfrm>
          <a:prstGeom prst="rect">
            <a:avLst/>
          </a:prstGeom>
          <a:noFill/>
          <a:ln/>
        </p:spPr>
        <p:txBody>
          <a:bodyPr wrap="square" lIns="0" tIns="0" rIns="0" bIns="0" rtlCol="0" anchor="ctr"/>
          <a:lstStyle/>
          <a:p>
            <a:pPr indent="0" marL="0">
              <a:lnSpc>
                <a:spcPct val="110000"/>
              </a:lnSpc>
              <a:buNone/>
            </a:pPr>
            <a:r>
              <a:rPr lang="en-US" sz="1200" dirty="0">
                <a:solidFill>
                  <a:srgbClr val="0B2A4A"/>
                </a:solidFill>
                <a:latin typeface="Arial" pitchFamily="34" charset="0"/>
                <a:ea typeface="Arial" pitchFamily="34" charset="-122"/>
                <a:cs typeface="Arial" pitchFamily="34" charset="-120"/>
              </a:rPr>
              <a:t>Agustín-Panadero 2019</a:t>
            </a:r>
            <a:endParaRPr lang="en-US" sz="1200" dirty="0"/>
          </a:p>
        </p:txBody>
      </p:sp>
      <p:sp>
        <p:nvSpPr>
          <p:cNvPr id="11" name="Text 9"/>
          <p:cNvSpPr/>
          <p:nvPr/>
        </p:nvSpPr>
        <p:spPr>
          <a:xfrm>
            <a:off x="3218688" y="2240280"/>
            <a:ext cx="37490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Internal hex, conical (Vega, Klockner)</a:t>
            </a:r>
            <a:endParaRPr lang="en-US" sz="1200" dirty="0"/>
          </a:p>
        </p:txBody>
      </p:sp>
      <p:sp>
        <p:nvSpPr>
          <p:cNvPr id="12" name="Text 10"/>
          <p:cNvSpPr/>
          <p:nvPr/>
        </p:nvSpPr>
        <p:spPr>
          <a:xfrm>
            <a:off x="6967728" y="2240280"/>
            <a:ext cx="19202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Titanium grade IV</a:t>
            </a:r>
            <a:endParaRPr lang="en-US" sz="1200" dirty="0"/>
          </a:p>
        </p:txBody>
      </p:sp>
      <p:sp>
        <p:nvSpPr>
          <p:cNvPr id="13" name="Text 11"/>
          <p:cNvSpPr/>
          <p:nvPr/>
        </p:nvSpPr>
        <p:spPr>
          <a:xfrm>
            <a:off x="8887968" y="2240280"/>
            <a:ext cx="2736799"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Methacrylate-based (provisional)</a:t>
            </a:r>
            <a:endParaRPr lang="en-US" sz="1200" dirty="0"/>
          </a:p>
        </p:txBody>
      </p:sp>
      <p:sp>
        <p:nvSpPr>
          <p:cNvPr id="14" name="Text 12"/>
          <p:cNvSpPr/>
          <p:nvPr/>
        </p:nvSpPr>
        <p:spPr>
          <a:xfrm>
            <a:off x="566928" y="2807208"/>
            <a:ext cx="2651760" cy="457200"/>
          </a:xfrm>
          <a:prstGeom prst="rect">
            <a:avLst/>
          </a:prstGeom>
          <a:noFill/>
          <a:ln/>
        </p:spPr>
        <p:txBody>
          <a:bodyPr wrap="square" lIns="0" tIns="0" rIns="0" bIns="0" rtlCol="0" anchor="ctr"/>
          <a:lstStyle/>
          <a:p>
            <a:pPr indent="0" marL="0">
              <a:lnSpc>
                <a:spcPct val="110000"/>
              </a:lnSpc>
              <a:buNone/>
            </a:pPr>
            <a:r>
              <a:rPr lang="en-US" sz="1200" dirty="0">
                <a:solidFill>
                  <a:srgbClr val="0B2A4A"/>
                </a:solidFill>
                <a:latin typeface="Arial" pitchFamily="34" charset="0"/>
                <a:ea typeface="Arial" pitchFamily="34" charset="-122"/>
                <a:cs typeface="Arial" pitchFamily="34" charset="-120"/>
              </a:rPr>
              <a:t>Amorfini 2018</a:t>
            </a:r>
            <a:endParaRPr lang="en-US" sz="1200" dirty="0"/>
          </a:p>
        </p:txBody>
      </p:sp>
      <p:sp>
        <p:nvSpPr>
          <p:cNvPr id="15" name="Text 13"/>
          <p:cNvSpPr/>
          <p:nvPr/>
        </p:nvSpPr>
        <p:spPr>
          <a:xfrm>
            <a:off x="3218688" y="2807208"/>
            <a:ext cx="37490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Regular-neck tissue-level (Straumann)</a:t>
            </a:r>
            <a:endParaRPr lang="en-US" sz="1200" dirty="0"/>
          </a:p>
        </p:txBody>
      </p:sp>
      <p:sp>
        <p:nvSpPr>
          <p:cNvPr id="16" name="Text 14"/>
          <p:cNvSpPr/>
          <p:nvPr/>
        </p:nvSpPr>
        <p:spPr>
          <a:xfrm>
            <a:off x="6967728" y="2807208"/>
            <a:ext cx="19202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Zirconia</a:t>
            </a:r>
            <a:endParaRPr lang="en-US" sz="1200" dirty="0"/>
          </a:p>
        </p:txBody>
      </p:sp>
      <p:sp>
        <p:nvSpPr>
          <p:cNvPr id="17" name="Text 15"/>
          <p:cNvSpPr/>
          <p:nvPr/>
        </p:nvSpPr>
        <p:spPr>
          <a:xfrm>
            <a:off x="8887968" y="2807208"/>
            <a:ext cx="2736799"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Glass-ionomer</a:t>
            </a:r>
            <a:endParaRPr lang="en-US" sz="1200" dirty="0"/>
          </a:p>
        </p:txBody>
      </p:sp>
      <p:sp>
        <p:nvSpPr>
          <p:cNvPr id="18" name="Text 16"/>
          <p:cNvSpPr/>
          <p:nvPr/>
        </p:nvSpPr>
        <p:spPr>
          <a:xfrm>
            <a:off x="566928" y="3374136"/>
            <a:ext cx="2651760" cy="457200"/>
          </a:xfrm>
          <a:prstGeom prst="rect">
            <a:avLst/>
          </a:prstGeom>
          <a:noFill/>
          <a:ln/>
        </p:spPr>
        <p:txBody>
          <a:bodyPr wrap="square" lIns="0" tIns="0" rIns="0" bIns="0" rtlCol="0" anchor="ctr"/>
          <a:lstStyle/>
          <a:p>
            <a:pPr indent="0" marL="0">
              <a:lnSpc>
                <a:spcPct val="110000"/>
              </a:lnSpc>
              <a:buNone/>
            </a:pPr>
            <a:r>
              <a:rPr lang="en-US" sz="1200" dirty="0">
                <a:solidFill>
                  <a:srgbClr val="0B2A4A"/>
                </a:solidFill>
                <a:latin typeface="Arial" pitchFamily="34" charset="0"/>
                <a:ea typeface="Arial" pitchFamily="34" charset="-122"/>
                <a:cs typeface="Arial" pitchFamily="34" charset="-120"/>
              </a:rPr>
              <a:t>Kraus 2022</a:t>
            </a:r>
            <a:endParaRPr lang="en-US" sz="1200" dirty="0"/>
          </a:p>
        </p:txBody>
      </p:sp>
      <p:sp>
        <p:nvSpPr>
          <p:cNvPr id="19" name="Text 17"/>
          <p:cNvSpPr/>
          <p:nvPr/>
        </p:nvSpPr>
        <p:spPr>
          <a:xfrm>
            <a:off x="3218688" y="3374136"/>
            <a:ext cx="37490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Two-piece (OsseoSpeed, Astra Tech)</a:t>
            </a:r>
            <a:endParaRPr lang="en-US" sz="1200" dirty="0"/>
          </a:p>
        </p:txBody>
      </p:sp>
      <p:sp>
        <p:nvSpPr>
          <p:cNvPr id="20" name="Text 18"/>
          <p:cNvSpPr/>
          <p:nvPr/>
        </p:nvSpPr>
        <p:spPr>
          <a:xfrm>
            <a:off x="6967728" y="3374136"/>
            <a:ext cx="19202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Zirconia</a:t>
            </a:r>
            <a:endParaRPr lang="en-US" sz="1200" dirty="0"/>
          </a:p>
        </p:txBody>
      </p:sp>
      <p:sp>
        <p:nvSpPr>
          <p:cNvPr id="21" name="Text 19"/>
          <p:cNvSpPr/>
          <p:nvPr/>
        </p:nvSpPr>
        <p:spPr>
          <a:xfrm>
            <a:off x="8887968" y="3374136"/>
            <a:ext cx="2736799"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Resin cement (Panavia 21)</a:t>
            </a:r>
            <a:endParaRPr lang="en-US" sz="1200" dirty="0"/>
          </a:p>
        </p:txBody>
      </p:sp>
      <p:sp>
        <p:nvSpPr>
          <p:cNvPr id="22" name="Text 20"/>
          <p:cNvSpPr/>
          <p:nvPr/>
        </p:nvSpPr>
        <p:spPr>
          <a:xfrm>
            <a:off x="566928" y="3941064"/>
            <a:ext cx="2651760" cy="457200"/>
          </a:xfrm>
          <a:prstGeom prst="rect">
            <a:avLst/>
          </a:prstGeom>
          <a:noFill/>
          <a:ln/>
        </p:spPr>
        <p:txBody>
          <a:bodyPr wrap="square" lIns="0" tIns="0" rIns="0" bIns="0" rtlCol="0" anchor="ctr"/>
          <a:lstStyle/>
          <a:p>
            <a:pPr indent="0" marL="0">
              <a:lnSpc>
                <a:spcPct val="110000"/>
              </a:lnSpc>
              <a:buNone/>
            </a:pPr>
            <a:r>
              <a:rPr lang="en-US" sz="1200" dirty="0">
                <a:solidFill>
                  <a:srgbClr val="0B2A4A"/>
                </a:solidFill>
                <a:latin typeface="Arial" pitchFamily="34" charset="0"/>
                <a:ea typeface="Arial" pitchFamily="34" charset="-122"/>
                <a:cs typeface="Arial" pitchFamily="34" charset="-120"/>
              </a:rPr>
              <a:t>Schropp 2013</a:t>
            </a:r>
            <a:endParaRPr lang="en-US" sz="1200" dirty="0"/>
          </a:p>
        </p:txBody>
      </p:sp>
      <p:sp>
        <p:nvSpPr>
          <p:cNvPr id="23" name="Text 21"/>
          <p:cNvSpPr/>
          <p:nvPr/>
        </p:nvSpPr>
        <p:spPr>
          <a:xfrm>
            <a:off x="3218688" y="3941064"/>
            <a:ext cx="37490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Parallel-walled (Osseotite, Biomet 3i)</a:t>
            </a:r>
            <a:endParaRPr lang="en-US" sz="1200" dirty="0"/>
          </a:p>
        </p:txBody>
      </p:sp>
      <p:sp>
        <p:nvSpPr>
          <p:cNvPr id="24" name="Text 22"/>
          <p:cNvSpPr/>
          <p:nvPr/>
        </p:nvSpPr>
        <p:spPr>
          <a:xfrm>
            <a:off x="6967728" y="3941064"/>
            <a:ext cx="19202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Gold alloy / STA</a:t>
            </a:r>
            <a:endParaRPr lang="en-US" sz="1200" dirty="0"/>
          </a:p>
        </p:txBody>
      </p:sp>
      <p:sp>
        <p:nvSpPr>
          <p:cNvPr id="25" name="Text 23"/>
          <p:cNvSpPr/>
          <p:nvPr/>
        </p:nvSpPr>
        <p:spPr>
          <a:xfrm>
            <a:off x="8887968" y="3941064"/>
            <a:ext cx="2736799"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Zinc phosphate</a:t>
            </a:r>
            <a:endParaRPr lang="en-US" sz="1200" dirty="0"/>
          </a:p>
        </p:txBody>
      </p:sp>
      <p:sp>
        <p:nvSpPr>
          <p:cNvPr id="26" name="Text 24"/>
          <p:cNvSpPr/>
          <p:nvPr/>
        </p:nvSpPr>
        <p:spPr>
          <a:xfrm>
            <a:off x="566928" y="4507992"/>
            <a:ext cx="2651760" cy="457200"/>
          </a:xfrm>
          <a:prstGeom prst="rect">
            <a:avLst/>
          </a:prstGeom>
          <a:noFill/>
          <a:ln/>
        </p:spPr>
        <p:txBody>
          <a:bodyPr wrap="square" lIns="0" tIns="0" rIns="0" bIns="0" rtlCol="0" anchor="ctr"/>
          <a:lstStyle/>
          <a:p>
            <a:pPr indent="0" marL="0">
              <a:lnSpc>
                <a:spcPct val="110000"/>
              </a:lnSpc>
              <a:buNone/>
            </a:pPr>
            <a:r>
              <a:rPr lang="en-US" sz="1200" dirty="0">
                <a:solidFill>
                  <a:srgbClr val="0B2A4A"/>
                </a:solidFill>
                <a:latin typeface="Arial" pitchFamily="34" charset="0"/>
                <a:ea typeface="Arial" pitchFamily="34" charset="-122"/>
                <a:cs typeface="Arial" pitchFamily="34" charset="-120"/>
              </a:rPr>
              <a:t>Wolfart 2021</a:t>
            </a:r>
            <a:endParaRPr lang="en-US" sz="1200" dirty="0"/>
          </a:p>
        </p:txBody>
      </p:sp>
      <p:sp>
        <p:nvSpPr>
          <p:cNvPr id="27" name="Text 25"/>
          <p:cNvSpPr/>
          <p:nvPr/>
        </p:nvSpPr>
        <p:spPr>
          <a:xfrm>
            <a:off x="3218688" y="4507992"/>
            <a:ext cx="37490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Screw-line (Promote Plus, Camlog)</a:t>
            </a:r>
            <a:endParaRPr lang="en-US" sz="1200" dirty="0"/>
          </a:p>
        </p:txBody>
      </p:sp>
      <p:sp>
        <p:nvSpPr>
          <p:cNvPr id="28" name="Text 26"/>
          <p:cNvSpPr/>
          <p:nvPr/>
        </p:nvSpPr>
        <p:spPr>
          <a:xfrm>
            <a:off x="6967728" y="4507992"/>
            <a:ext cx="19202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Standard titanium</a:t>
            </a:r>
            <a:endParaRPr lang="en-US" sz="1200" dirty="0"/>
          </a:p>
        </p:txBody>
      </p:sp>
      <p:sp>
        <p:nvSpPr>
          <p:cNvPr id="29" name="Text 27"/>
          <p:cNvSpPr/>
          <p:nvPr/>
        </p:nvSpPr>
        <p:spPr>
          <a:xfrm>
            <a:off x="8887968" y="4507992"/>
            <a:ext cx="2736799"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Resin cement (Multilink)</a:t>
            </a:r>
            <a:endParaRPr lang="en-US" sz="1200" dirty="0"/>
          </a:p>
        </p:txBody>
      </p:sp>
      <p:sp>
        <p:nvSpPr>
          <p:cNvPr id="30" name="Text 28"/>
          <p:cNvSpPr/>
          <p:nvPr/>
        </p:nvSpPr>
        <p:spPr>
          <a:xfrm>
            <a:off x="566928" y="5074920"/>
            <a:ext cx="2651760" cy="457200"/>
          </a:xfrm>
          <a:prstGeom prst="rect">
            <a:avLst/>
          </a:prstGeom>
          <a:noFill/>
          <a:ln/>
        </p:spPr>
        <p:txBody>
          <a:bodyPr wrap="square" lIns="0" tIns="0" rIns="0" bIns="0" rtlCol="0" anchor="ctr"/>
          <a:lstStyle/>
          <a:p>
            <a:pPr indent="0" marL="0">
              <a:lnSpc>
                <a:spcPct val="110000"/>
              </a:lnSpc>
              <a:buNone/>
            </a:pPr>
            <a:r>
              <a:rPr lang="en-US" sz="1200" dirty="0">
                <a:solidFill>
                  <a:srgbClr val="0B2A4A"/>
                </a:solidFill>
                <a:latin typeface="Arial" pitchFamily="34" charset="0"/>
                <a:ea typeface="Arial" pitchFamily="34" charset="-122"/>
                <a:cs typeface="Arial" pitchFamily="34" charset="-120"/>
              </a:rPr>
              <a:t>Zembic 2012</a:t>
            </a:r>
            <a:endParaRPr lang="en-US" sz="1200" dirty="0"/>
          </a:p>
        </p:txBody>
      </p:sp>
      <p:sp>
        <p:nvSpPr>
          <p:cNvPr id="31" name="Text 29"/>
          <p:cNvSpPr/>
          <p:nvPr/>
        </p:nvSpPr>
        <p:spPr>
          <a:xfrm>
            <a:off x="3218688" y="5074920"/>
            <a:ext cx="37490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Regular platform, external hex (Brånemark, Nobel Biocare)</a:t>
            </a:r>
            <a:endParaRPr lang="en-US" sz="1200" dirty="0"/>
          </a:p>
        </p:txBody>
      </p:sp>
      <p:sp>
        <p:nvSpPr>
          <p:cNvPr id="32" name="Text 30"/>
          <p:cNvSpPr/>
          <p:nvPr/>
        </p:nvSpPr>
        <p:spPr>
          <a:xfrm>
            <a:off x="6967728" y="5074920"/>
            <a:ext cx="1920240"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Zirconia or titanium</a:t>
            </a:r>
            <a:endParaRPr lang="en-US" sz="1200" dirty="0"/>
          </a:p>
        </p:txBody>
      </p:sp>
      <p:sp>
        <p:nvSpPr>
          <p:cNvPr id="33" name="Text 31"/>
          <p:cNvSpPr/>
          <p:nvPr/>
        </p:nvSpPr>
        <p:spPr>
          <a:xfrm>
            <a:off x="8887968" y="5074920"/>
            <a:ext cx="2736799" cy="457200"/>
          </a:xfrm>
          <a:prstGeom prst="rect">
            <a:avLst/>
          </a:prstGeom>
          <a:noFill/>
          <a:ln/>
        </p:spPr>
        <p:txBody>
          <a:bodyPr wrap="square" lIns="0" tIns="0" rIns="0" bIns="0" rtlCol="0" anchor="ctr"/>
          <a:lstStyle/>
          <a:p>
            <a:pPr indent="0" marL="0">
              <a:lnSpc>
                <a:spcPct val="110000"/>
              </a:lnSpc>
              <a:buNone/>
            </a:pPr>
            <a:r>
              <a:rPr lang="en-US" sz="1200" dirty="0">
                <a:solidFill>
                  <a:srgbClr val="2B2E33"/>
                </a:solidFill>
                <a:latin typeface="Arial" pitchFamily="34" charset="0"/>
                <a:ea typeface="Arial" pitchFamily="34" charset="-122"/>
                <a:cs typeface="Arial" pitchFamily="34" charset="-120"/>
              </a:rPr>
              <a:t>Resin (Panavia/RelyX) or glass ionomer</a:t>
            </a:r>
            <a:endParaRPr lang="en-US" sz="1200" dirty="0"/>
          </a:p>
        </p:txBody>
      </p:sp>
      <p:sp>
        <p:nvSpPr>
          <p:cNvPr id="34" name="Text 32"/>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35" name="Text 33"/>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14</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66928" y="128016"/>
            <a:ext cx="11057839" cy="201168"/>
          </a:xfrm>
          <a:prstGeom prst="rect">
            <a:avLst/>
          </a:prstGeom>
          <a:noFill/>
          <a:ln/>
        </p:spPr>
        <p:txBody>
          <a:bodyPr wrap="square" lIns="0" tIns="0" rIns="0" bIns="0" rtlCol="0" anchor="t"/>
          <a:lstStyle/>
          <a:p>
            <a:pPr indent="0" marL="0">
              <a:buNone/>
            </a:pPr>
            <a:r>
              <a:rPr lang="en-US" sz="950" b="1" spc="120" kern="0" dirty="0">
                <a:solidFill>
                  <a:srgbClr val="5B6570"/>
                </a:solidFill>
                <a:latin typeface="Arial" pitchFamily="34" charset="0"/>
                <a:ea typeface="Arial" pitchFamily="34" charset="-122"/>
                <a:cs typeface="Arial" pitchFamily="34" charset="-120"/>
              </a:rPr>
              <a:t>BACKUP SLIDE — NOT PART OF THE 15-MINUTE MAIN TALK</a:t>
            </a:r>
            <a:endParaRPr lang="en-US" sz="950" dirty="0"/>
          </a:p>
        </p:txBody>
      </p:sp>
      <p:sp>
        <p:nvSpPr>
          <p:cNvPr id="3" name="Text 1"/>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BACKUP · GRADE DETAIL</a:t>
            </a:r>
            <a:endParaRPr lang="en-US" sz="1300" dirty="0"/>
          </a:p>
        </p:txBody>
      </p:sp>
      <p:sp>
        <p:nvSpPr>
          <p:cNvPr id="4" name="Text 2"/>
          <p:cNvSpPr/>
          <p:nvPr/>
        </p:nvSpPr>
        <p:spPr>
          <a:xfrm>
            <a:off x="566928" y="731520"/>
            <a:ext cx="11057839" cy="914400"/>
          </a:xfrm>
          <a:prstGeom prst="rect">
            <a:avLst/>
          </a:prstGeom>
          <a:noFill/>
          <a:ln/>
        </p:spPr>
        <p:txBody>
          <a:bodyPr wrap="square" lIns="0" tIns="0" rIns="0" bIns="0" rtlCol="0" anchor="t"/>
          <a:lstStyle/>
          <a:p>
            <a:pPr algn="l" indent="0" marL="0">
              <a:lnSpc>
                <a:spcPct val="102000"/>
              </a:lnSpc>
              <a:buNone/>
            </a:pPr>
            <a:r>
              <a:rPr lang="en-US" sz="2600" b="1" dirty="0">
                <a:solidFill>
                  <a:srgbClr val="0B2A4A"/>
                </a:solidFill>
                <a:latin typeface="Georgia" pitchFamily="34" charset="0"/>
                <a:ea typeface="Georgia" pitchFamily="34" charset="-122"/>
                <a:cs typeface="Georgia" pitchFamily="34" charset="-120"/>
              </a:rPr>
              <a:t>The Full GRADE Certainty-of-Evidence Table</a:t>
            </a:r>
            <a:endParaRPr lang="en-US" sz="2600" dirty="0"/>
          </a:p>
        </p:txBody>
      </p:sp>
      <p:pic>
        <p:nvPicPr>
          <p:cNvPr id="5" name="Image 0" descr="/tmp/claude-0/-home-user-project/d97f94cc-3bb8-5ef5-a091-9ffd884b42b2/scratchpad/fig/grade.png">    </p:cNvPr>
          <p:cNvPicPr>
            <a:picLocks noChangeAspect="1"/>
          </p:cNvPicPr>
          <p:nvPr/>
        </p:nvPicPr>
        <p:blipFill>
          <a:blip r:embed="rId1"/>
          <a:stretch>
            <a:fillRect/>
          </a:stretch>
        </p:blipFill>
        <p:spPr>
          <a:xfrm>
            <a:off x="566928" y="1783080"/>
            <a:ext cx="7923735" cy="2788920"/>
          </a:xfrm>
          <a:prstGeom prst="rect">
            <a:avLst/>
          </a:prstGeom>
          <a:effectLst>
            <a:outerShdw sx="100000" sy="100000" kx="0" ky="0" algn="bl" rotWithShape="0" blurRad="101600" dist="38100" dir="5400000">
              <a:srgbClr val="0B2A4A">
                <a:alpha val="18000"/>
              </a:srgbClr>
            </a:outerShdw>
          </a:effectLst>
        </p:spPr>
      </p:pic>
      <p:sp>
        <p:nvSpPr>
          <p:cNvPr id="6" name="Text 3"/>
          <p:cNvSpPr/>
          <p:nvPr/>
        </p:nvSpPr>
        <p:spPr>
          <a:xfrm>
            <a:off x="566928" y="4626864"/>
            <a:ext cx="11057839" cy="256032"/>
          </a:xfrm>
          <a:prstGeom prst="rect">
            <a:avLst/>
          </a:prstGeom>
          <a:noFill/>
          <a:ln/>
        </p:spPr>
        <p:txBody>
          <a:bodyPr wrap="square" lIns="0" tIns="0" rIns="0" bIns="0" rtlCol="0" anchor="ctr"/>
          <a:lstStyle/>
          <a:p>
            <a:pPr indent="0" marL="0">
              <a:buNone/>
            </a:pPr>
            <a:r>
              <a:rPr lang="en-US" sz="1050" i="1" dirty="0">
                <a:solidFill>
                  <a:srgbClr val="5B6570"/>
                </a:solidFill>
                <a:latin typeface="Arial" pitchFamily="34" charset="0"/>
                <a:ea typeface="Arial" pitchFamily="34" charset="-122"/>
                <a:cs typeface="Arial" pitchFamily="34" charset="-120"/>
              </a:rPr>
              <a:t>Figure reproduced from Reis et al., Table 4.</a:t>
            </a:r>
            <a:endParaRPr lang="en-US" sz="1050" dirty="0"/>
          </a:p>
        </p:txBody>
      </p:sp>
      <p:sp>
        <p:nvSpPr>
          <p:cNvPr id="7" name="Text 4"/>
          <p:cNvSpPr/>
          <p:nvPr/>
        </p:nvSpPr>
        <p:spPr>
          <a:xfrm>
            <a:off x="566928" y="4956048"/>
            <a:ext cx="11057839" cy="640080"/>
          </a:xfrm>
          <a:prstGeom prst="rect">
            <a:avLst/>
          </a:prstGeom>
          <a:noFill/>
          <a:ln/>
        </p:spPr>
        <p:txBody>
          <a:bodyPr wrap="square" lIns="0" tIns="0" rIns="0" bIns="0" rtlCol="0" anchor="ctr"/>
          <a:lstStyle/>
          <a:p>
            <a:pPr indent="0" marL="0">
              <a:lnSpc>
                <a:spcPct val="120000"/>
              </a:lnSpc>
              <a:buNone/>
            </a:pPr>
            <a:r>
              <a:rPr lang="en-US" sz="1250" b="1" dirty="0">
                <a:solidFill>
                  <a:srgbClr val="0B2A4A"/>
                </a:solidFill>
                <a:latin typeface="Arial" pitchFamily="34" charset="0"/>
                <a:ea typeface="Arial" pitchFamily="34" charset="-122"/>
                <a:cs typeface="Arial" pitchFamily="34" charset="-120"/>
              </a:rPr>
              <a:t>Note on definitions: </a:t>
            </a:r>
            <a:pPr indent="0" marL="0">
              <a:lnSpc>
                <a:spcPct val="120000"/>
              </a:lnSpc>
              <a:buNone/>
            </a:pPr>
            <a:r>
              <a:rPr lang="en-US" sz="1250" dirty="0">
                <a:solidFill>
                  <a:srgbClr val="2B2E33"/>
                </a:solidFill>
                <a:latin typeface="Arial" pitchFamily="34" charset="0"/>
                <a:ea typeface="Arial" pitchFamily="34" charset="-122"/>
                <a:cs typeface="Arial" pitchFamily="34" charset="-120"/>
              </a:rPr>
              <a:t>3 of the 6 included trials (Agustín-Panadero, Amorfini, Zembic) did not report an explicit definition of peri-implant mucositis or peri-implantitis at all (Table 3) — a comparability limitation across the pooled outcome.</a:t>
            </a:r>
            <a:endParaRPr lang="en-US" sz="1250" dirty="0"/>
          </a:p>
        </p:txBody>
      </p:sp>
      <p:sp>
        <p:nvSpPr>
          <p:cNvPr id="8" name="Text 5"/>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9" name="Text 6"/>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15</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66928" y="128016"/>
            <a:ext cx="11057839" cy="201168"/>
          </a:xfrm>
          <a:prstGeom prst="rect">
            <a:avLst/>
          </a:prstGeom>
          <a:noFill/>
          <a:ln/>
        </p:spPr>
        <p:txBody>
          <a:bodyPr wrap="square" lIns="0" tIns="0" rIns="0" bIns="0" rtlCol="0" anchor="t"/>
          <a:lstStyle/>
          <a:p>
            <a:pPr indent="0" marL="0">
              <a:buNone/>
            </a:pPr>
            <a:r>
              <a:rPr lang="en-US" sz="950" b="1" spc="120" kern="0" dirty="0">
                <a:solidFill>
                  <a:srgbClr val="5B6570"/>
                </a:solidFill>
                <a:latin typeface="Arial" pitchFamily="34" charset="0"/>
                <a:ea typeface="Arial" pitchFamily="34" charset="-122"/>
                <a:cs typeface="Arial" pitchFamily="34" charset="-120"/>
              </a:rPr>
              <a:t>BACKUP SLIDE — NOT PART OF THE 15-MINUTE MAIN TALK</a:t>
            </a:r>
            <a:endParaRPr lang="en-US" sz="950" dirty="0"/>
          </a:p>
        </p:txBody>
      </p:sp>
      <p:sp>
        <p:nvSpPr>
          <p:cNvPr id="3" name="Text 1"/>
          <p:cNvSpPr/>
          <p:nvPr/>
        </p:nvSpPr>
        <p:spPr>
          <a:xfrm>
            <a:off x="566928" y="384048"/>
            <a:ext cx="11057839" cy="292608"/>
          </a:xfrm>
          <a:prstGeom prst="rect">
            <a:avLst/>
          </a:prstGeom>
          <a:noFill/>
          <a:ln/>
        </p:spPr>
        <p:txBody>
          <a:bodyPr wrap="square" lIns="0" tIns="0" rIns="0" bIns="0" rtlCol="0" anchor="t"/>
          <a:lstStyle/>
          <a:p>
            <a:pPr algn="l" indent="0" marL="0">
              <a:buNone/>
            </a:pPr>
            <a:r>
              <a:rPr lang="en-US" sz="1300" b="1" spc="300" kern="0" dirty="0">
                <a:solidFill>
                  <a:srgbClr val="1F8A97"/>
                </a:solidFill>
                <a:latin typeface="Arial" pitchFamily="34" charset="0"/>
                <a:ea typeface="Arial" pitchFamily="34" charset="-122"/>
                <a:cs typeface="Arial" pitchFamily="34" charset="-120"/>
              </a:rPr>
              <a:t>BACKUP · METHODOLOGICAL DETAIL</a:t>
            </a:r>
            <a:endParaRPr lang="en-US" sz="1300" dirty="0"/>
          </a:p>
        </p:txBody>
      </p:sp>
      <p:sp>
        <p:nvSpPr>
          <p:cNvPr id="4" name="Text 2"/>
          <p:cNvSpPr/>
          <p:nvPr/>
        </p:nvSpPr>
        <p:spPr>
          <a:xfrm>
            <a:off x="566928" y="731520"/>
            <a:ext cx="11057839" cy="914400"/>
          </a:xfrm>
          <a:prstGeom prst="rect">
            <a:avLst/>
          </a:prstGeom>
          <a:noFill/>
          <a:ln/>
        </p:spPr>
        <p:txBody>
          <a:bodyPr wrap="square" lIns="0" tIns="0" rIns="0" bIns="0" rtlCol="0" anchor="t"/>
          <a:lstStyle/>
          <a:p>
            <a:pPr algn="l" indent="0" marL="0">
              <a:lnSpc>
                <a:spcPct val="102000"/>
              </a:lnSpc>
              <a:buNone/>
            </a:pPr>
            <a:r>
              <a:rPr lang="en-US" sz="2600" b="1" dirty="0">
                <a:solidFill>
                  <a:srgbClr val="0B2A4A"/>
                </a:solidFill>
                <a:latin typeface="Georgia" pitchFamily="34" charset="0"/>
                <a:ea typeface="Georgia" pitchFamily="34" charset="-122"/>
                <a:cs typeface="Georgia" pitchFamily="34" charset="-120"/>
              </a:rPr>
              <a:t>Search Strategy and RoB 2 Domain Glossary</a:t>
            </a:r>
            <a:endParaRPr lang="en-US" sz="2600" dirty="0"/>
          </a:p>
        </p:txBody>
      </p:sp>
      <p:sp>
        <p:nvSpPr>
          <p:cNvPr id="5" name="Text 3"/>
          <p:cNvSpPr/>
          <p:nvPr/>
        </p:nvSpPr>
        <p:spPr>
          <a:xfrm>
            <a:off x="566928" y="1828800"/>
            <a:ext cx="5254600" cy="274320"/>
          </a:xfrm>
          <a:prstGeom prst="rect">
            <a:avLst/>
          </a:prstGeom>
          <a:noFill/>
          <a:ln/>
        </p:spPr>
        <p:txBody>
          <a:bodyPr wrap="square" lIns="0" tIns="0" rIns="0" bIns="0" rtlCol="0" anchor="ctr"/>
          <a:lstStyle/>
          <a:p>
            <a:pPr indent="0" marL="0">
              <a:buNone/>
            </a:pPr>
            <a:r>
              <a:rPr lang="en-US" sz="1250" b="1" spc="120" kern="0" dirty="0">
                <a:solidFill>
                  <a:srgbClr val="1F8A97"/>
                </a:solidFill>
                <a:latin typeface="Arial" pitchFamily="34" charset="0"/>
                <a:ea typeface="Arial" pitchFamily="34" charset="-122"/>
                <a:cs typeface="Arial" pitchFamily="34" charset="-120"/>
              </a:rPr>
              <a:t>SEARCH &amp; REGISTRATION DETAIL</a:t>
            </a:r>
            <a:endParaRPr lang="en-US" sz="1250" dirty="0"/>
          </a:p>
        </p:txBody>
      </p:sp>
      <p:sp>
        <p:nvSpPr>
          <p:cNvPr id="6" name="Text 4"/>
          <p:cNvSpPr/>
          <p:nvPr/>
        </p:nvSpPr>
        <p:spPr>
          <a:xfrm>
            <a:off x="566928" y="2194560"/>
            <a:ext cx="5254600" cy="548640"/>
          </a:xfrm>
          <a:prstGeom prst="rect">
            <a:avLst/>
          </a:prstGeom>
          <a:noFill/>
          <a:ln/>
        </p:spPr>
        <p:txBody>
          <a:bodyPr wrap="square" lIns="0" tIns="0" rIns="0" bIns="0" rtlCol="0" anchor="ctr"/>
          <a:lstStyle/>
          <a:p>
            <a:pPr indent="0" marL="0">
              <a:lnSpc>
                <a:spcPct val="115000"/>
              </a:lnSpc>
              <a:buNone/>
            </a:pPr>
            <a:r>
              <a:rPr lang="en-US" sz="1300" dirty="0">
                <a:solidFill>
                  <a:srgbClr val="2B2E33"/>
                </a:solidFill>
                <a:latin typeface="Arial" pitchFamily="34" charset="0"/>
                <a:ea typeface="Arial" pitchFamily="34" charset="-122"/>
                <a:cs typeface="Arial" pitchFamily="34" charset="-120"/>
              </a:rPr>
              <a:t>•  PROSPERO CRD42022379444; PRISMA 2020 guidelines</a:t>
            </a:r>
            <a:endParaRPr lang="en-US" sz="1300" dirty="0"/>
          </a:p>
        </p:txBody>
      </p:sp>
      <p:sp>
        <p:nvSpPr>
          <p:cNvPr id="7" name="Text 5"/>
          <p:cNvSpPr/>
          <p:nvPr/>
        </p:nvSpPr>
        <p:spPr>
          <a:xfrm>
            <a:off x="566928" y="2761488"/>
            <a:ext cx="5254600" cy="548640"/>
          </a:xfrm>
          <a:prstGeom prst="rect">
            <a:avLst/>
          </a:prstGeom>
          <a:noFill/>
          <a:ln/>
        </p:spPr>
        <p:txBody>
          <a:bodyPr wrap="square" lIns="0" tIns="0" rIns="0" bIns="0" rtlCol="0" anchor="ctr"/>
          <a:lstStyle/>
          <a:p>
            <a:pPr indent="0" marL="0">
              <a:lnSpc>
                <a:spcPct val="115000"/>
              </a:lnSpc>
              <a:buNone/>
            </a:pPr>
            <a:r>
              <a:rPr lang="en-US" sz="1300" dirty="0">
                <a:solidFill>
                  <a:srgbClr val="2B2E33"/>
                </a:solidFill>
                <a:latin typeface="Arial" pitchFamily="34" charset="0"/>
                <a:ea typeface="Arial" pitchFamily="34" charset="-122"/>
                <a:cs typeface="Arial" pitchFamily="34" charset="-120"/>
              </a:rPr>
              <a:t>•  Databases: MEDLINE/PubMed, Embase, Scopus, Web of Science, searched to Jan 2023</a:t>
            </a:r>
            <a:endParaRPr lang="en-US" sz="1300" dirty="0"/>
          </a:p>
        </p:txBody>
      </p:sp>
      <p:sp>
        <p:nvSpPr>
          <p:cNvPr id="8" name="Text 6"/>
          <p:cNvSpPr/>
          <p:nvPr/>
        </p:nvSpPr>
        <p:spPr>
          <a:xfrm>
            <a:off x="566928" y="3328416"/>
            <a:ext cx="5254600" cy="548640"/>
          </a:xfrm>
          <a:prstGeom prst="rect">
            <a:avLst/>
          </a:prstGeom>
          <a:noFill/>
          <a:ln/>
        </p:spPr>
        <p:txBody>
          <a:bodyPr wrap="square" lIns="0" tIns="0" rIns="0" bIns="0" rtlCol="0" anchor="ctr"/>
          <a:lstStyle/>
          <a:p>
            <a:pPr indent="0" marL="0">
              <a:lnSpc>
                <a:spcPct val="115000"/>
              </a:lnSpc>
              <a:buNone/>
            </a:pPr>
            <a:r>
              <a:rPr lang="en-US" sz="1300" dirty="0">
                <a:solidFill>
                  <a:srgbClr val="2B2E33"/>
                </a:solidFill>
                <a:latin typeface="Arial" pitchFamily="34" charset="0"/>
                <a:ea typeface="Arial" pitchFamily="34" charset="-122"/>
                <a:cs typeface="Arial" pitchFamily="34" charset="-120"/>
              </a:rPr>
              <a:t>•  Grey literature: OpenGrey, Grey Literature Report; hand-searched reference lists</a:t>
            </a:r>
            <a:endParaRPr lang="en-US" sz="1300" dirty="0"/>
          </a:p>
        </p:txBody>
      </p:sp>
      <p:sp>
        <p:nvSpPr>
          <p:cNvPr id="9" name="Text 7"/>
          <p:cNvSpPr/>
          <p:nvPr/>
        </p:nvSpPr>
        <p:spPr>
          <a:xfrm>
            <a:off x="566928" y="3895344"/>
            <a:ext cx="5254600" cy="548640"/>
          </a:xfrm>
          <a:prstGeom prst="rect">
            <a:avLst/>
          </a:prstGeom>
          <a:noFill/>
          <a:ln/>
        </p:spPr>
        <p:txBody>
          <a:bodyPr wrap="square" lIns="0" tIns="0" rIns="0" bIns="0" rtlCol="0" anchor="ctr"/>
          <a:lstStyle/>
          <a:p>
            <a:pPr indent="0" marL="0">
              <a:lnSpc>
                <a:spcPct val="115000"/>
              </a:lnSpc>
              <a:buNone/>
            </a:pPr>
            <a:r>
              <a:rPr lang="en-US" sz="1300" dirty="0">
                <a:solidFill>
                  <a:srgbClr val="2B2E33"/>
                </a:solidFill>
                <a:latin typeface="Arial" pitchFamily="34" charset="0"/>
                <a:ea typeface="Arial" pitchFamily="34" charset="-122"/>
                <a:cs typeface="Arial" pitchFamily="34" charset="-120"/>
              </a:rPr>
              <a:t>•  Screening κ = 0.86 (title/abstract); κ = 0.90 (full text); 3rd reviewer (I.N.R.R.) arbitrated</a:t>
            </a:r>
            <a:endParaRPr lang="en-US" sz="1300" dirty="0"/>
          </a:p>
        </p:txBody>
      </p:sp>
      <p:sp>
        <p:nvSpPr>
          <p:cNvPr id="10" name="Text 8"/>
          <p:cNvSpPr/>
          <p:nvPr/>
        </p:nvSpPr>
        <p:spPr>
          <a:xfrm>
            <a:off x="566928" y="4462272"/>
            <a:ext cx="5254600" cy="548640"/>
          </a:xfrm>
          <a:prstGeom prst="rect">
            <a:avLst/>
          </a:prstGeom>
          <a:noFill/>
          <a:ln/>
        </p:spPr>
        <p:txBody>
          <a:bodyPr wrap="square" lIns="0" tIns="0" rIns="0" bIns="0" rtlCol="0" anchor="ctr"/>
          <a:lstStyle/>
          <a:p>
            <a:pPr indent="0" marL="0">
              <a:lnSpc>
                <a:spcPct val="115000"/>
              </a:lnSpc>
              <a:buNone/>
            </a:pPr>
            <a:r>
              <a:rPr lang="en-US" sz="1300" dirty="0">
                <a:solidFill>
                  <a:srgbClr val="2B2E33"/>
                </a:solidFill>
                <a:latin typeface="Arial" pitchFamily="34" charset="0"/>
                <a:ea typeface="Arial" pitchFamily="34" charset="-122"/>
                <a:cs typeface="Arial" pitchFamily="34" charset="-120"/>
              </a:rPr>
              <a:t>•  Statistics: Review Manager v5.4; random-effects model; GRADEpro GDT</a:t>
            </a:r>
            <a:endParaRPr lang="en-US" sz="1300" dirty="0"/>
          </a:p>
        </p:txBody>
      </p:sp>
      <p:sp>
        <p:nvSpPr>
          <p:cNvPr id="11" name="Text 9"/>
          <p:cNvSpPr/>
          <p:nvPr/>
        </p:nvSpPr>
        <p:spPr>
          <a:xfrm>
            <a:off x="6370168" y="1828800"/>
            <a:ext cx="5254600" cy="274320"/>
          </a:xfrm>
          <a:prstGeom prst="rect">
            <a:avLst/>
          </a:prstGeom>
          <a:noFill/>
          <a:ln/>
        </p:spPr>
        <p:txBody>
          <a:bodyPr wrap="square" lIns="0" tIns="0" rIns="0" bIns="0" rtlCol="0" anchor="ctr"/>
          <a:lstStyle/>
          <a:p>
            <a:pPr indent="0" marL="0">
              <a:buNone/>
            </a:pPr>
            <a:r>
              <a:rPr lang="en-US" sz="1250" b="1" spc="120" kern="0" dirty="0">
                <a:solidFill>
                  <a:srgbClr val="1F8A97"/>
                </a:solidFill>
                <a:latin typeface="Arial" pitchFamily="34" charset="0"/>
                <a:ea typeface="Arial" pitchFamily="34" charset="-122"/>
                <a:cs typeface="Arial" pitchFamily="34" charset="-120"/>
              </a:rPr>
              <a:t>RoB 2 DOMAIN GLOSSARY</a:t>
            </a:r>
            <a:endParaRPr lang="en-US" sz="1250" dirty="0"/>
          </a:p>
        </p:txBody>
      </p:sp>
      <p:sp>
        <p:nvSpPr>
          <p:cNvPr id="12" name="Text 10"/>
          <p:cNvSpPr/>
          <p:nvPr/>
        </p:nvSpPr>
        <p:spPr>
          <a:xfrm>
            <a:off x="6370168" y="2194560"/>
            <a:ext cx="594360" cy="365760"/>
          </a:xfrm>
          <a:prstGeom prst="rect">
            <a:avLst/>
          </a:prstGeom>
          <a:noFill/>
          <a:ln/>
        </p:spPr>
        <p:txBody>
          <a:bodyPr wrap="square" lIns="0" tIns="0" rIns="0" bIns="0" rtlCol="0" anchor="ctr"/>
          <a:lstStyle/>
          <a:p>
            <a:pPr indent="0" marL="0">
              <a:buNone/>
            </a:pPr>
            <a:r>
              <a:rPr lang="en-US" sz="1350" b="1" dirty="0">
                <a:solidFill>
                  <a:srgbClr val="0B2A4A"/>
                </a:solidFill>
                <a:latin typeface="Arial" pitchFamily="34" charset="0"/>
                <a:ea typeface="Arial" pitchFamily="34" charset="-122"/>
                <a:cs typeface="Arial" pitchFamily="34" charset="-120"/>
              </a:rPr>
              <a:t>D1</a:t>
            </a:r>
            <a:endParaRPr lang="en-US" sz="1350" dirty="0"/>
          </a:p>
        </p:txBody>
      </p:sp>
      <p:sp>
        <p:nvSpPr>
          <p:cNvPr id="13" name="Text 11"/>
          <p:cNvSpPr/>
          <p:nvPr/>
        </p:nvSpPr>
        <p:spPr>
          <a:xfrm>
            <a:off x="6964528" y="2194560"/>
            <a:ext cx="4660240" cy="365760"/>
          </a:xfrm>
          <a:prstGeom prst="rect">
            <a:avLst/>
          </a:prstGeom>
          <a:noFill/>
          <a:ln/>
        </p:spPr>
        <p:txBody>
          <a:bodyPr wrap="square" lIns="0" tIns="0" rIns="0" bIns="0" rtlCol="0" anchor="ctr"/>
          <a:lstStyle/>
          <a:p>
            <a:pPr indent="0" marL="0">
              <a:buNone/>
            </a:pPr>
            <a:r>
              <a:rPr lang="en-US" sz="1300" dirty="0">
                <a:solidFill>
                  <a:srgbClr val="2B2E33"/>
                </a:solidFill>
                <a:latin typeface="Arial" pitchFamily="34" charset="0"/>
                <a:ea typeface="Arial" pitchFamily="34" charset="-122"/>
                <a:cs typeface="Arial" pitchFamily="34" charset="-120"/>
              </a:rPr>
              <a:t>Randomization process</a:t>
            </a:r>
            <a:endParaRPr lang="en-US" sz="1300" dirty="0"/>
          </a:p>
        </p:txBody>
      </p:sp>
      <p:sp>
        <p:nvSpPr>
          <p:cNvPr id="14" name="Text 12"/>
          <p:cNvSpPr/>
          <p:nvPr/>
        </p:nvSpPr>
        <p:spPr>
          <a:xfrm>
            <a:off x="6370168" y="2651760"/>
            <a:ext cx="594360" cy="365760"/>
          </a:xfrm>
          <a:prstGeom prst="rect">
            <a:avLst/>
          </a:prstGeom>
          <a:noFill/>
          <a:ln/>
        </p:spPr>
        <p:txBody>
          <a:bodyPr wrap="square" lIns="0" tIns="0" rIns="0" bIns="0" rtlCol="0" anchor="ctr"/>
          <a:lstStyle/>
          <a:p>
            <a:pPr indent="0" marL="0">
              <a:buNone/>
            </a:pPr>
            <a:r>
              <a:rPr lang="en-US" sz="1350" b="1" dirty="0">
                <a:solidFill>
                  <a:srgbClr val="0B2A4A"/>
                </a:solidFill>
                <a:latin typeface="Arial" pitchFamily="34" charset="0"/>
                <a:ea typeface="Arial" pitchFamily="34" charset="-122"/>
                <a:cs typeface="Arial" pitchFamily="34" charset="-120"/>
              </a:rPr>
              <a:t>D2.1</a:t>
            </a:r>
            <a:endParaRPr lang="en-US" sz="1350" dirty="0"/>
          </a:p>
        </p:txBody>
      </p:sp>
      <p:sp>
        <p:nvSpPr>
          <p:cNvPr id="15" name="Text 13"/>
          <p:cNvSpPr/>
          <p:nvPr/>
        </p:nvSpPr>
        <p:spPr>
          <a:xfrm>
            <a:off x="6964528" y="2651760"/>
            <a:ext cx="4660240" cy="365760"/>
          </a:xfrm>
          <a:prstGeom prst="rect">
            <a:avLst/>
          </a:prstGeom>
          <a:noFill/>
          <a:ln/>
        </p:spPr>
        <p:txBody>
          <a:bodyPr wrap="square" lIns="0" tIns="0" rIns="0" bIns="0" rtlCol="0" anchor="ctr"/>
          <a:lstStyle/>
          <a:p>
            <a:pPr indent="0" marL="0">
              <a:buNone/>
            </a:pPr>
            <a:r>
              <a:rPr lang="en-US" sz="1300" dirty="0">
                <a:solidFill>
                  <a:srgbClr val="2B2E33"/>
                </a:solidFill>
                <a:latin typeface="Arial" pitchFamily="34" charset="0"/>
                <a:ea typeface="Arial" pitchFamily="34" charset="-122"/>
                <a:cs typeface="Arial" pitchFamily="34" charset="-120"/>
              </a:rPr>
              <a:t>Deviations from intended intervention — assignment</a:t>
            </a:r>
            <a:endParaRPr lang="en-US" sz="1300" dirty="0"/>
          </a:p>
        </p:txBody>
      </p:sp>
      <p:sp>
        <p:nvSpPr>
          <p:cNvPr id="16" name="Text 14"/>
          <p:cNvSpPr/>
          <p:nvPr/>
        </p:nvSpPr>
        <p:spPr>
          <a:xfrm>
            <a:off x="6370168" y="3108960"/>
            <a:ext cx="594360" cy="365760"/>
          </a:xfrm>
          <a:prstGeom prst="rect">
            <a:avLst/>
          </a:prstGeom>
          <a:noFill/>
          <a:ln/>
        </p:spPr>
        <p:txBody>
          <a:bodyPr wrap="square" lIns="0" tIns="0" rIns="0" bIns="0" rtlCol="0" anchor="ctr"/>
          <a:lstStyle/>
          <a:p>
            <a:pPr indent="0" marL="0">
              <a:buNone/>
            </a:pPr>
            <a:r>
              <a:rPr lang="en-US" sz="1350" b="1" dirty="0">
                <a:solidFill>
                  <a:srgbClr val="0B2A4A"/>
                </a:solidFill>
                <a:latin typeface="Arial" pitchFamily="34" charset="0"/>
                <a:ea typeface="Arial" pitchFamily="34" charset="-122"/>
                <a:cs typeface="Arial" pitchFamily="34" charset="-120"/>
              </a:rPr>
              <a:t>D2.2</a:t>
            </a:r>
            <a:endParaRPr lang="en-US" sz="1350" dirty="0"/>
          </a:p>
        </p:txBody>
      </p:sp>
      <p:sp>
        <p:nvSpPr>
          <p:cNvPr id="17" name="Text 15"/>
          <p:cNvSpPr/>
          <p:nvPr/>
        </p:nvSpPr>
        <p:spPr>
          <a:xfrm>
            <a:off x="6964528" y="3108960"/>
            <a:ext cx="4660240" cy="365760"/>
          </a:xfrm>
          <a:prstGeom prst="rect">
            <a:avLst/>
          </a:prstGeom>
          <a:noFill/>
          <a:ln/>
        </p:spPr>
        <p:txBody>
          <a:bodyPr wrap="square" lIns="0" tIns="0" rIns="0" bIns="0" rtlCol="0" anchor="ctr"/>
          <a:lstStyle/>
          <a:p>
            <a:pPr indent="0" marL="0">
              <a:buNone/>
            </a:pPr>
            <a:r>
              <a:rPr lang="en-US" sz="1300" dirty="0">
                <a:solidFill>
                  <a:srgbClr val="2B2E33"/>
                </a:solidFill>
                <a:latin typeface="Arial" pitchFamily="34" charset="0"/>
                <a:ea typeface="Arial" pitchFamily="34" charset="-122"/>
                <a:cs typeface="Arial" pitchFamily="34" charset="-120"/>
              </a:rPr>
              <a:t>Deviations from intended intervention — adherence</a:t>
            </a:r>
            <a:endParaRPr lang="en-US" sz="1300" dirty="0"/>
          </a:p>
        </p:txBody>
      </p:sp>
      <p:sp>
        <p:nvSpPr>
          <p:cNvPr id="18" name="Text 16"/>
          <p:cNvSpPr/>
          <p:nvPr/>
        </p:nvSpPr>
        <p:spPr>
          <a:xfrm>
            <a:off x="6370168" y="3566160"/>
            <a:ext cx="594360" cy="365760"/>
          </a:xfrm>
          <a:prstGeom prst="rect">
            <a:avLst/>
          </a:prstGeom>
          <a:noFill/>
          <a:ln/>
        </p:spPr>
        <p:txBody>
          <a:bodyPr wrap="square" lIns="0" tIns="0" rIns="0" bIns="0" rtlCol="0" anchor="ctr"/>
          <a:lstStyle/>
          <a:p>
            <a:pPr indent="0" marL="0">
              <a:buNone/>
            </a:pPr>
            <a:r>
              <a:rPr lang="en-US" sz="1350" b="1" dirty="0">
                <a:solidFill>
                  <a:srgbClr val="0B2A4A"/>
                </a:solidFill>
                <a:latin typeface="Arial" pitchFamily="34" charset="0"/>
                <a:ea typeface="Arial" pitchFamily="34" charset="-122"/>
                <a:cs typeface="Arial" pitchFamily="34" charset="-120"/>
              </a:rPr>
              <a:t>D3</a:t>
            </a:r>
            <a:endParaRPr lang="en-US" sz="1350" dirty="0"/>
          </a:p>
        </p:txBody>
      </p:sp>
      <p:sp>
        <p:nvSpPr>
          <p:cNvPr id="19" name="Text 17"/>
          <p:cNvSpPr/>
          <p:nvPr/>
        </p:nvSpPr>
        <p:spPr>
          <a:xfrm>
            <a:off x="6964528" y="3566160"/>
            <a:ext cx="4660240" cy="365760"/>
          </a:xfrm>
          <a:prstGeom prst="rect">
            <a:avLst/>
          </a:prstGeom>
          <a:noFill/>
          <a:ln/>
        </p:spPr>
        <p:txBody>
          <a:bodyPr wrap="square" lIns="0" tIns="0" rIns="0" bIns="0" rtlCol="0" anchor="ctr"/>
          <a:lstStyle/>
          <a:p>
            <a:pPr indent="0" marL="0">
              <a:buNone/>
            </a:pPr>
            <a:r>
              <a:rPr lang="en-US" sz="1300" dirty="0">
                <a:solidFill>
                  <a:srgbClr val="2B2E33"/>
                </a:solidFill>
                <a:latin typeface="Arial" pitchFamily="34" charset="0"/>
                <a:ea typeface="Arial" pitchFamily="34" charset="-122"/>
                <a:cs typeface="Arial" pitchFamily="34" charset="-120"/>
              </a:rPr>
              <a:t>Missing outcome data</a:t>
            </a:r>
            <a:endParaRPr lang="en-US" sz="1300" dirty="0"/>
          </a:p>
        </p:txBody>
      </p:sp>
      <p:sp>
        <p:nvSpPr>
          <p:cNvPr id="20" name="Text 18"/>
          <p:cNvSpPr/>
          <p:nvPr/>
        </p:nvSpPr>
        <p:spPr>
          <a:xfrm>
            <a:off x="6370168" y="4023360"/>
            <a:ext cx="594360" cy="365760"/>
          </a:xfrm>
          <a:prstGeom prst="rect">
            <a:avLst/>
          </a:prstGeom>
          <a:noFill/>
          <a:ln/>
        </p:spPr>
        <p:txBody>
          <a:bodyPr wrap="square" lIns="0" tIns="0" rIns="0" bIns="0" rtlCol="0" anchor="ctr"/>
          <a:lstStyle/>
          <a:p>
            <a:pPr indent="0" marL="0">
              <a:buNone/>
            </a:pPr>
            <a:r>
              <a:rPr lang="en-US" sz="1350" b="1" dirty="0">
                <a:solidFill>
                  <a:srgbClr val="0B2A4A"/>
                </a:solidFill>
                <a:latin typeface="Arial" pitchFamily="34" charset="0"/>
                <a:ea typeface="Arial" pitchFamily="34" charset="-122"/>
                <a:cs typeface="Arial" pitchFamily="34" charset="-120"/>
              </a:rPr>
              <a:t>D4</a:t>
            </a:r>
            <a:endParaRPr lang="en-US" sz="1350" dirty="0"/>
          </a:p>
        </p:txBody>
      </p:sp>
      <p:sp>
        <p:nvSpPr>
          <p:cNvPr id="21" name="Text 19"/>
          <p:cNvSpPr/>
          <p:nvPr/>
        </p:nvSpPr>
        <p:spPr>
          <a:xfrm>
            <a:off x="6964528" y="4023360"/>
            <a:ext cx="4660240" cy="365760"/>
          </a:xfrm>
          <a:prstGeom prst="rect">
            <a:avLst/>
          </a:prstGeom>
          <a:noFill/>
          <a:ln/>
        </p:spPr>
        <p:txBody>
          <a:bodyPr wrap="square" lIns="0" tIns="0" rIns="0" bIns="0" rtlCol="0" anchor="ctr"/>
          <a:lstStyle/>
          <a:p>
            <a:pPr indent="0" marL="0">
              <a:buNone/>
            </a:pPr>
            <a:r>
              <a:rPr lang="en-US" sz="1300" dirty="0">
                <a:solidFill>
                  <a:srgbClr val="2B2E33"/>
                </a:solidFill>
                <a:latin typeface="Arial" pitchFamily="34" charset="0"/>
                <a:ea typeface="Arial" pitchFamily="34" charset="-122"/>
                <a:cs typeface="Arial" pitchFamily="34" charset="-120"/>
              </a:rPr>
              <a:t>Measurement of the outcome</a:t>
            </a:r>
            <a:endParaRPr lang="en-US" sz="1300" dirty="0"/>
          </a:p>
        </p:txBody>
      </p:sp>
      <p:sp>
        <p:nvSpPr>
          <p:cNvPr id="22" name="Text 20"/>
          <p:cNvSpPr/>
          <p:nvPr/>
        </p:nvSpPr>
        <p:spPr>
          <a:xfrm>
            <a:off x="6370168" y="4480560"/>
            <a:ext cx="594360" cy="365760"/>
          </a:xfrm>
          <a:prstGeom prst="rect">
            <a:avLst/>
          </a:prstGeom>
          <a:noFill/>
          <a:ln/>
        </p:spPr>
        <p:txBody>
          <a:bodyPr wrap="square" lIns="0" tIns="0" rIns="0" bIns="0" rtlCol="0" anchor="ctr"/>
          <a:lstStyle/>
          <a:p>
            <a:pPr indent="0" marL="0">
              <a:buNone/>
            </a:pPr>
            <a:r>
              <a:rPr lang="en-US" sz="1350" b="1" dirty="0">
                <a:solidFill>
                  <a:srgbClr val="0B2A4A"/>
                </a:solidFill>
                <a:latin typeface="Arial" pitchFamily="34" charset="0"/>
                <a:ea typeface="Arial" pitchFamily="34" charset="-122"/>
                <a:cs typeface="Arial" pitchFamily="34" charset="-120"/>
              </a:rPr>
              <a:t>D5</a:t>
            </a:r>
            <a:endParaRPr lang="en-US" sz="1350" dirty="0"/>
          </a:p>
        </p:txBody>
      </p:sp>
      <p:sp>
        <p:nvSpPr>
          <p:cNvPr id="23" name="Text 21"/>
          <p:cNvSpPr/>
          <p:nvPr/>
        </p:nvSpPr>
        <p:spPr>
          <a:xfrm>
            <a:off x="6964528" y="4480560"/>
            <a:ext cx="4660240" cy="365760"/>
          </a:xfrm>
          <a:prstGeom prst="rect">
            <a:avLst/>
          </a:prstGeom>
          <a:noFill/>
          <a:ln/>
        </p:spPr>
        <p:txBody>
          <a:bodyPr wrap="square" lIns="0" tIns="0" rIns="0" bIns="0" rtlCol="0" anchor="ctr"/>
          <a:lstStyle/>
          <a:p>
            <a:pPr indent="0" marL="0">
              <a:buNone/>
            </a:pPr>
            <a:r>
              <a:rPr lang="en-US" sz="1300" dirty="0">
                <a:solidFill>
                  <a:srgbClr val="2B2E33"/>
                </a:solidFill>
                <a:latin typeface="Arial" pitchFamily="34" charset="0"/>
                <a:ea typeface="Arial" pitchFamily="34" charset="-122"/>
                <a:cs typeface="Arial" pitchFamily="34" charset="-120"/>
              </a:rPr>
              <a:t>Selection of the reported result</a:t>
            </a:r>
            <a:endParaRPr lang="en-US" sz="1300" dirty="0"/>
          </a:p>
        </p:txBody>
      </p:sp>
      <p:sp>
        <p:nvSpPr>
          <p:cNvPr id="24" name="Text 22"/>
          <p:cNvSpPr/>
          <p:nvPr/>
        </p:nvSpPr>
        <p:spPr>
          <a:xfrm>
            <a:off x="566928" y="6473952"/>
            <a:ext cx="7772400" cy="274320"/>
          </a:xfrm>
          <a:prstGeom prst="rect">
            <a:avLst/>
          </a:prstGeom>
          <a:noFill/>
          <a:ln/>
        </p:spPr>
        <p:txBody>
          <a:bodyPr wrap="square" lIns="0" tIns="0" rIns="0" bIns="0" rtlCol="0" anchor="ctr"/>
          <a:lstStyle/>
          <a:p>
            <a:pPr algn="l" indent="0" marL="0">
              <a:buNone/>
            </a:pPr>
            <a:r>
              <a:rPr lang="en-US" sz="1050" i="1" dirty="0">
                <a:solidFill>
                  <a:srgbClr val="5B6570"/>
                </a:solidFill>
                <a:latin typeface="Arial" pitchFamily="34" charset="0"/>
                <a:ea typeface="Arial" pitchFamily="34" charset="-122"/>
                <a:cs typeface="Arial" pitchFamily="34" charset="-120"/>
              </a:rPr>
              <a:t>Reis et al. J Prosthet Dent. 2025;134(1):100-108.</a:t>
            </a:r>
            <a:endParaRPr lang="en-US" sz="1050" dirty="0"/>
          </a:p>
        </p:txBody>
      </p:sp>
      <p:sp>
        <p:nvSpPr>
          <p:cNvPr id="25" name="Text 23"/>
          <p:cNvSpPr/>
          <p:nvPr/>
        </p:nvSpPr>
        <p:spPr>
          <a:xfrm>
            <a:off x="11076127" y="6473952"/>
            <a:ext cx="548640" cy="274320"/>
          </a:xfrm>
          <a:prstGeom prst="rect">
            <a:avLst/>
          </a:prstGeom>
          <a:noFill/>
          <a:ln/>
        </p:spPr>
        <p:txBody>
          <a:bodyPr wrap="square" lIns="0" tIns="0" rIns="0" bIns="0" rtlCol="0" anchor="ctr"/>
          <a:lstStyle/>
          <a:p>
            <a:pPr algn="r" indent="0" marL="0">
              <a:buNone/>
            </a:pPr>
            <a:r>
              <a:rPr lang="en-US" sz="1050" dirty="0">
                <a:solidFill>
                  <a:srgbClr val="5B6570"/>
                </a:solidFill>
                <a:latin typeface="Arial" pitchFamily="34" charset="0"/>
                <a:ea typeface="Arial" pitchFamily="34" charset="-122"/>
                <a:cs typeface="Arial" pitchFamily="34" charset="-120"/>
              </a:rPr>
              <a:t>16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Incidence of Peri-Implant Disease: Cement- vs Screw-Retained Prostheses</dc:title>
  <dc:subject>PptxGenJS Presentation</dc:subject>
  <dc:creator>NSU AEGD</dc:creator>
  <cp:lastModifiedBy>NSU AEGD</cp:lastModifiedBy>
  <cp:revision>1</cp:revision>
  <dcterms:created xsi:type="dcterms:W3CDTF">2026-09-08T04:42:21Z</dcterms:created>
  <dcterms:modified xsi:type="dcterms:W3CDTF">2026-09-08T04:42:21Z</dcterms:modified>
</cp:coreProperties>
</file>